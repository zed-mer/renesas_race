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21234400" cy="11950700"/>
  <p:notesSz cx="21234400" cy="11950700"/>
  <p:embeddedFontLst>
    <p:embeddedFont>
      <p:font typeface="MiSans" panose="02010600030101010101" charset="-122"/>
      <p:regular r:id="rId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3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jp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1F6FE"/>
            </a:gs>
            <a:gs pos="100000">
              <a:srgbClr val="FFFF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dge"/>
          <p:cNvSpPr/>
          <p:nvPr/>
        </p:nvSpPr>
        <p:spPr>
          <a:xfrm>
            <a:off x="101600" y="177800"/>
            <a:ext cx="1422400" cy="1117600"/>
          </a:xfrm>
          <a:prstGeom prst="roundRect">
            <a:avLst>
              <a:gd name="adj" fmla="val 14000"/>
            </a:avLst>
          </a:prstGeom>
          <a:solidFill>
            <a:srgbClr val="0A1030"/>
          </a:solidFill>
          <a:ln>
            <a:noFill/>
          </a:ln>
        </p:spPr>
      </p:sp>
      <p:sp>
        <p:nvSpPr>
          <p:cNvPr id="3" name="hdr-badge-num"/>
          <p:cNvSpPr txBox="1"/>
          <p:nvPr/>
        </p:nvSpPr>
        <p:spPr>
          <a:xfrm>
            <a:off x="101600" y="177800"/>
            <a:ext cx="1422400" cy="111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000" b="1" noProof="1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lang="en-US" sz="5000" noProof="1"/>
          </a:p>
        </p:txBody>
      </p:sp>
      <p:sp>
        <p:nvSpPr>
          <p:cNvPr id="4" name="hdr-conn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eyJ2aWV3Qm94IjpbMTgsNF0sInBvaW50cyI6IjAsMiAxOCwyIn0</pptd:line>
              </p:ext>
            </p:extLst>
          </p:nvPr>
        </p:nvSpPr>
        <p:spPr>
          <a:xfrm>
            <a:off x="1549400" y="723900"/>
            <a:ext cx="228600" cy="50800"/>
          </a:xfrm>
          <a:custGeom>
            <a:avLst/>
            <a:gdLst/>
            <a:ahLst/>
            <a:cxnLst/>
            <a:rect l="l" t="t" r="r" b="b"/>
            <a:pathLst>
              <a:path w="18" h="4">
                <a:moveTo>
                  <a:pt x="0" y="2"/>
                </a:moveTo>
                <a:lnTo>
                  <a:pt x="18" y="2"/>
                </a:lnTo>
              </a:path>
            </a:pathLst>
          </a:custGeom>
          <a:noFill/>
          <a:ln w="25400" cap="rnd">
            <a:solidFill>
              <a:srgbClr val="0A1030"/>
            </a:solidFill>
            <a:round/>
          </a:ln>
        </p:spPr>
      </p:sp>
      <p:sp>
        <p:nvSpPr>
          <p:cNvPr id="5" name="hdr-dot"/>
          <p:cNvSpPr/>
          <p:nvPr/>
        </p:nvSpPr>
        <p:spPr>
          <a:xfrm>
            <a:off x="1727200" y="673100"/>
            <a:ext cx="127000" cy="127000"/>
          </a:xfrm>
          <a:prstGeom prst="ellipse">
            <a:avLst/>
          </a:prstGeom>
          <a:solidFill>
            <a:srgbClr val="0A1030"/>
          </a:solidFill>
          <a:ln>
            <a:noFill/>
          </a:ln>
        </p:spPr>
      </p:sp>
      <p:sp>
        <p:nvSpPr>
          <p:cNvPr id="6" name="hdr-pill"/>
          <p:cNvSpPr/>
          <p:nvPr/>
        </p:nvSpPr>
        <p:spPr>
          <a:xfrm>
            <a:off x="1879600" y="342900"/>
            <a:ext cx="2260600" cy="6096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7" name="hdr-pill-text"/>
          <p:cNvSpPr txBox="1"/>
          <p:nvPr/>
        </p:nvSpPr>
        <p:spPr>
          <a:xfrm>
            <a:off x="1879600" y="342900"/>
            <a:ext cx="2260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noProof="1">
                <a:solidFill>
                  <a:srgbClr val="FFFFFF"/>
                </a:solidFill>
                <a:latin typeface="MiSans"/>
                <a:ea typeface="MiSans"/>
              </a:rPr>
              <a:t>项目背景</a:t>
            </a:r>
            <a:endParaRPr lang="en-US" sz="2600" noProof="1"/>
          </a:p>
        </p:txBody>
      </p:sp>
      <p:sp>
        <p:nvSpPr>
          <p:cNvPr id="8" name="deco-chip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19761200" y="203200"/>
            <a:ext cx="1168400" cy="1168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D4E3FA"/>
          </a:solidFill>
          <a:ln>
            <a:noFill/>
          </a:ln>
        </p:spPr>
      </p:sp>
      <p:sp>
        <p:nvSpPr>
          <p:cNvPr id="9" name="main-title"/>
          <p:cNvSpPr txBox="1"/>
          <p:nvPr/>
        </p:nvSpPr>
        <p:spPr>
          <a:xfrm>
            <a:off x="2997200" y="1143000"/>
            <a:ext cx="15240000" cy="1041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b="1" noProof="1">
                <a:solidFill>
                  <a:srgbClr val="10183F"/>
                </a:solidFill>
                <a:latin typeface="MiSans"/>
                <a:ea typeface="MiSans"/>
              </a:rPr>
              <a:t>低空经济快速发展下的非合作无人机感知需求</a:t>
            </a:r>
            <a:endParaRPr lang="en-US" sz="6000" noProof="1"/>
          </a:p>
        </p:txBody>
      </p:sp>
      <p:sp>
        <p:nvSpPr>
          <p:cNvPr id="10" name="sub-title"/>
          <p:cNvSpPr txBox="1"/>
          <p:nvPr/>
        </p:nvSpPr>
        <p:spPr>
          <a:xfrm>
            <a:off x="4902200" y="2184400"/>
            <a:ext cx="11430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noProof="1">
                <a:solidFill>
                  <a:srgbClr val="0A56E7"/>
                </a:solidFill>
                <a:latin typeface="MiSans"/>
                <a:ea typeface="MiSans"/>
              </a:rPr>
              <a:t>基于 RA8P1 的多频段 SDR 无人机射频感知终端</a:t>
            </a:r>
            <a:endParaRPr lang="en-US" sz="3600" noProof="1"/>
          </a:p>
        </p:txBody>
      </p:sp>
      <p:sp>
        <p:nvSpPr>
          <p:cNvPr id="11" name="c1"/>
          <p:cNvSpPr/>
          <p:nvPr/>
        </p:nvSpPr>
        <p:spPr>
          <a:xfrm>
            <a:off x="304800" y="2743200"/>
            <a:ext cx="5969000" cy="690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12" name="c1-badge"/>
          <p:cNvSpPr/>
          <p:nvPr/>
        </p:nvSpPr>
        <p:spPr>
          <a:xfrm>
            <a:off x="584200" y="2946400"/>
            <a:ext cx="584200" cy="431800"/>
          </a:xfrm>
          <a:prstGeom prst="roundRect">
            <a:avLst>
              <a:gd name="adj" fmla="val 18000"/>
            </a:avLst>
          </a:prstGeom>
          <a:solidFill>
            <a:srgbClr val="0348F5"/>
          </a:solidFill>
          <a:ln>
            <a:noFill/>
          </a:ln>
        </p:spPr>
      </p:sp>
      <p:sp>
        <p:nvSpPr>
          <p:cNvPr id="13" name="c1-badge-num"/>
          <p:cNvSpPr txBox="1"/>
          <p:nvPr/>
        </p:nvSpPr>
        <p:spPr>
          <a:xfrm>
            <a:off x="584200" y="2946400"/>
            <a:ext cx="584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00" b="1" noProof="1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lang="en-US" sz="2100" noProof="1"/>
          </a:p>
        </p:txBody>
      </p:sp>
      <p:sp>
        <p:nvSpPr>
          <p:cNvPr id="14" name="c1-head"/>
          <p:cNvSpPr txBox="1"/>
          <p:nvPr/>
        </p:nvSpPr>
        <p:spPr>
          <a:xfrm>
            <a:off x="1320800" y="29210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10183F"/>
                </a:solidFill>
                <a:latin typeface="MiSans"/>
                <a:ea typeface="MiSans"/>
              </a:rPr>
              <a:t>背景与需求</a:t>
            </a:r>
            <a:endParaRPr lang="en-US" sz="2800" noProof="1"/>
          </a:p>
        </p:txBody>
      </p:sp>
      <p:sp>
        <p:nvSpPr>
          <p:cNvPr id="15" name="c1-i1-rowbg"/>
          <p:cNvSpPr/>
          <p:nvPr/>
        </p:nvSpPr>
        <p:spPr>
          <a:xfrm>
            <a:off x="584200" y="3581400"/>
            <a:ext cx="5410200" cy="787400"/>
          </a:xfrm>
          <a:prstGeom prst="roundRect">
            <a:avLst>
              <a:gd name="adj" fmla="val 12000"/>
            </a:avLst>
          </a:prstGeom>
          <a:solidFill>
            <a:srgbClr val="FBFDFF"/>
          </a:solidFill>
          <a:ln w="12700">
            <a:solidFill>
              <a:srgbClr val="E9F1FB"/>
            </a:solidFill>
          </a:ln>
        </p:spPr>
      </p:sp>
      <p:sp>
        <p:nvSpPr>
          <p:cNvPr id="16" name="c1-i1-icon-bg"/>
          <p:cNvSpPr/>
          <p:nvPr/>
        </p:nvSpPr>
        <p:spPr>
          <a:xfrm>
            <a:off x="584200" y="3657600"/>
            <a:ext cx="584200" cy="5842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17" name="c1-i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eyJpY29uTmFtZSI6ImZhczpsYW5kbWFyayJ9</pptd:icon>
              </p:ext>
            </p:extLst>
          </p:nvPr>
        </p:nvSpPr>
        <p:spPr>
          <a:xfrm>
            <a:off x="723900" y="3797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9" y="5"/>
                </a:moveTo>
                <a:cubicBezTo>
                  <a:pt x="249" y="-2"/>
                  <a:pt x="263" y="-2"/>
                  <a:pt x="273" y="5"/>
                </a:cubicBezTo>
                <a:lnTo>
                  <a:pt x="497" y="149"/>
                </a:lnTo>
                <a:cubicBezTo>
                  <a:pt x="509" y="157"/>
                  <a:pt x="515" y="171"/>
                  <a:pt x="511" y="185"/>
                </a:cubicBezTo>
                <a:cubicBezTo>
                  <a:pt x="507" y="199"/>
                  <a:pt x="494" y="208"/>
                  <a:pt x="480" y="208"/>
                </a:cubicBezTo>
                <a:lnTo>
                  <a:pt x="448" y="208"/>
                </a:lnTo>
                <a:lnTo>
                  <a:pt x="448" y="416"/>
                </a:lnTo>
                <a:lnTo>
                  <a:pt x="499" y="454"/>
                </a:lnTo>
                <a:cubicBezTo>
                  <a:pt x="507" y="460"/>
                  <a:pt x="512" y="470"/>
                  <a:pt x="512" y="480"/>
                </a:cubicBezTo>
                <a:cubicBezTo>
                  <a:pt x="512" y="498"/>
                  <a:pt x="498" y="512"/>
                  <a:pt x="480" y="512"/>
                </a:cubicBezTo>
                <a:lnTo>
                  <a:pt x="32" y="512"/>
                </a:lnTo>
                <a:cubicBezTo>
                  <a:pt x="14" y="512"/>
                  <a:pt x="0" y="498"/>
                  <a:pt x="0" y="480"/>
                </a:cubicBezTo>
                <a:cubicBezTo>
                  <a:pt x="0" y="470"/>
                  <a:pt x="5" y="460"/>
                  <a:pt x="13" y="454"/>
                </a:cubicBezTo>
                <a:lnTo>
                  <a:pt x="64" y="416"/>
                </a:lnTo>
                <a:lnTo>
                  <a:pt x="64" y="416"/>
                </a:lnTo>
                <a:lnTo>
                  <a:pt x="64" y="208"/>
                </a:lnTo>
                <a:lnTo>
                  <a:pt x="32" y="208"/>
                </a:lnTo>
                <a:cubicBezTo>
                  <a:pt x="18" y="208"/>
                  <a:pt x="5" y="199"/>
                  <a:pt x="1" y="185"/>
                </a:cubicBezTo>
                <a:cubicBezTo>
                  <a:pt x="-3" y="171"/>
                  <a:pt x="3" y="157"/>
                  <a:pt x="15" y="149"/>
                </a:cubicBezTo>
                <a:lnTo>
                  <a:pt x="239" y="5"/>
                </a:lnTo>
                <a:close/>
                <a:moveTo>
                  <a:pt x="336" y="208"/>
                </a:moveTo>
                <a:lnTo>
                  <a:pt x="336" y="416"/>
                </a:lnTo>
                <a:lnTo>
                  <a:pt x="400" y="416"/>
                </a:lnTo>
                <a:lnTo>
                  <a:pt x="400" y="208"/>
                </a:lnTo>
                <a:lnTo>
                  <a:pt x="336" y="208"/>
                </a:lnTo>
                <a:close/>
                <a:moveTo>
                  <a:pt x="224" y="416"/>
                </a:moveTo>
                <a:lnTo>
                  <a:pt x="288" y="416"/>
                </a:lnTo>
                <a:lnTo>
                  <a:pt x="288" y="208"/>
                </a:lnTo>
                <a:lnTo>
                  <a:pt x="224" y="208"/>
                </a:lnTo>
                <a:lnTo>
                  <a:pt x="224" y="416"/>
                </a:lnTo>
                <a:close/>
                <a:moveTo>
                  <a:pt x="112" y="208"/>
                </a:moveTo>
                <a:lnTo>
                  <a:pt x="112" y="416"/>
                </a:lnTo>
                <a:lnTo>
                  <a:pt x="176" y="416"/>
                </a:lnTo>
                <a:lnTo>
                  <a:pt x="176" y="208"/>
                </a:lnTo>
                <a:lnTo>
                  <a:pt x="112" y="2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" name="c1-i1-text"/>
          <p:cNvSpPr txBox="1"/>
          <p:nvPr/>
        </p:nvSpPr>
        <p:spPr>
          <a:xfrm>
            <a:off x="1320800" y="35814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noProof="1">
                <a:solidFill>
                  <a:srgbClr val="1F2A44"/>
                </a:solidFill>
                <a:latin typeface="MiSans"/>
                <a:ea typeface="MiSans"/>
              </a:rPr>
              <a:t>2024年《无人驾驶航空器飞行管理暂行条例》《CCAR-92》实施</a:t>
            </a:r>
            <a:endParaRPr lang="en-US" sz="2000" noProof="1"/>
          </a:p>
        </p:txBody>
      </p:sp>
      <p:sp>
        <p:nvSpPr>
          <p:cNvPr id="19" name="c1-i2-rowbg"/>
          <p:cNvSpPr/>
          <p:nvPr/>
        </p:nvSpPr>
        <p:spPr>
          <a:xfrm>
            <a:off x="584200" y="4521200"/>
            <a:ext cx="5410200" cy="787400"/>
          </a:xfrm>
          <a:prstGeom prst="roundRect">
            <a:avLst>
              <a:gd name="adj" fmla="val 12000"/>
            </a:avLst>
          </a:prstGeom>
          <a:solidFill>
            <a:srgbClr val="FBFDFF"/>
          </a:solidFill>
          <a:ln w="12700">
            <a:solidFill>
              <a:srgbClr val="E9F1FB"/>
            </a:solidFill>
          </a:ln>
        </p:spPr>
      </p:sp>
      <p:sp>
        <p:nvSpPr>
          <p:cNvPr id="20" name="c1-i2-icon-bg"/>
          <p:cNvSpPr/>
          <p:nvPr/>
        </p:nvSpPr>
        <p:spPr>
          <a:xfrm>
            <a:off x="584200" y="4597400"/>
            <a:ext cx="584200" cy="5842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21" name="c1-i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eyJpY29uTmFtZSI6ImZhczppZC1jYXJkIn0</pptd:icon>
              </p:ext>
            </p:extLst>
          </p:nvPr>
        </p:nvSpPr>
        <p:spPr>
          <a:xfrm>
            <a:off x="723900" y="4737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512" y="32"/>
                </a:lnTo>
                <a:cubicBezTo>
                  <a:pt x="547" y="32"/>
                  <a:pt x="576" y="61"/>
                  <a:pt x="576" y="96"/>
                </a:cubicBezTo>
                <a:lnTo>
                  <a:pt x="0" y="96"/>
                </a:lnTo>
                <a:close/>
              </a:path>
              <a:path w="576" h="512">
                <a:moveTo>
                  <a:pt x="0" y="144"/>
                </a:moveTo>
                <a:lnTo>
                  <a:pt x="576" y="144"/>
                </a:lnTo>
                <a:lnTo>
                  <a:pt x="576" y="416"/>
                </a:lnTo>
                <a:cubicBezTo>
                  <a:pt x="576" y="451"/>
                  <a:pt x="547" y="480"/>
                  <a:pt x="512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44"/>
                </a:lnTo>
                <a:close/>
                <a:moveTo>
                  <a:pt x="247" y="416"/>
                </a:moveTo>
                <a:cubicBezTo>
                  <a:pt x="268" y="416"/>
                  <a:pt x="283" y="397"/>
                  <a:pt x="270" y="381"/>
                </a:cubicBezTo>
                <a:cubicBezTo>
                  <a:pt x="255" y="363"/>
                  <a:pt x="233" y="352"/>
                  <a:pt x="208" y="352"/>
                </a:cubicBezTo>
                <a:lnTo>
                  <a:pt x="144" y="352"/>
                </a:lnTo>
                <a:cubicBezTo>
                  <a:pt x="119" y="352"/>
                  <a:pt x="97" y="363"/>
                  <a:pt x="82" y="381"/>
                </a:cubicBezTo>
                <a:cubicBezTo>
                  <a:pt x="69" y="397"/>
                  <a:pt x="85" y="416"/>
                  <a:pt x="105" y="416"/>
                </a:cubicBezTo>
                <a:lnTo>
                  <a:pt x="247" y="416"/>
                </a:lnTo>
                <a:close/>
                <a:moveTo>
                  <a:pt x="176" y="312"/>
                </a:moveTo>
                <a:cubicBezTo>
                  <a:pt x="207" y="312"/>
                  <a:pt x="232" y="287"/>
                  <a:pt x="232" y="256"/>
                </a:cubicBezTo>
                <a:cubicBezTo>
                  <a:pt x="232" y="225"/>
                  <a:pt x="207" y="200"/>
                  <a:pt x="176" y="200"/>
                </a:cubicBezTo>
                <a:cubicBezTo>
                  <a:pt x="145" y="200"/>
                  <a:pt x="120" y="225"/>
                  <a:pt x="120" y="256"/>
                </a:cubicBezTo>
                <a:cubicBezTo>
                  <a:pt x="120" y="287"/>
                  <a:pt x="145" y="312"/>
                  <a:pt x="176" y="312"/>
                </a:cubicBezTo>
                <a:close/>
                <a:moveTo>
                  <a:pt x="360" y="208"/>
                </a:moveTo>
                <a:cubicBezTo>
                  <a:pt x="347" y="208"/>
                  <a:pt x="336" y="219"/>
                  <a:pt x="336" y="232"/>
                </a:cubicBezTo>
                <a:cubicBezTo>
                  <a:pt x="336" y="245"/>
                  <a:pt x="347" y="256"/>
                  <a:pt x="360" y="256"/>
                </a:cubicBezTo>
                <a:lnTo>
                  <a:pt x="472" y="256"/>
                </a:lnTo>
                <a:cubicBezTo>
                  <a:pt x="485" y="256"/>
                  <a:pt x="496" y="245"/>
                  <a:pt x="496" y="232"/>
                </a:cubicBezTo>
                <a:cubicBezTo>
                  <a:pt x="496" y="219"/>
                  <a:pt x="485" y="208"/>
                  <a:pt x="472" y="208"/>
                </a:cubicBezTo>
                <a:lnTo>
                  <a:pt x="360" y="208"/>
                </a:lnTo>
                <a:close/>
                <a:moveTo>
                  <a:pt x="360" y="304"/>
                </a:moveTo>
                <a:cubicBezTo>
                  <a:pt x="347" y="304"/>
                  <a:pt x="336" y="315"/>
                  <a:pt x="336" y="328"/>
                </a:cubicBezTo>
                <a:cubicBezTo>
                  <a:pt x="336" y="341"/>
                  <a:pt x="347" y="352"/>
                  <a:pt x="360" y="352"/>
                </a:cubicBezTo>
                <a:lnTo>
                  <a:pt x="472" y="352"/>
                </a:lnTo>
                <a:cubicBezTo>
                  <a:pt x="485" y="352"/>
                  <a:pt x="496" y="341"/>
                  <a:pt x="496" y="328"/>
                </a:cubicBezTo>
                <a:cubicBezTo>
                  <a:pt x="496" y="315"/>
                  <a:pt x="485" y="304"/>
                  <a:pt x="472" y="304"/>
                </a:cubicBezTo>
                <a:lnTo>
                  <a:pt x="360" y="3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c1-i2-text"/>
          <p:cNvSpPr txBox="1"/>
          <p:nvPr/>
        </p:nvSpPr>
        <p:spPr>
          <a:xfrm>
            <a:off x="1320800" y="45212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noProof="1">
                <a:solidFill>
                  <a:srgbClr val="1F2A44"/>
                </a:solidFill>
                <a:latin typeface="MiSans"/>
                <a:ea typeface="MiSans"/>
              </a:rPr>
              <a:t>Remote ID是合作式身份识别手段，支撑合规核验与白名单比对</a:t>
            </a:r>
            <a:endParaRPr lang="en-US" sz="2000" noProof="1"/>
          </a:p>
        </p:txBody>
      </p:sp>
      <p:sp>
        <p:nvSpPr>
          <p:cNvPr id="23" name="c1-i3-rowbg"/>
          <p:cNvSpPr/>
          <p:nvPr/>
        </p:nvSpPr>
        <p:spPr>
          <a:xfrm>
            <a:off x="584200" y="5461000"/>
            <a:ext cx="5410200" cy="787400"/>
          </a:xfrm>
          <a:prstGeom prst="roundRect">
            <a:avLst>
              <a:gd name="adj" fmla="val 12000"/>
            </a:avLst>
          </a:prstGeom>
          <a:solidFill>
            <a:srgbClr val="FBFDFF"/>
          </a:solidFill>
          <a:ln w="12700">
            <a:solidFill>
              <a:srgbClr val="E9F1FB"/>
            </a:solidFill>
          </a:ln>
        </p:spPr>
      </p:sp>
      <p:sp>
        <p:nvSpPr>
          <p:cNvPr id="24" name="c1-i3-icon-bg"/>
          <p:cNvSpPr/>
          <p:nvPr/>
        </p:nvSpPr>
        <p:spPr>
          <a:xfrm>
            <a:off x="584200" y="5537200"/>
            <a:ext cx="584200" cy="5842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25" name="c1-i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eyJpY29uTmFtZSI6ImZhczpjaXJjbGUtZXhjbGFtYXRpb24ifQ</pptd:icon>
              </p:ext>
            </p:extLst>
          </p:nvPr>
        </p:nvSpPr>
        <p:spPr>
          <a:xfrm>
            <a:off x="723900" y="5676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256" y="320"/>
                </a:moveTo>
                <a:cubicBezTo>
                  <a:pt x="238" y="320"/>
                  <a:pt x="224" y="334"/>
                  <a:pt x="224" y="352"/>
                </a:cubicBezTo>
                <a:cubicBezTo>
                  <a:pt x="224" y="370"/>
                  <a:pt x="238" y="384"/>
                  <a:pt x="256" y="384"/>
                </a:cubicBezTo>
                <a:cubicBezTo>
                  <a:pt x="274" y="384"/>
                  <a:pt x="288" y="370"/>
                  <a:pt x="288" y="352"/>
                </a:cubicBezTo>
                <a:cubicBezTo>
                  <a:pt x="288" y="334"/>
                  <a:pt x="274" y="320"/>
                  <a:pt x="256" y="320"/>
                </a:cubicBezTo>
                <a:close/>
                <a:moveTo>
                  <a:pt x="256" y="128"/>
                </a:moveTo>
                <a:cubicBezTo>
                  <a:pt x="238" y="128"/>
                  <a:pt x="223" y="144"/>
                  <a:pt x="225" y="162"/>
                </a:cubicBezTo>
                <a:lnTo>
                  <a:pt x="232" y="266"/>
                </a:lnTo>
                <a:cubicBezTo>
                  <a:pt x="233" y="278"/>
                  <a:pt x="243" y="288"/>
                  <a:pt x="256" y="288"/>
                </a:cubicBezTo>
                <a:cubicBezTo>
                  <a:pt x="269" y="288"/>
                  <a:pt x="279" y="278"/>
                  <a:pt x="280" y="266"/>
                </a:cubicBezTo>
                <a:lnTo>
                  <a:pt x="287" y="162"/>
                </a:lnTo>
                <a:cubicBezTo>
                  <a:pt x="289" y="144"/>
                  <a:pt x="274" y="128"/>
                  <a:pt x="256" y="1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c1-i3-text"/>
          <p:cNvSpPr txBox="1"/>
          <p:nvPr/>
        </p:nvSpPr>
        <p:spPr>
          <a:xfrm>
            <a:off x="1320800" y="54610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noProof="1">
                <a:solidFill>
                  <a:srgbClr val="1F2A44"/>
                </a:solidFill>
                <a:latin typeface="MiSans"/>
                <a:ea typeface="MiSans"/>
              </a:rPr>
              <a:t>设备未开启、身份异常、链路不兼容等非合作目标无法覆盖</a:t>
            </a:r>
            <a:endParaRPr lang="en-US" sz="2000" noProof="1"/>
          </a:p>
        </p:txBody>
      </p:sp>
      <p:sp>
        <p:nvSpPr>
          <p:cNvPr id="27" name="c1-i4-rowbg"/>
          <p:cNvSpPr/>
          <p:nvPr/>
        </p:nvSpPr>
        <p:spPr>
          <a:xfrm>
            <a:off x="584200" y="6400800"/>
            <a:ext cx="5410200" cy="787400"/>
          </a:xfrm>
          <a:prstGeom prst="roundRect">
            <a:avLst>
              <a:gd name="adj" fmla="val 12000"/>
            </a:avLst>
          </a:prstGeom>
          <a:solidFill>
            <a:srgbClr val="FBFDFF"/>
          </a:solidFill>
          <a:ln w="12700">
            <a:solidFill>
              <a:srgbClr val="E9F1FB"/>
            </a:solidFill>
          </a:ln>
        </p:spPr>
      </p:sp>
      <p:sp>
        <p:nvSpPr>
          <p:cNvPr id="28" name="c1-i4-icon-bg"/>
          <p:cNvSpPr/>
          <p:nvPr/>
        </p:nvSpPr>
        <p:spPr>
          <a:xfrm>
            <a:off x="584200" y="6477000"/>
            <a:ext cx="584200" cy="5842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29" name="c1-i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</p:ext>
            </p:extLst>
          </p:nvPr>
        </p:nvSpPr>
        <p:spPr>
          <a:xfrm>
            <a:off x="723900" y="6616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" name="c1-i4-text"/>
          <p:cNvSpPr txBox="1"/>
          <p:nvPr/>
        </p:nvSpPr>
        <p:spPr>
          <a:xfrm>
            <a:off x="1320800" y="64008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noProof="1">
                <a:solidFill>
                  <a:srgbClr val="1F2A44"/>
                </a:solidFill>
                <a:latin typeface="MiSans"/>
                <a:ea typeface="MiSans"/>
              </a:rPr>
              <a:t>低空监管需要独立物理层感知能力</a:t>
            </a:r>
            <a:endParaRPr lang="en-US" sz="2000" noProof="1"/>
          </a:p>
        </p:txBody>
      </p:sp>
      <p:sp>
        <p:nvSpPr>
          <p:cNvPr id="31" name="c1-sub"/>
          <p:cNvSpPr/>
          <p:nvPr/>
        </p:nvSpPr>
        <p:spPr>
          <a:xfrm>
            <a:off x="584200" y="7518400"/>
            <a:ext cx="5410200" cy="185420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FE9F7"/>
            </a:solidFill>
          </a:ln>
        </p:spPr>
      </p:sp>
      <p:sp>
        <p:nvSpPr>
          <p:cNvPr id="32" name="c1-sub-badge"/>
          <p:cNvSpPr/>
          <p:nvPr/>
        </p:nvSpPr>
        <p:spPr>
          <a:xfrm>
            <a:off x="812800" y="7721600"/>
            <a:ext cx="558800" cy="406400"/>
          </a:xfrm>
          <a:prstGeom prst="roundRect">
            <a:avLst>
              <a:gd name="adj" fmla="val 18000"/>
            </a:avLst>
          </a:prstGeom>
          <a:solidFill>
            <a:srgbClr val="0348F5"/>
          </a:solidFill>
          <a:ln>
            <a:noFill/>
          </a:ln>
        </p:spPr>
      </p:sp>
      <p:sp>
        <p:nvSpPr>
          <p:cNvPr id="33" name="c1-sub-badge-num"/>
          <p:cNvSpPr txBox="1"/>
          <p:nvPr/>
        </p:nvSpPr>
        <p:spPr>
          <a:xfrm>
            <a:off x="812800" y="7721600"/>
            <a:ext cx="558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b="1" noProof="1">
                <a:solidFill>
                  <a:srgbClr val="FFFFFF"/>
                </a:solidFill>
                <a:latin typeface="MiSans"/>
                <a:ea typeface="MiSans"/>
              </a:rPr>
              <a:t>02</a:t>
            </a:r>
            <a:endParaRPr lang="en-US" sz="1900" noProof="1"/>
          </a:p>
        </p:txBody>
      </p:sp>
      <p:sp>
        <p:nvSpPr>
          <p:cNvPr id="34" name="c1-sub-head"/>
          <p:cNvSpPr txBox="1"/>
          <p:nvPr/>
        </p:nvSpPr>
        <p:spPr>
          <a:xfrm>
            <a:off x="1498600" y="7696200"/>
            <a:ext cx="3302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0183F"/>
                </a:solidFill>
                <a:latin typeface="MiSans"/>
                <a:ea typeface="MiSans"/>
              </a:rPr>
              <a:t>疑似黑飞 · 工程定义</a:t>
            </a:r>
            <a:endParaRPr lang="en-US" sz="2300" noProof="1"/>
          </a:p>
        </p:txBody>
      </p:sp>
      <p:sp>
        <p:nvSpPr>
          <p:cNvPr id="35" name="c1-sub-quote-l"/>
          <p:cNvSpPr txBox="1"/>
          <p:nvPr/>
        </p:nvSpPr>
        <p:spPr>
          <a:xfrm>
            <a:off x="762000" y="8178800"/>
            <a:ext cx="381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0A56E7"/>
                </a:solidFill>
                <a:latin typeface="MiSans"/>
                <a:ea typeface="MiSans"/>
              </a:rPr>
              <a:t>“</a:t>
            </a:r>
            <a:endParaRPr lang="en-US" sz="4000" noProof="1"/>
          </a:p>
        </p:txBody>
      </p:sp>
      <p:sp>
        <p:nvSpPr>
          <p:cNvPr id="36" name="c1-sub-text"/>
          <p:cNvSpPr txBox="1"/>
          <p:nvPr/>
        </p:nvSpPr>
        <p:spPr>
          <a:xfrm>
            <a:off x="1168400" y="8153400"/>
            <a:ext cx="4724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600" noProof="1">
                <a:solidFill>
                  <a:srgbClr val="1F2A44"/>
                </a:solidFill>
                <a:latin typeface="MiSans"/>
                <a:ea typeface="MiSans"/>
              </a:rPr>
              <a:t>在受保护区域或管制时段内，</a:t>
            </a:r>
            <a:r>
              <a:rPr lang="en-US" sz="1600" noProof="1">
                <a:solidFill>
                  <a:srgbClr val="0A56E7"/>
                </a:solidFill>
                <a:latin typeface="MiSans"/>
                <a:ea typeface="MiSans"/>
              </a:rPr>
              <a:t>检测到无人机通信活动，但未匹配合法任务、白名单或有效 Remote ID</a:t>
            </a:r>
            <a:r>
              <a:rPr lang="en-US" sz="1600" noProof="1">
                <a:solidFill>
                  <a:srgbClr val="1F2A44"/>
                </a:solidFill>
                <a:latin typeface="MiSans"/>
                <a:ea typeface="MiSans"/>
              </a:rPr>
              <a:t>，或身份异常</a:t>
            </a:r>
            <a:endParaRPr lang="en-US" sz="1600" noProof="1"/>
          </a:p>
        </p:txBody>
      </p:sp>
      <p:sp>
        <p:nvSpPr>
          <p:cNvPr id="37" name="c1-sub-foot"/>
          <p:cNvSpPr txBox="1"/>
          <p:nvPr/>
        </p:nvSpPr>
        <p:spPr>
          <a:xfrm>
            <a:off x="1168400" y="9055100"/>
            <a:ext cx="464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0A56E7"/>
                </a:solidFill>
                <a:latin typeface="MiSans"/>
                <a:ea typeface="MiSans"/>
              </a:rPr>
              <a:t>系统输出风险提示与射频证据，不作法律定性</a:t>
            </a:r>
            <a:endParaRPr lang="en-US" sz="1500" noProof="1"/>
          </a:p>
        </p:txBody>
      </p:sp>
      <p:sp>
        <p:nvSpPr>
          <p:cNvPr id="38" name="c2"/>
          <p:cNvSpPr/>
          <p:nvPr/>
        </p:nvSpPr>
        <p:spPr>
          <a:xfrm>
            <a:off x="6502400" y="2743200"/>
            <a:ext cx="8813800" cy="690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39" name="c2-badge"/>
          <p:cNvSpPr/>
          <p:nvPr/>
        </p:nvSpPr>
        <p:spPr>
          <a:xfrm>
            <a:off x="6781800" y="2946400"/>
            <a:ext cx="584200" cy="431800"/>
          </a:xfrm>
          <a:prstGeom prst="roundRect">
            <a:avLst>
              <a:gd name="adj" fmla="val 18000"/>
            </a:avLst>
          </a:prstGeom>
          <a:solidFill>
            <a:srgbClr val="0348F5"/>
          </a:solidFill>
          <a:ln>
            <a:noFill/>
          </a:ln>
        </p:spPr>
      </p:sp>
      <p:sp>
        <p:nvSpPr>
          <p:cNvPr id="40" name="c2-badge-num"/>
          <p:cNvSpPr txBox="1"/>
          <p:nvPr/>
        </p:nvSpPr>
        <p:spPr>
          <a:xfrm>
            <a:off x="6781800" y="2946400"/>
            <a:ext cx="584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00" b="1" noProof="1">
                <a:solidFill>
                  <a:srgbClr val="FFFFFF"/>
                </a:solidFill>
                <a:latin typeface="MiSans"/>
                <a:ea typeface="MiSans"/>
              </a:rPr>
              <a:t>03</a:t>
            </a:r>
            <a:endParaRPr lang="en-US" sz="2100" noProof="1"/>
          </a:p>
        </p:txBody>
      </p:sp>
      <p:sp>
        <p:nvSpPr>
          <p:cNvPr id="41" name="c2-head"/>
          <p:cNvSpPr txBox="1"/>
          <p:nvPr/>
        </p:nvSpPr>
        <p:spPr>
          <a:xfrm>
            <a:off x="7518400" y="29210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10183F"/>
                </a:solidFill>
                <a:latin typeface="MiSans"/>
                <a:ea typeface="MiSans"/>
              </a:rPr>
              <a:t>技术路线对比</a:t>
            </a:r>
            <a:endParaRPr lang="en-US" sz="2800" noProof="1"/>
          </a:p>
        </p:txBody>
      </p:sp>
      <p:sp>
        <p:nvSpPr>
          <p:cNvPr id="42" name="c2-left"/>
          <p:cNvSpPr/>
          <p:nvPr/>
        </p:nvSpPr>
        <p:spPr>
          <a:xfrm>
            <a:off x="6858000" y="3581400"/>
            <a:ext cx="3708400" cy="57404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>
            <a:noFill/>
          </a:ln>
        </p:spPr>
      </p:sp>
      <p:sp>
        <p:nvSpPr>
          <p:cNvPr id="43" name="c2-left-head"/>
          <p:cNvSpPr txBox="1"/>
          <p:nvPr/>
        </p:nvSpPr>
        <p:spPr>
          <a:xfrm>
            <a:off x="6858000" y="3784600"/>
            <a:ext cx="37084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noProof="1">
                <a:solidFill>
                  <a:srgbClr val="10183F"/>
                </a:solidFill>
                <a:latin typeface="MiSans"/>
                <a:ea typeface="MiSans"/>
              </a:rPr>
              <a:t>传统方案局限</a:t>
            </a:r>
            <a:endParaRPr lang="en-US" sz="2500" noProof="1"/>
          </a:p>
        </p:txBody>
      </p:sp>
      <p:sp>
        <p:nvSpPr>
          <p:cNvPr id="44" name="c2-l1-badge"/>
          <p:cNvSpPr/>
          <p:nvPr/>
        </p:nvSpPr>
        <p:spPr>
          <a:xfrm>
            <a:off x="7112000" y="4622800"/>
            <a:ext cx="431800" cy="431800"/>
          </a:xfrm>
          <a:prstGeom prst="ellipse">
            <a:avLst/>
          </a:prstGeom>
          <a:solidFill>
            <a:srgbClr val="9AA1AD"/>
          </a:solidFill>
          <a:ln>
            <a:noFill/>
          </a:ln>
        </p:spPr>
      </p:sp>
      <p:sp>
        <p:nvSpPr>
          <p:cNvPr id="45" name="c2-l1-x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eyJpY29uTmFtZSI6ImZhczp4bWFyayJ9</pptd:icon>
              </p:ext>
            </p:extLst>
          </p:nvPr>
        </p:nvSpPr>
        <p:spPr>
          <a:xfrm>
            <a:off x="7226300" y="4737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6" name="c2-l1-text"/>
          <p:cNvSpPr txBox="1"/>
          <p:nvPr/>
        </p:nvSpPr>
        <p:spPr>
          <a:xfrm>
            <a:off x="7670800" y="4521200"/>
            <a:ext cx="2794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>
                <a:solidFill>
                  <a:srgbClr val="3A4150"/>
                </a:solidFill>
                <a:latin typeface="MiSans"/>
                <a:ea typeface="MiSans"/>
              </a:rPr>
              <a:t>依赖协议解码，适配成本高</a:t>
            </a:r>
            <a:endParaRPr lang="en-US" sz="1800" noProof="1"/>
          </a:p>
        </p:txBody>
      </p:sp>
      <p:sp>
        <p:nvSpPr>
          <p:cNvPr id="47" name="c2-l2-badge"/>
          <p:cNvSpPr/>
          <p:nvPr/>
        </p:nvSpPr>
        <p:spPr>
          <a:xfrm>
            <a:off x="7112000" y="5588000"/>
            <a:ext cx="431800" cy="431800"/>
          </a:xfrm>
          <a:prstGeom prst="ellipse">
            <a:avLst/>
          </a:prstGeom>
          <a:solidFill>
            <a:srgbClr val="9AA1AD"/>
          </a:solidFill>
          <a:ln>
            <a:noFill/>
          </a:ln>
        </p:spPr>
      </p:sp>
      <p:sp>
        <p:nvSpPr>
          <p:cNvPr id="48" name="c2-l2-x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eyJpY29uTmFtZSI6ImZhczp4bWFyayJ9</pptd:icon>
              </p:ext>
            </p:extLst>
          </p:nvPr>
        </p:nvSpPr>
        <p:spPr>
          <a:xfrm>
            <a:off x="7226300" y="5702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9" name="c2-l2-text"/>
          <p:cNvSpPr txBox="1"/>
          <p:nvPr/>
        </p:nvSpPr>
        <p:spPr>
          <a:xfrm>
            <a:off x="7670800" y="5486400"/>
            <a:ext cx="2794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>
                <a:solidFill>
                  <a:srgbClr val="3A4150"/>
                </a:solidFill>
                <a:latin typeface="MiSans"/>
                <a:ea typeface="MiSans"/>
              </a:rPr>
              <a:t>多频段切换复杂，响应慢</a:t>
            </a:r>
            <a:endParaRPr lang="en-US" sz="1800" noProof="1"/>
          </a:p>
        </p:txBody>
      </p:sp>
      <p:sp>
        <p:nvSpPr>
          <p:cNvPr id="50" name="c2-l3-badge"/>
          <p:cNvSpPr/>
          <p:nvPr/>
        </p:nvSpPr>
        <p:spPr>
          <a:xfrm>
            <a:off x="7112000" y="6553200"/>
            <a:ext cx="431800" cy="431800"/>
          </a:xfrm>
          <a:prstGeom prst="ellipse">
            <a:avLst/>
          </a:prstGeom>
          <a:solidFill>
            <a:srgbClr val="9AA1AD"/>
          </a:solidFill>
          <a:ln>
            <a:noFill/>
          </a:ln>
        </p:spPr>
      </p:sp>
      <p:sp>
        <p:nvSpPr>
          <p:cNvPr id="51" name="c2-l3-x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eyJpY29uTmFtZSI6ImZhczp4bWFyayJ9</pptd:icon>
              </p:ext>
            </p:extLst>
          </p:nvPr>
        </p:nvSpPr>
        <p:spPr>
          <a:xfrm>
            <a:off x="7226300" y="6667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" name="c2-l3-text"/>
          <p:cNvSpPr txBox="1"/>
          <p:nvPr/>
        </p:nvSpPr>
        <p:spPr>
          <a:xfrm>
            <a:off x="7670800" y="6451600"/>
            <a:ext cx="2794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>
                <a:solidFill>
                  <a:srgbClr val="3A4150"/>
                </a:solidFill>
                <a:latin typeface="MiSans"/>
                <a:ea typeface="MiSans"/>
              </a:rPr>
              <a:t>数据量大，回传存储压力高</a:t>
            </a:r>
            <a:endParaRPr lang="en-US" sz="1800" noProof="1"/>
          </a:p>
        </p:txBody>
      </p:sp>
      <p:sp>
        <p:nvSpPr>
          <p:cNvPr id="53" name="c2-l4-badge"/>
          <p:cNvSpPr/>
          <p:nvPr/>
        </p:nvSpPr>
        <p:spPr>
          <a:xfrm>
            <a:off x="7112000" y="7518400"/>
            <a:ext cx="431800" cy="431800"/>
          </a:xfrm>
          <a:prstGeom prst="ellipse">
            <a:avLst/>
          </a:prstGeom>
          <a:solidFill>
            <a:srgbClr val="9AA1AD"/>
          </a:solidFill>
          <a:ln>
            <a:noFill/>
          </a:ln>
        </p:spPr>
      </p:sp>
      <p:sp>
        <p:nvSpPr>
          <p:cNvPr id="54" name="c2-l4-x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eyJpY29uTmFtZSI6ImZhczp4bWFyayJ9</pptd:icon>
              </p:ext>
            </p:extLst>
          </p:nvPr>
        </p:nvSpPr>
        <p:spPr>
          <a:xfrm>
            <a:off x="7226300" y="7632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5" name="c2-l4-text"/>
          <p:cNvSpPr txBox="1"/>
          <p:nvPr/>
        </p:nvSpPr>
        <p:spPr>
          <a:xfrm>
            <a:off x="7670800" y="7416800"/>
            <a:ext cx="2794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>
                <a:solidFill>
                  <a:srgbClr val="3A4150"/>
                </a:solidFill>
                <a:latin typeface="MiSans"/>
                <a:ea typeface="MiSans"/>
              </a:rPr>
              <a:t>功耗大体积大，不便携带</a:t>
            </a:r>
            <a:endParaRPr lang="en-US" sz="1800" noProof="1"/>
          </a:p>
        </p:txBody>
      </p:sp>
      <p:sp>
        <p:nvSpPr>
          <p:cNvPr id="56" name="c2-l5-badge"/>
          <p:cNvSpPr/>
          <p:nvPr/>
        </p:nvSpPr>
        <p:spPr>
          <a:xfrm>
            <a:off x="7112000" y="8483600"/>
            <a:ext cx="431800" cy="431800"/>
          </a:xfrm>
          <a:prstGeom prst="ellipse">
            <a:avLst/>
          </a:prstGeom>
          <a:solidFill>
            <a:srgbClr val="9AA1AD"/>
          </a:solidFill>
          <a:ln>
            <a:noFill/>
          </a:ln>
        </p:spPr>
      </p:sp>
      <p:sp>
        <p:nvSpPr>
          <p:cNvPr id="57" name="c2-l5-x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eyJpY29uTmFtZSI6ImZhczp4bWFyayJ9</pptd:icon>
              </p:ext>
            </p:extLst>
          </p:nvPr>
        </p:nvSpPr>
        <p:spPr>
          <a:xfrm>
            <a:off x="7226300" y="8597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8" name="c2-l5-text"/>
          <p:cNvSpPr txBox="1"/>
          <p:nvPr/>
        </p:nvSpPr>
        <p:spPr>
          <a:xfrm>
            <a:off x="7670800" y="8382000"/>
            <a:ext cx="2794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>
                <a:solidFill>
                  <a:srgbClr val="3A4150"/>
                </a:solidFill>
                <a:latin typeface="MiSans"/>
                <a:ea typeface="MiSans"/>
              </a:rPr>
              <a:t>算法集中云端，时延高</a:t>
            </a:r>
            <a:endParaRPr lang="en-US" sz="1800" noProof="1"/>
          </a:p>
        </p:txBody>
      </p:sp>
      <p:sp>
        <p:nvSpPr>
          <p:cNvPr id="59" name="c2-right"/>
          <p:cNvSpPr/>
          <p:nvPr/>
        </p:nvSpPr>
        <p:spPr>
          <a:xfrm>
            <a:off x="10769600" y="3581400"/>
            <a:ext cx="4216400" cy="57404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0B5BE8"/>
              </a:gs>
              <a:gs pos="100000">
                <a:srgbClr val="0239B8"/>
              </a:gs>
            </a:gsLst>
            <a:lin ang="8100000" scaled="1"/>
          </a:gradFill>
          <a:ln>
            <a:noFill/>
          </a:ln>
        </p:spPr>
      </p:sp>
      <p:sp>
        <p:nvSpPr>
          <p:cNvPr id="60" name="c2-right-head"/>
          <p:cNvSpPr txBox="1"/>
          <p:nvPr/>
        </p:nvSpPr>
        <p:spPr>
          <a:xfrm>
            <a:off x="10769600" y="3784600"/>
            <a:ext cx="42164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noProof="1">
                <a:solidFill>
                  <a:srgbClr val="FFFFFF"/>
                </a:solidFill>
                <a:latin typeface="MiSans"/>
                <a:ea typeface="MiSans"/>
              </a:rPr>
              <a:t>SDR+RA8P1优势</a:t>
            </a:r>
            <a:endParaRPr lang="en-US" sz="2500" noProof="1"/>
          </a:p>
        </p:txBody>
      </p:sp>
      <p:sp>
        <p:nvSpPr>
          <p:cNvPr id="61" name="c2-r1-badge"/>
          <p:cNvSpPr/>
          <p:nvPr/>
        </p:nvSpPr>
        <p:spPr>
          <a:xfrm>
            <a:off x="11074400" y="4622800"/>
            <a:ext cx="431800" cy="43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2" name="c2-r1-x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eyJpY29uTmFtZSI6ImZhczpjaGVjayJ9</pptd:icon>
              </p:ext>
            </p:extLst>
          </p:nvPr>
        </p:nvSpPr>
        <p:spPr>
          <a:xfrm>
            <a:off x="11188700" y="4737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63" name="c2-r1-text"/>
          <p:cNvSpPr txBox="1"/>
          <p:nvPr/>
        </p:nvSpPr>
        <p:spPr>
          <a:xfrm>
            <a:off x="11607800" y="4521200"/>
            <a:ext cx="3276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>
                <a:solidFill>
                  <a:srgbClr val="FFFFFF"/>
                </a:solidFill>
                <a:latin typeface="MiSans"/>
                <a:ea typeface="MiSans"/>
              </a:rPr>
              <a:t>免解码时频特征提取，通用性强</a:t>
            </a:r>
            <a:endParaRPr lang="en-US" sz="1800" noProof="1"/>
          </a:p>
        </p:txBody>
      </p:sp>
      <p:sp>
        <p:nvSpPr>
          <p:cNvPr id="64" name="c2-r2-badge"/>
          <p:cNvSpPr/>
          <p:nvPr/>
        </p:nvSpPr>
        <p:spPr>
          <a:xfrm>
            <a:off x="11074400" y="5588000"/>
            <a:ext cx="431800" cy="43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5" name="c2-r2-x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eyJpY29uTmFtZSI6ImZhczpjaGVjayJ9</pptd:icon>
              </p:ext>
            </p:extLst>
          </p:nvPr>
        </p:nvSpPr>
        <p:spPr>
          <a:xfrm>
            <a:off x="11188700" y="5702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66" name="c2-r2-text"/>
          <p:cNvSpPr txBox="1"/>
          <p:nvPr/>
        </p:nvSpPr>
        <p:spPr>
          <a:xfrm>
            <a:off x="11607800" y="5486400"/>
            <a:ext cx="3276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>
                <a:solidFill>
                  <a:srgbClr val="FFFFFF"/>
                </a:solidFill>
                <a:latin typeface="MiSans"/>
                <a:ea typeface="MiSans"/>
              </a:rPr>
              <a:t>宽频段覆盖，快速扫描聚焦</a:t>
            </a:r>
            <a:endParaRPr lang="en-US" sz="1800" noProof="1"/>
          </a:p>
        </p:txBody>
      </p:sp>
      <p:sp>
        <p:nvSpPr>
          <p:cNvPr id="67" name="c2-r3-badge"/>
          <p:cNvSpPr/>
          <p:nvPr/>
        </p:nvSpPr>
        <p:spPr>
          <a:xfrm>
            <a:off x="11074400" y="6553200"/>
            <a:ext cx="431800" cy="43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8" name="c2-r3-x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eyJpY29uTmFtZSI6ImZhczpjaGVjayJ9</pptd:icon>
              </p:ext>
            </p:extLst>
          </p:nvPr>
        </p:nvSpPr>
        <p:spPr>
          <a:xfrm>
            <a:off x="11188700" y="6667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69" name="c2-r3-text"/>
          <p:cNvSpPr txBox="1"/>
          <p:nvPr/>
        </p:nvSpPr>
        <p:spPr>
          <a:xfrm>
            <a:off x="11607800" y="6451600"/>
            <a:ext cx="3276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>
                <a:solidFill>
                  <a:srgbClr val="FFFFFF"/>
                </a:solidFill>
                <a:latin typeface="MiSans"/>
                <a:ea typeface="MiSans"/>
              </a:rPr>
              <a:t>端侧智能推理，数据闭环处理</a:t>
            </a:r>
            <a:endParaRPr lang="en-US" sz="1800" noProof="1"/>
          </a:p>
        </p:txBody>
      </p:sp>
      <p:sp>
        <p:nvSpPr>
          <p:cNvPr id="70" name="c2-r4-badge"/>
          <p:cNvSpPr/>
          <p:nvPr/>
        </p:nvSpPr>
        <p:spPr>
          <a:xfrm>
            <a:off x="11074400" y="7518400"/>
            <a:ext cx="431800" cy="43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1" name="c2-r4-x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eyJpY29uTmFtZSI6ImZhczpjaGVjayJ9</pptd:icon>
              </p:ext>
            </p:extLst>
          </p:nvPr>
        </p:nvSpPr>
        <p:spPr>
          <a:xfrm>
            <a:off x="11188700" y="7632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72" name="c2-r4-text"/>
          <p:cNvSpPr txBox="1"/>
          <p:nvPr/>
        </p:nvSpPr>
        <p:spPr>
          <a:xfrm>
            <a:off x="11607800" y="7416800"/>
            <a:ext cx="3276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>
                <a:solidFill>
                  <a:srgbClr val="FFFFFF"/>
                </a:solidFill>
                <a:latin typeface="MiSans"/>
                <a:ea typeface="MiSans"/>
              </a:rPr>
              <a:t>低功耗高集成，独立便携部署</a:t>
            </a:r>
            <a:endParaRPr lang="en-US" sz="1800" noProof="1"/>
          </a:p>
        </p:txBody>
      </p:sp>
      <p:sp>
        <p:nvSpPr>
          <p:cNvPr id="73" name="c2-r5-badge"/>
          <p:cNvSpPr/>
          <p:nvPr/>
        </p:nvSpPr>
        <p:spPr>
          <a:xfrm>
            <a:off x="11074400" y="8483600"/>
            <a:ext cx="431800" cy="43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4" name="c2-r5-x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eyJpY29uTmFtZSI6ImZhczpjaGVjayJ9</pptd:icon>
              </p:ext>
            </p:extLst>
          </p:nvPr>
        </p:nvSpPr>
        <p:spPr>
          <a:xfrm>
            <a:off x="11188700" y="8597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75" name="c2-r5-text"/>
          <p:cNvSpPr txBox="1"/>
          <p:nvPr/>
        </p:nvSpPr>
        <p:spPr>
          <a:xfrm>
            <a:off x="11607800" y="8382000"/>
            <a:ext cx="3276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noProof="1">
                <a:solidFill>
                  <a:srgbClr val="FFFFFF"/>
                </a:solidFill>
                <a:latin typeface="MiSans"/>
                <a:ea typeface="MiSans"/>
              </a:rPr>
              <a:t>纯被动射频感知，合规安全可靠</a:t>
            </a:r>
            <a:endParaRPr lang="en-US" sz="1800" noProof="1"/>
          </a:p>
        </p:txBody>
      </p:sp>
      <p:sp>
        <p:nvSpPr>
          <p:cNvPr id="76" name="c2-vs"/>
          <p:cNvSpPr/>
          <p:nvPr/>
        </p:nvSpPr>
        <p:spPr>
          <a:xfrm>
            <a:off x="10261600" y="5816600"/>
            <a:ext cx="812800" cy="8128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77" name="c2-vs-text"/>
          <p:cNvSpPr txBox="1"/>
          <p:nvPr/>
        </p:nvSpPr>
        <p:spPr>
          <a:xfrm>
            <a:off x="10261600" y="5816600"/>
            <a:ext cx="8128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700" b="1" i="1" noProof="1">
                <a:solidFill>
                  <a:srgbClr val="FFFFFF"/>
                </a:solidFill>
                <a:latin typeface="MiSans"/>
                <a:ea typeface="MiSans"/>
              </a:rPr>
              <a:t>VS</a:t>
            </a:r>
            <a:endParaRPr lang="en-US" sz="2700" noProof="1"/>
          </a:p>
        </p:txBody>
      </p:sp>
      <p:sp>
        <p:nvSpPr>
          <p:cNvPr id="78" name="c3"/>
          <p:cNvSpPr/>
          <p:nvPr/>
        </p:nvSpPr>
        <p:spPr>
          <a:xfrm>
            <a:off x="15519400" y="2743200"/>
            <a:ext cx="5384800" cy="690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79" name="c3-badge"/>
          <p:cNvSpPr/>
          <p:nvPr/>
        </p:nvSpPr>
        <p:spPr>
          <a:xfrm>
            <a:off x="15798800" y="2946400"/>
            <a:ext cx="584200" cy="431800"/>
          </a:xfrm>
          <a:prstGeom prst="roundRect">
            <a:avLst>
              <a:gd name="adj" fmla="val 18000"/>
            </a:avLst>
          </a:prstGeom>
          <a:solidFill>
            <a:srgbClr val="0348F5"/>
          </a:solidFill>
          <a:ln>
            <a:noFill/>
          </a:ln>
        </p:spPr>
      </p:sp>
      <p:sp>
        <p:nvSpPr>
          <p:cNvPr id="80" name="c3-badge-num"/>
          <p:cNvSpPr txBox="1"/>
          <p:nvPr/>
        </p:nvSpPr>
        <p:spPr>
          <a:xfrm>
            <a:off x="15798800" y="2946400"/>
            <a:ext cx="584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00" b="1" noProof="1">
                <a:solidFill>
                  <a:srgbClr val="FFFFFF"/>
                </a:solidFill>
                <a:latin typeface="MiSans"/>
                <a:ea typeface="MiSans"/>
              </a:rPr>
              <a:t>04</a:t>
            </a:r>
            <a:endParaRPr lang="en-US" sz="2100" noProof="1"/>
          </a:p>
        </p:txBody>
      </p:sp>
      <p:sp>
        <p:nvSpPr>
          <p:cNvPr id="81" name="c3-head"/>
          <p:cNvSpPr txBox="1"/>
          <p:nvPr/>
        </p:nvSpPr>
        <p:spPr>
          <a:xfrm>
            <a:off x="16535400" y="29210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noProof="1">
                <a:solidFill>
                  <a:srgbClr val="10183F"/>
                </a:solidFill>
                <a:latin typeface="MiSans"/>
                <a:ea typeface="MiSans"/>
              </a:rPr>
              <a:t>系统架构</a:t>
            </a:r>
            <a:endParaRPr lang="en-US" sz="2800" noProof="1"/>
          </a:p>
        </p:txBody>
      </p:sp>
      <p:sp>
        <p:nvSpPr>
          <p:cNvPr id="82" name="c3-s1-num"/>
          <p:cNvSpPr/>
          <p:nvPr/>
        </p:nvSpPr>
        <p:spPr>
          <a:xfrm>
            <a:off x="15824200" y="3708400"/>
            <a:ext cx="508000" cy="508000"/>
          </a:xfrm>
          <a:prstGeom prst="ellipse">
            <a:avLst/>
          </a:prstGeom>
          <a:gradFill rotWithShape="1">
            <a:gsLst>
              <a:gs pos="0">
                <a:srgbClr val="2E7CF6"/>
              </a:gs>
              <a:gs pos="100000">
                <a:srgbClr val="0348F5"/>
              </a:gs>
            </a:gsLst>
            <a:lin ang="8100000" scaled="1"/>
          </a:gradFill>
          <a:ln>
            <a:noFill/>
          </a:ln>
        </p:spPr>
      </p:sp>
      <p:sp>
        <p:nvSpPr>
          <p:cNvPr id="83" name="c3-s1-numtext"/>
          <p:cNvSpPr txBox="1"/>
          <p:nvPr/>
        </p:nvSpPr>
        <p:spPr>
          <a:xfrm>
            <a:off x="15824200" y="37084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noProof="1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lang="en-US" sz="2000" noProof="1"/>
          </a:p>
        </p:txBody>
      </p:sp>
      <p:sp>
        <p:nvSpPr>
          <p:cNvPr id="84" name="c3-s1-iconbg"/>
          <p:cNvSpPr/>
          <p:nvPr/>
        </p:nvSpPr>
        <p:spPr>
          <a:xfrm>
            <a:off x="16510000" y="3670300"/>
            <a:ext cx="584200" cy="5842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85" name="c3-s1-icon"/>
          <p:cNvSpPr/>
          <p:nvPr/>
        </p:nvSpPr>
        <p:spPr>
          <a:xfrm>
            <a:off x="16586200" y="37465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8" h="48">
                <a:moveTo>
                  <a:pt x="10" y="3"/>
                </a:moveTo>
                <a:cubicBezTo>
                  <a:pt x="14" y="3"/>
                  <a:pt x="17" y="6"/>
                  <a:pt x="17" y="10"/>
                </a:cubicBezTo>
                <a:cubicBezTo>
                  <a:pt x="17" y="14"/>
                  <a:pt x="14" y="17"/>
                  <a:pt x="10" y="17"/>
                </a:cubicBezTo>
                <a:cubicBezTo>
                  <a:pt x="6" y="17"/>
                  <a:pt x="3" y="14"/>
                  <a:pt x="3" y="10"/>
                </a:cubicBezTo>
                <a:cubicBezTo>
                  <a:pt x="3" y="6"/>
                  <a:pt x="6" y="3"/>
                  <a:pt x="10" y="3"/>
                </a:cubicBezTo>
                <a:close/>
              </a:path>
              <a:path w="48" h="48">
                <a:moveTo>
                  <a:pt x="38" y="3"/>
                </a:moveTo>
                <a:cubicBezTo>
                  <a:pt x="42" y="3"/>
                  <a:pt x="45" y="6"/>
                  <a:pt x="45" y="10"/>
                </a:cubicBezTo>
                <a:cubicBezTo>
                  <a:pt x="45" y="14"/>
                  <a:pt x="42" y="17"/>
                  <a:pt x="38" y="17"/>
                </a:cubicBezTo>
                <a:cubicBezTo>
                  <a:pt x="34" y="17"/>
                  <a:pt x="31" y="14"/>
                  <a:pt x="31" y="10"/>
                </a:cubicBezTo>
                <a:cubicBezTo>
                  <a:pt x="31" y="6"/>
                  <a:pt x="34" y="3"/>
                  <a:pt x="38" y="3"/>
                </a:cubicBezTo>
                <a:close/>
              </a:path>
              <a:path w="48" h="48">
                <a:moveTo>
                  <a:pt x="10" y="31"/>
                </a:moveTo>
                <a:cubicBezTo>
                  <a:pt x="14" y="31"/>
                  <a:pt x="17" y="34"/>
                  <a:pt x="17" y="38"/>
                </a:cubicBezTo>
                <a:cubicBezTo>
                  <a:pt x="17" y="42"/>
                  <a:pt x="14" y="45"/>
                  <a:pt x="10" y="45"/>
                </a:cubicBezTo>
                <a:cubicBezTo>
                  <a:pt x="6" y="45"/>
                  <a:pt x="3" y="42"/>
                  <a:pt x="3" y="38"/>
                </a:cubicBezTo>
                <a:cubicBezTo>
                  <a:pt x="3" y="34"/>
                  <a:pt x="6" y="31"/>
                  <a:pt x="10" y="31"/>
                </a:cubicBezTo>
                <a:close/>
              </a:path>
              <a:path w="48" h="48">
                <a:moveTo>
                  <a:pt x="38" y="31"/>
                </a:moveTo>
                <a:cubicBezTo>
                  <a:pt x="42" y="31"/>
                  <a:pt x="45" y="34"/>
                  <a:pt x="45" y="38"/>
                </a:cubicBezTo>
                <a:cubicBezTo>
                  <a:pt x="45" y="42"/>
                  <a:pt x="42" y="45"/>
                  <a:pt x="38" y="45"/>
                </a:cubicBezTo>
                <a:cubicBezTo>
                  <a:pt x="34" y="45"/>
                  <a:pt x="31" y="42"/>
                  <a:pt x="31" y="38"/>
                </a:cubicBezTo>
                <a:cubicBezTo>
                  <a:pt x="31" y="34"/>
                  <a:pt x="34" y="31"/>
                  <a:pt x="38" y="31"/>
                </a:cubicBezTo>
                <a:close/>
              </a:path>
              <a:path w="48" h="48">
                <a:moveTo>
                  <a:pt x="24" y="17"/>
                </a:moveTo>
                <a:cubicBezTo>
                  <a:pt x="28" y="17"/>
                  <a:pt x="31" y="20"/>
                  <a:pt x="31" y="24"/>
                </a:cubicBezTo>
                <a:cubicBezTo>
                  <a:pt x="31" y="28"/>
                  <a:pt x="28" y="31"/>
                  <a:pt x="24" y="31"/>
                </a:cubicBezTo>
                <a:cubicBezTo>
                  <a:pt x="20" y="31"/>
                  <a:pt x="17" y="28"/>
                  <a:pt x="17" y="24"/>
                </a:cubicBezTo>
                <a:cubicBezTo>
                  <a:pt x="17" y="20"/>
                  <a:pt x="20" y="17"/>
                  <a:pt x="24" y="17"/>
                </a:cubicBezTo>
                <a:close/>
              </a:path>
              <a:path w="48" h="48">
                <a:moveTo>
                  <a:pt x="12" y="12"/>
                </a:moveTo>
                <a:lnTo>
                  <a:pt x="23" y="23"/>
                </a:lnTo>
                <a:lnTo>
                  <a:pt x="20" y="26"/>
                </a:lnTo>
                <a:lnTo>
                  <a:pt x="9" y="15"/>
                </a:lnTo>
                <a:close/>
              </a:path>
              <a:path w="48" h="48">
                <a:moveTo>
                  <a:pt x="36" y="12"/>
                </a:moveTo>
                <a:lnTo>
                  <a:pt x="25" y="23"/>
                </a:lnTo>
                <a:lnTo>
                  <a:pt x="28" y="26"/>
                </a:lnTo>
                <a:lnTo>
                  <a:pt x="39" y="15"/>
                </a:lnTo>
                <a:close/>
              </a:path>
              <a:path w="48" h="48">
                <a:moveTo>
                  <a:pt x="12" y="36"/>
                </a:moveTo>
                <a:lnTo>
                  <a:pt x="23" y="25"/>
                </a:lnTo>
                <a:lnTo>
                  <a:pt x="20" y="22"/>
                </a:lnTo>
                <a:lnTo>
                  <a:pt x="9" y="33"/>
                </a:lnTo>
                <a:close/>
              </a:path>
              <a:path w="48" h="48">
                <a:moveTo>
                  <a:pt x="36" y="36"/>
                </a:moveTo>
                <a:lnTo>
                  <a:pt x="25" y="25"/>
                </a:lnTo>
                <a:lnTo>
                  <a:pt x="28" y="22"/>
                </a:lnTo>
                <a:lnTo>
                  <a:pt x="39" y="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6" name="c3-s1-text"/>
          <p:cNvSpPr txBox="1"/>
          <p:nvPr/>
        </p:nvSpPr>
        <p:spPr>
          <a:xfrm>
            <a:off x="17246600" y="3670300"/>
            <a:ext cx="34544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>
                <a:solidFill>
                  <a:srgbClr val="1F2A44"/>
                </a:solidFill>
                <a:latin typeface="MiSans"/>
                <a:ea typeface="MiSans"/>
              </a:rPr>
              <a:t>无人机/遥控器射频信号</a:t>
            </a:r>
            <a:endParaRPr lang="en-US" sz="2100" noProof="1"/>
          </a:p>
        </p:txBody>
      </p:sp>
      <p:sp>
        <p:nvSpPr>
          <p:cNvPr id="87" name="c3-a1"/>
          <p:cNvSpPr/>
          <p:nvPr/>
        </p:nvSpPr>
        <p:spPr>
          <a:xfrm rot="10800000">
            <a:off x="16002000" y="4318000"/>
            <a:ext cx="152400" cy="203200"/>
          </a:xfrm>
          <a:prstGeom prst="triangle">
            <a:avLst/>
          </a:prstGeom>
          <a:solidFill>
            <a:srgbClr val="0A56E7"/>
          </a:solidFill>
          <a:ln>
            <a:noFill/>
          </a:ln>
        </p:spPr>
      </p:sp>
      <p:sp>
        <p:nvSpPr>
          <p:cNvPr id="88" name="c3-s2-num"/>
          <p:cNvSpPr/>
          <p:nvPr/>
        </p:nvSpPr>
        <p:spPr>
          <a:xfrm>
            <a:off x="15824200" y="4800600"/>
            <a:ext cx="508000" cy="508000"/>
          </a:xfrm>
          <a:prstGeom prst="ellipse">
            <a:avLst/>
          </a:prstGeom>
          <a:gradFill rotWithShape="1">
            <a:gsLst>
              <a:gs pos="0">
                <a:srgbClr val="2E7CF6"/>
              </a:gs>
              <a:gs pos="100000">
                <a:srgbClr val="0348F5"/>
              </a:gs>
            </a:gsLst>
            <a:lin ang="8100000" scaled="1"/>
          </a:gradFill>
          <a:ln>
            <a:noFill/>
          </a:ln>
        </p:spPr>
      </p:sp>
      <p:sp>
        <p:nvSpPr>
          <p:cNvPr id="89" name="c3-s2-numtext"/>
          <p:cNvSpPr txBox="1"/>
          <p:nvPr/>
        </p:nvSpPr>
        <p:spPr>
          <a:xfrm>
            <a:off x="15824200" y="48006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noProof="1">
                <a:solidFill>
                  <a:srgbClr val="FFFFFF"/>
                </a:solidFill>
                <a:latin typeface="MiSans"/>
                <a:ea typeface="MiSans"/>
              </a:rPr>
              <a:t>02</a:t>
            </a:r>
            <a:endParaRPr lang="en-US" sz="2000" noProof="1"/>
          </a:p>
        </p:txBody>
      </p:sp>
      <p:sp>
        <p:nvSpPr>
          <p:cNvPr id="90" name="c3-s2-iconbg"/>
          <p:cNvSpPr/>
          <p:nvPr/>
        </p:nvSpPr>
        <p:spPr>
          <a:xfrm>
            <a:off x="16510000" y="4762500"/>
            <a:ext cx="584200" cy="5842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91" name="c3-s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eyJpY29uTmFtZSI6ImZhczp3YXZlLXNxdWFyZSJ9</pptd:icon>
              </p:ext>
            </p:extLst>
          </p:nvPr>
        </p:nvSpPr>
        <p:spPr>
          <a:xfrm>
            <a:off x="16637000" y="4889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96"/>
                </a:moveTo>
                <a:cubicBezTo>
                  <a:pt x="64" y="78"/>
                  <a:pt x="78" y="64"/>
                  <a:pt x="96" y="64"/>
                </a:cubicBezTo>
                <a:lnTo>
                  <a:pt x="256" y="64"/>
                </a:lnTo>
                <a:cubicBezTo>
                  <a:pt x="274" y="64"/>
                  <a:pt x="288" y="78"/>
                  <a:pt x="288" y="96"/>
                </a:cubicBezTo>
                <a:lnTo>
                  <a:pt x="288" y="384"/>
                </a:lnTo>
                <a:lnTo>
                  <a:pt x="384" y="384"/>
                </a:lnTo>
                <a:lnTo>
                  <a:pt x="384" y="256"/>
                </a:lnTo>
                <a:cubicBezTo>
                  <a:pt x="384" y="238"/>
                  <a:pt x="398" y="224"/>
                  <a:pt x="41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448" y="288"/>
                </a:lnTo>
                <a:lnTo>
                  <a:pt x="448" y="416"/>
                </a:lnTo>
                <a:cubicBezTo>
                  <a:pt x="448" y="434"/>
                  <a:pt x="434" y="448"/>
                  <a:pt x="416" y="448"/>
                </a:cubicBezTo>
                <a:lnTo>
                  <a:pt x="256" y="448"/>
                </a:lnTo>
                <a:cubicBezTo>
                  <a:pt x="238" y="448"/>
                  <a:pt x="224" y="434"/>
                  <a:pt x="224" y="416"/>
                </a:cubicBezTo>
                <a:lnTo>
                  <a:pt x="224" y="128"/>
                </a:lnTo>
                <a:lnTo>
                  <a:pt x="128" y="128"/>
                </a:lnTo>
                <a:lnTo>
                  <a:pt x="128" y="256"/>
                </a:lnTo>
                <a:cubicBezTo>
                  <a:pt x="128" y="274"/>
                  <a:pt x="114" y="288"/>
                  <a:pt x="96" y="288"/>
                </a:cubicBezTo>
                <a:lnTo>
                  <a:pt x="32" y="288"/>
                </a:lnTo>
                <a:cubicBezTo>
                  <a:pt x="14" y="288"/>
                  <a:pt x="0" y="274"/>
                  <a:pt x="0" y="256"/>
                </a:cubicBezTo>
                <a:cubicBezTo>
                  <a:pt x="0" y="238"/>
                  <a:pt x="14" y="224"/>
                  <a:pt x="32" y="224"/>
                </a:cubicBezTo>
                <a:lnTo>
                  <a:pt x="64" y="224"/>
                </a:lnTo>
                <a:lnTo>
                  <a:pt x="64" y="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2" name="c3-s2-text"/>
          <p:cNvSpPr txBox="1"/>
          <p:nvPr/>
        </p:nvSpPr>
        <p:spPr>
          <a:xfrm>
            <a:off x="17246600" y="4762500"/>
            <a:ext cx="34544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>
                <a:solidFill>
                  <a:srgbClr val="1F2A44"/>
                </a:solidFill>
                <a:latin typeface="MiSans"/>
                <a:ea typeface="MiSans"/>
              </a:rPr>
              <a:t>SDR接收输出IQ数据</a:t>
            </a:r>
            <a:endParaRPr lang="en-US" sz="2100" noProof="1"/>
          </a:p>
        </p:txBody>
      </p:sp>
      <p:sp>
        <p:nvSpPr>
          <p:cNvPr id="93" name="c3-a2"/>
          <p:cNvSpPr/>
          <p:nvPr/>
        </p:nvSpPr>
        <p:spPr>
          <a:xfrm rot="10800000">
            <a:off x="16002000" y="5410200"/>
            <a:ext cx="152400" cy="203200"/>
          </a:xfrm>
          <a:prstGeom prst="triangle">
            <a:avLst/>
          </a:prstGeom>
          <a:solidFill>
            <a:srgbClr val="0A56E7"/>
          </a:solidFill>
          <a:ln>
            <a:noFill/>
          </a:ln>
        </p:spPr>
      </p:sp>
      <p:sp>
        <p:nvSpPr>
          <p:cNvPr id="94" name="c3-s3-num"/>
          <p:cNvSpPr/>
          <p:nvPr/>
        </p:nvSpPr>
        <p:spPr>
          <a:xfrm>
            <a:off x="15824200" y="5892800"/>
            <a:ext cx="508000" cy="508000"/>
          </a:xfrm>
          <a:prstGeom prst="ellipse">
            <a:avLst/>
          </a:prstGeom>
          <a:gradFill rotWithShape="1">
            <a:gsLst>
              <a:gs pos="0">
                <a:srgbClr val="2E7CF6"/>
              </a:gs>
              <a:gs pos="100000">
                <a:srgbClr val="0348F5"/>
              </a:gs>
            </a:gsLst>
            <a:lin ang="8100000" scaled="1"/>
          </a:gradFill>
          <a:ln>
            <a:noFill/>
          </a:ln>
        </p:spPr>
      </p:sp>
      <p:sp>
        <p:nvSpPr>
          <p:cNvPr id="95" name="c3-s3-numtext"/>
          <p:cNvSpPr txBox="1"/>
          <p:nvPr/>
        </p:nvSpPr>
        <p:spPr>
          <a:xfrm>
            <a:off x="15824200" y="58928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noProof="1">
                <a:solidFill>
                  <a:srgbClr val="FFFFFF"/>
                </a:solidFill>
                <a:latin typeface="MiSans"/>
                <a:ea typeface="MiSans"/>
              </a:rPr>
              <a:t>03</a:t>
            </a:r>
            <a:endParaRPr lang="en-US" sz="2000" noProof="1"/>
          </a:p>
        </p:txBody>
      </p:sp>
      <p:sp>
        <p:nvSpPr>
          <p:cNvPr id="96" name="c3-s3-iconbg"/>
          <p:cNvSpPr/>
          <p:nvPr/>
        </p:nvSpPr>
        <p:spPr>
          <a:xfrm>
            <a:off x="16510000" y="5854700"/>
            <a:ext cx="584200" cy="5842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97" name="c3-s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eyJpY29uTmFtZSI6ImZhczpncmlwIn0</pptd:icon>
              </p:ext>
            </p:extLst>
          </p:nvPr>
        </p:nvSpPr>
        <p:spPr>
          <a:xfrm>
            <a:off x="16637000" y="59817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88" y="96"/>
                </a:moveTo>
                <a:cubicBezTo>
                  <a:pt x="110" y="96"/>
                  <a:pt x="128" y="114"/>
                  <a:pt x="128" y="136"/>
                </a:cubicBezTo>
                <a:lnTo>
                  <a:pt x="128" y="184"/>
                </a:lnTo>
                <a:cubicBezTo>
                  <a:pt x="128" y="206"/>
                  <a:pt x="110" y="224"/>
                  <a:pt x="88" y="224"/>
                </a:cubicBezTo>
                <a:lnTo>
                  <a:pt x="40" y="224"/>
                </a:lnTo>
                <a:cubicBezTo>
                  <a:pt x="18" y="224"/>
                  <a:pt x="0" y="206"/>
                  <a:pt x="0" y="184"/>
                </a:cubicBezTo>
                <a:lnTo>
                  <a:pt x="0" y="136"/>
                </a:lnTo>
                <a:cubicBezTo>
                  <a:pt x="0" y="114"/>
                  <a:pt x="18" y="96"/>
                  <a:pt x="40" y="96"/>
                </a:cubicBezTo>
                <a:lnTo>
                  <a:pt x="88" y="96"/>
                </a:lnTo>
                <a:close/>
              </a:path>
              <a:path w="512" h="512">
                <a:moveTo>
                  <a:pt x="280" y="224"/>
                </a:moveTo>
                <a:lnTo>
                  <a:pt x="232" y="224"/>
                </a:lnTo>
                <a:cubicBezTo>
                  <a:pt x="210" y="224"/>
                  <a:pt x="192" y="206"/>
                  <a:pt x="192" y="184"/>
                </a:cubicBezTo>
                <a:lnTo>
                  <a:pt x="192" y="136"/>
                </a:lnTo>
                <a:cubicBezTo>
                  <a:pt x="192" y="114"/>
                  <a:pt x="210" y="96"/>
                  <a:pt x="232" y="96"/>
                </a:cubicBezTo>
                <a:lnTo>
                  <a:pt x="280" y="96"/>
                </a:lnTo>
                <a:cubicBezTo>
                  <a:pt x="302" y="96"/>
                  <a:pt x="320" y="114"/>
                  <a:pt x="320" y="136"/>
                </a:cubicBezTo>
                <a:lnTo>
                  <a:pt x="320" y="184"/>
                </a:lnTo>
                <a:cubicBezTo>
                  <a:pt x="320" y="206"/>
                  <a:pt x="302" y="224"/>
                  <a:pt x="280" y="224"/>
                </a:cubicBezTo>
                <a:close/>
              </a:path>
              <a:path w="512" h="512">
                <a:moveTo>
                  <a:pt x="472" y="224"/>
                </a:moveTo>
                <a:lnTo>
                  <a:pt x="424" y="224"/>
                </a:lnTo>
                <a:cubicBezTo>
                  <a:pt x="402" y="224"/>
                  <a:pt x="384" y="206"/>
                  <a:pt x="384" y="184"/>
                </a:cubicBezTo>
                <a:lnTo>
                  <a:pt x="384" y="136"/>
                </a:lnTo>
                <a:cubicBezTo>
                  <a:pt x="384" y="114"/>
                  <a:pt x="402" y="96"/>
                  <a:pt x="424" y="96"/>
                </a:cubicBezTo>
                <a:lnTo>
                  <a:pt x="472" y="96"/>
                </a:lnTo>
                <a:cubicBezTo>
                  <a:pt x="494" y="96"/>
                  <a:pt x="512" y="114"/>
                  <a:pt x="512" y="136"/>
                </a:cubicBezTo>
                <a:lnTo>
                  <a:pt x="512" y="184"/>
                </a:lnTo>
                <a:cubicBezTo>
                  <a:pt x="512" y="206"/>
                  <a:pt x="494" y="224"/>
                  <a:pt x="472" y="224"/>
                </a:cubicBezTo>
                <a:close/>
              </a:path>
              <a:path w="512" h="512">
                <a:moveTo>
                  <a:pt x="472" y="416"/>
                </a:moveTo>
                <a:lnTo>
                  <a:pt x="424" y="416"/>
                </a:lnTo>
                <a:cubicBezTo>
                  <a:pt x="402" y="416"/>
                  <a:pt x="384" y="398"/>
                  <a:pt x="384" y="376"/>
                </a:cubicBezTo>
                <a:lnTo>
                  <a:pt x="384" y="328"/>
                </a:lnTo>
                <a:cubicBezTo>
                  <a:pt x="384" y="306"/>
                  <a:pt x="402" y="288"/>
                  <a:pt x="424" y="288"/>
                </a:cubicBezTo>
                <a:lnTo>
                  <a:pt x="472" y="288"/>
                </a:lnTo>
                <a:cubicBezTo>
                  <a:pt x="494" y="288"/>
                  <a:pt x="512" y="306"/>
                  <a:pt x="512" y="328"/>
                </a:cubicBezTo>
                <a:lnTo>
                  <a:pt x="512" y="376"/>
                </a:lnTo>
                <a:cubicBezTo>
                  <a:pt x="512" y="398"/>
                  <a:pt x="494" y="416"/>
                  <a:pt x="472" y="416"/>
                </a:cubicBezTo>
                <a:close/>
              </a:path>
              <a:path w="512" h="512">
                <a:moveTo>
                  <a:pt x="280" y="288"/>
                </a:moveTo>
                <a:cubicBezTo>
                  <a:pt x="302" y="288"/>
                  <a:pt x="320" y="306"/>
                  <a:pt x="320" y="328"/>
                </a:cubicBezTo>
                <a:lnTo>
                  <a:pt x="320" y="376"/>
                </a:lnTo>
                <a:cubicBezTo>
                  <a:pt x="320" y="398"/>
                  <a:pt x="302" y="416"/>
                  <a:pt x="280" y="416"/>
                </a:cubicBezTo>
                <a:lnTo>
                  <a:pt x="232" y="416"/>
                </a:lnTo>
                <a:cubicBezTo>
                  <a:pt x="210" y="416"/>
                  <a:pt x="192" y="398"/>
                  <a:pt x="192" y="376"/>
                </a:cubicBezTo>
                <a:lnTo>
                  <a:pt x="192" y="328"/>
                </a:lnTo>
                <a:cubicBezTo>
                  <a:pt x="192" y="306"/>
                  <a:pt x="210" y="288"/>
                  <a:pt x="232" y="288"/>
                </a:cubicBezTo>
                <a:lnTo>
                  <a:pt x="280" y="288"/>
                </a:lnTo>
                <a:close/>
              </a:path>
              <a:path w="512" h="512">
                <a:moveTo>
                  <a:pt x="88" y="416"/>
                </a:moveTo>
                <a:lnTo>
                  <a:pt x="40" y="416"/>
                </a:lnTo>
                <a:cubicBezTo>
                  <a:pt x="18" y="416"/>
                  <a:pt x="0" y="398"/>
                  <a:pt x="0" y="376"/>
                </a:cubicBezTo>
                <a:lnTo>
                  <a:pt x="0" y="328"/>
                </a:lnTo>
                <a:cubicBezTo>
                  <a:pt x="0" y="306"/>
                  <a:pt x="18" y="288"/>
                  <a:pt x="40" y="288"/>
                </a:cubicBezTo>
                <a:lnTo>
                  <a:pt x="88" y="288"/>
                </a:lnTo>
                <a:cubicBezTo>
                  <a:pt x="110" y="288"/>
                  <a:pt x="128" y="306"/>
                  <a:pt x="128" y="328"/>
                </a:cubicBezTo>
                <a:lnTo>
                  <a:pt x="128" y="376"/>
                </a:lnTo>
                <a:cubicBezTo>
                  <a:pt x="128" y="398"/>
                  <a:pt x="110" y="416"/>
                  <a:pt x="88" y="4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8" name="c3-s3-text"/>
          <p:cNvSpPr txBox="1"/>
          <p:nvPr/>
        </p:nvSpPr>
        <p:spPr>
          <a:xfrm>
            <a:off x="17246600" y="5854700"/>
            <a:ext cx="34544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>
                <a:solidFill>
                  <a:srgbClr val="1F2A44"/>
                </a:solidFill>
                <a:latin typeface="MiSans"/>
                <a:ea typeface="MiSans"/>
              </a:rPr>
              <a:t>RA8P1时频分析</a:t>
            </a:r>
            <a:endParaRPr lang="en-US" sz="2100" noProof="1"/>
          </a:p>
        </p:txBody>
      </p:sp>
      <p:sp>
        <p:nvSpPr>
          <p:cNvPr id="99" name="c3-a3"/>
          <p:cNvSpPr/>
          <p:nvPr/>
        </p:nvSpPr>
        <p:spPr>
          <a:xfrm rot="10800000">
            <a:off x="16002000" y="6502400"/>
            <a:ext cx="152400" cy="203200"/>
          </a:xfrm>
          <a:prstGeom prst="triangle">
            <a:avLst/>
          </a:prstGeom>
          <a:solidFill>
            <a:srgbClr val="0A56E7"/>
          </a:solidFill>
          <a:ln>
            <a:noFill/>
          </a:ln>
        </p:spPr>
      </p:sp>
      <p:sp>
        <p:nvSpPr>
          <p:cNvPr id="100" name="c3-s4-num"/>
          <p:cNvSpPr/>
          <p:nvPr/>
        </p:nvSpPr>
        <p:spPr>
          <a:xfrm>
            <a:off x="15824200" y="6985000"/>
            <a:ext cx="508000" cy="508000"/>
          </a:xfrm>
          <a:prstGeom prst="ellipse">
            <a:avLst/>
          </a:prstGeom>
          <a:gradFill rotWithShape="1">
            <a:gsLst>
              <a:gs pos="0">
                <a:srgbClr val="2E7CF6"/>
              </a:gs>
              <a:gs pos="100000">
                <a:srgbClr val="0348F5"/>
              </a:gs>
            </a:gsLst>
            <a:lin ang="8100000" scaled="1"/>
          </a:gradFill>
          <a:ln>
            <a:noFill/>
          </a:ln>
        </p:spPr>
      </p:sp>
      <p:sp>
        <p:nvSpPr>
          <p:cNvPr id="101" name="c3-s4-numtext"/>
          <p:cNvSpPr txBox="1"/>
          <p:nvPr/>
        </p:nvSpPr>
        <p:spPr>
          <a:xfrm>
            <a:off x="15824200" y="6985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noProof="1">
                <a:solidFill>
                  <a:srgbClr val="FFFFFF"/>
                </a:solidFill>
                <a:latin typeface="MiSans"/>
                <a:ea typeface="MiSans"/>
              </a:rPr>
              <a:t>04</a:t>
            </a:r>
            <a:endParaRPr lang="en-US" sz="2000" noProof="1"/>
          </a:p>
        </p:txBody>
      </p:sp>
      <p:sp>
        <p:nvSpPr>
          <p:cNvPr id="102" name="c3-s4-iconbg"/>
          <p:cNvSpPr/>
          <p:nvPr/>
        </p:nvSpPr>
        <p:spPr>
          <a:xfrm>
            <a:off x="16510000" y="6946900"/>
            <a:ext cx="584200" cy="5842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103" name="c3-s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eyJpY29uTmFtZSI6ImZhczpmaW5nZXJwcmludCJ9</pptd:icon>
              </p:ext>
            </p:extLst>
          </p:nvPr>
        </p:nvSpPr>
        <p:spPr>
          <a:xfrm>
            <a:off x="16637000" y="70739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8" y="256"/>
                </a:moveTo>
                <a:cubicBezTo>
                  <a:pt x="48" y="141"/>
                  <a:pt x="141" y="48"/>
                  <a:pt x="256" y="48"/>
                </a:cubicBezTo>
                <a:cubicBezTo>
                  <a:pt x="319" y="48"/>
                  <a:pt x="376" y="76"/>
                  <a:pt x="414" y="121"/>
                </a:cubicBezTo>
                <a:cubicBezTo>
                  <a:pt x="422" y="131"/>
                  <a:pt x="438" y="132"/>
                  <a:pt x="448" y="123"/>
                </a:cubicBezTo>
                <a:cubicBezTo>
                  <a:pt x="458" y="115"/>
                  <a:pt x="459" y="99"/>
                  <a:pt x="450" y="89"/>
                </a:cubicBezTo>
                <a:cubicBezTo>
                  <a:pt x="403" y="35"/>
                  <a:pt x="334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lnTo>
                  <a:pt x="0" y="296"/>
                </a:lnTo>
                <a:cubicBezTo>
                  <a:pt x="0" y="309"/>
                  <a:pt x="11" y="320"/>
                  <a:pt x="24" y="320"/>
                </a:cubicBezTo>
                <a:cubicBezTo>
                  <a:pt x="37" y="320"/>
                  <a:pt x="48" y="309"/>
                  <a:pt x="48" y="296"/>
                </a:cubicBezTo>
                <a:lnTo>
                  <a:pt x="48" y="256"/>
                </a:lnTo>
                <a:close/>
              </a:path>
              <a:path w="512" h="512">
                <a:moveTo>
                  <a:pt x="507" y="203"/>
                </a:moveTo>
                <a:cubicBezTo>
                  <a:pt x="504" y="190"/>
                  <a:pt x="491" y="182"/>
                  <a:pt x="478" y="185"/>
                </a:cubicBezTo>
                <a:cubicBezTo>
                  <a:pt x="465" y="187"/>
                  <a:pt x="457" y="200"/>
                  <a:pt x="460" y="213"/>
                </a:cubicBezTo>
                <a:cubicBezTo>
                  <a:pt x="463" y="227"/>
                  <a:pt x="464" y="241"/>
                  <a:pt x="464" y="256"/>
                </a:cubicBezTo>
                <a:lnTo>
                  <a:pt x="464" y="296"/>
                </a:lnTo>
                <a:cubicBezTo>
                  <a:pt x="464" y="309"/>
                  <a:pt x="475" y="320"/>
                  <a:pt x="488" y="320"/>
                </a:cubicBezTo>
                <a:cubicBezTo>
                  <a:pt x="501" y="320"/>
                  <a:pt x="512" y="309"/>
                  <a:pt x="512" y="296"/>
                </a:cubicBezTo>
                <a:lnTo>
                  <a:pt x="512" y="256"/>
                </a:lnTo>
                <a:cubicBezTo>
                  <a:pt x="512" y="238"/>
                  <a:pt x="510" y="220"/>
                  <a:pt x="507" y="203"/>
                </a:cubicBezTo>
                <a:close/>
              </a:path>
              <a:path w="512" h="512">
                <a:moveTo>
                  <a:pt x="256" y="80"/>
                </a:moveTo>
                <a:cubicBezTo>
                  <a:pt x="237" y="80"/>
                  <a:pt x="219" y="83"/>
                  <a:pt x="202" y="89"/>
                </a:cubicBezTo>
                <a:cubicBezTo>
                  <a:pt x="186" y="94"/>
                  <a:pt x="183" y="112"/>
                  <a:pt x="193" y="125"/>
                </a:cubicBezTo>
                <a:cubicBezTo>
                  <a:pt x="200" y="133"/>
                  <a:pt x="212" y="135"/>
                  <a:pt x="223" y="132"/>
                </a:cubicBezTo>
                <a:cubicBezTo>
                  <a:pt x="233" y="130"/>
                  <a:pt x="244" y="128"/>
                  <a:pt x="256" y="128"/>
                </a:cubicBezTo>
                <a:cubicBezTo>
                  <a:pt x="327" y="128"/>
                  <a:pt x="384" y="185"/>
                  <a:pt x="384" y="256"/>
                </a:cubicBezTo>
                <a:lnTo>
                  <a:pt x="384" y="281"/>
                </a:lnTo>
                <a:cubicBezTo>
                  <a:pt x="384" y="306"/>
                  <a:pt x="383" y="331"/>
                  <a:pt x="380" y="356"/>
                </a:cubicBezTo>
                <a:cubicBezTo>
                  <a:pt x="378" y="371"/>
                  <a:pt x="389" y="384"/>
                  <a:pt x="404" y="384"/>
                </a:cubicBezTo>
                <a:cubicBezTo>
                  <a:pt x="416" y="384"/>
                  <a:pt x="426" y="375"/>
                  <a:pt x="427" y="364"/>
                </a:cubicBezTo>
                <a:cubicBezTo>
                  <a:pt x="430" y="336"/>
                  <a:pt x="432" y="309"/>
                  <a:pt x="432" y="281"/>
                </a:cubicBezTo>
                <a:lnTo>
                  <a:pt x="432" y="256"/>
                </a:lnTo>
                <a:cubicBezTo>
                  <a:pt x="432" y="159"/>
                  <a:pt x="353" y="80"/>
                  <a:pt x="256" y="80"/>
                </a:cubicBezTo>
                <a:close/>
              </a:path>
              <a:path w="512" h="512">
                <a:moveTo>
                  <a:pt x="151" y="149"/>
                </a:moveTo>
                <a:cubicBezTo>
                  <a:pt x="142" y="138"/>
                  <a:pt x="125" y="137"/>
                  <a:pt x="117" y="148"/>
                </a:cubicBezTo>
                <a:cubicBezTo>
                  <a:pt x="94" y="178"/>
                  <a:pt x="80" y="215"/>
                  <a:pt x="80" y="256"/>
                </a:cubicBezTo>
                <a:lnTo>
                  <a:pt x="80" y="281"/>
                </a:lnTo>
                <a:cubicBezTo>
                  <a:pt x="80" y="305"/>
                  <a:pt x="77" y="329"/>
                  <a:pt x="72" y="353"/>
                </a:cubicBezTo>
                <a:cubicBezTo>
                  <a:pt x="69" y="368"/>
                  <a:pt x="80" y="384"/>
                  <a:pt x="96" y="384"/>
                </a:cubicBezTo>
                <a:cubicBezTo>
                  <a:pt x="107" y="384"/>
                  <a:pt x="116" y="377"/>
                  <a:pt x="118" y="367"/>
                </a:cubicBezTo>
                <a:cubicBezTo>
                  <a:pt x="125" y="338"/>
                  <a:pt x="128" y="310"/>
                  <a:pt x="128" y="281"/>
                </a:cubicBezTo>
                <a:lnTo>
                  <a:pt x="128" y="256"/>
                </a:lnTo>
                <a:cubicBezTo>
                  <a:pt x="128" y="229"/>
                  <a:pt x="137" y="203"/>
                  <a:pt x="151" y="183"/>
                </a:cubicBezTo>
                <a:cubicBezTo>
                  <a:pt x="158" y="172"/>
                  <a:pt x="159" y="158"/>
                  <a:pt x="151" y="149"/>
                </a:cubicBezTo>
                <a:close/>
              </a:path>
              <a:path w="512" h="512">
                <a:moveTo>
                  <a:pt x="256" y="160"/>
                </a:moveTo>
                <a:cubicBezTo>
                  <a:pt x="203" y="160"/>
                  <a:pt x="160" y="203"/>
                  <a:pt x="160" y="256"/>
                </a:cubicBezTo>
                <a:lnTo>
                  <a:pt x="160" y="281"/>
                </a:lnTo>
                <a:cubicBezTo>
                  <a:pt x="160" y="317"/>
                  <a:pt x="155" y="352"/>
                  <a:pt x="146" y="387"/>
                </a:cubicBezTo>
                <a:cubicBezTo>
                  <a:pt x="142" y="401"/>
                  <a:pt x="153" y="416"/>
                  <a:pt x="168" y="416"/>
                </a:cubicBezTo>
                <a:cubicBezTo>
                  <a:pt x="177" y="416"/>
                  <a:pt x="186" y="410"/>
                  <a:pt x="188" y="401"/>
                </a:cubicBezTo>
                <a:cubicBezTo>
                  <a:pt x="199" y="362"/>
                  <a:pt x="204" y="321"/>
                  <a:pt x="204" y="281"/>
                </a:cubicBezTo>
                <a:lnTo>
                  <a:pt x="204" y="256"/>
                </a:lnTo>
                <a:cubicBezTo>
                  <a:pt x="204" y="227"/>
                  <a:pt x="227" y="204"/>
                  <a:pt x="256" y="204"/>
                </a:cubicBezTo>
                <a:cubicBezTo>
                  <a:pt x="285" y="204"/>
                  <a:pt x="308" y="227"/>
                  <a:pt x="308" y="256"/>
                </a:cubicBezTo>
                <a:lnTo>
                  <a:pt x="308" y="281"/>
                </a:lnTo>
                <a:cubicBezTo>
                  <a:pt x="308" y="317"/>
                  <a:pt x="305" y="353"/>
                  <a:pt x="298" y="389"/>
                </a:cubicBezTo>
                <a:cubicBezTo>
                  <a:pt x="295" y="403"/>
                  <a:pt x="305" y="416"/>
                  <a:pt x="319" y="416"/>
                </a:cubicBezTo>
                <a:cubicBezTo>
                  <a:pt x="330" y="416"/>
                  <a:pt x="338" y="409"/>
                  <a:pt x="340" y="399"/>
                </a:cubicBezTo>
                <a:cubicBezTo>
                  <a:pt x="348" y="360"/>
                  <a:pt x="352" y="321"/>
                  <a:pt x="352" y="281"/>
                </a:cubicBezTo>
                <a:lnTo>
                  <a:pt x="352" y="256"/>
                </a:lnTo>
                <a:cubicBezTo>
                  <a:pt x="352" y="203"/>
                  <a:pt x="309" y="160"/>
                  <a:pt x="256" y="160"/>
                </a:cubicBezTo>
                <a:close/>
              </a:path>
              <a:path w="512" h="512">
                <a:moveTo>
                  <a:pt x="280" y="256"/>
                </a:moveTo>
                <a:cubicBezTo>
                  <a:pt x="280" y="243"/>
                  <a:pt x="269" y="232"/>
                  <a:pt x="256" y="232"/>
                </a:cubicBezTo>
                <a:cubicBezTo>
                  <a:pt x="243" y="232"/>
                  <a:pt x="232" y="243"/>
                  <a:pt x="232" y="256"/>
                </a:cubicBezTo>
                <a:lnTo>
                  <a:pt x="232" y="281"/>
                </a:lnTo>
                <a:cubicBezTo>
                  <a:pt x="232" y="341"/>
                  <a:pt x="221" y="400"/>
                  <a:pt x="200" y="456"/>
                </a:cubicBezTo>
                <a:lnTo>
                  <a:pt x="194" y="471"/>
                </a:lnTo>
                <a:cubicBezTo>
                  <a:pt x="189" y="484"/>
                  <a:pt x="195" y="498"/>
                  <a:pt x="207" y="502"/>
                </a:cubicBezTo>
                <a:cubicBezTo>
                  <a:pt x="220" y="507"/>
                  <a:pt x="234" y="501"/>
                  <a:pt x="238" y="489"/>
                </a:cubicBezTo>
                <a:lnTo>
                  <a:pt x="244" y="473"/>
                </a:lnTo>
                <a:cubicBezTo>
                  <a:pt x="268" y="412"/>
                  <a:pt x="280" y="347"/>
                  <a:pt x="280" y="281"/>
                </a:cubicBezTo>
                <a:lnTo>
                  <a:pt x="280" y="2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4" name="c3-s4-text"/>
          <p:cNvSpPr txBox="1"/>
          <p:nvPr/>
        </p:nvSpPr>
        <p:spPr>
          <a:xfrm>
            <a:off x="17246600" y="6946900"/>
            <a:ext cx="34544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>
                <a:solidFill>
                  <a:srgbClr val="1F2A44"/>
                </a:solidFill>
                <a:latin typeface="MiSans"/>
                <a:ea typeface="MiSans"/>
              </a:rPr>
              <a:t>射频指纹识别</a:t>
            </a:r>
            <a:endParaRPr lang="en-US" sz="2100" noProof="1"/>
          </a:p>
        </p:txBody>
      </p:sp>
      <p:sp>
        <p:nvSpPr>
          <p:cNvPr id="105" name="c3-a4"/>
          <p:cNvSpPr/>
          <p:nvPr/>
        </p:nvSpPr>
        <p:spPr>
          <a:xfrm rot="10800000">
            <a:off x="16002000" y="7594600"/>
            <a:ext cx="152400" cy="203200"/>
          </a:xfrm>
          <a:prstGeom prst="triangle">
            <a:avLst/>
          </a:prstGeom>
          <a:solidFill>
            <a:srgbClr val="0A56E7"/>
          </a:solidFill>
          <a:ln>
            <a:noFill/>
          </a:ln>
        </p:spPr>
      </p:sp>
      <p:sp>
        <p:nvSpPr>
          <p:cNvPr id="106" name="c3-s5-num"/>
          <p:cNvSpPr/>
          <p:nvPr/>
        </p:nvSpPr>
        <p:spPr>
          <a:xfrm>
            <a:off x="15824200" y="8077200"/>
            <a:ext cx="508000" cy="508000"/>
          </a:xfrm>
          <a:prstGeom prst="ellipse">
            <a:avLst/>
          </a:prstGeom>
          <a:gradFill rotWithShape="1">
            <a:gsLst>
              <a:gs pos="0">
                <a:srgbClr val="2E7CF6"/>
              </a:gs>
              <a:gs pos="100000">
                <a:srgbClr val="0348F5"/>
              </a:gs>
            </a:gsLst>
            <a:lin ang="8100000" scaled="1"/>
          </a:gradFill>
          <a:ln>
            <a:noFill/>
          </a:ln>
        </p:spPr>
      </p:sp>
      <p:sp>
        <p:nvSpPr>
          <p:cNvPr id="107" name="c3-s5-numtext"/>
          <p:cNvSpPr txBox="1"/>
          <p:nvPr/>
        </p:nvSpPr>
        <p:spPr>
          <a:xfrm>
            <a:off x="15824200" y="80772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noProof="1">
                <a:solidFill>
                  <a:srgbClr val="FFFFFF"/>
                </a:solidFill>
                <a:latin typeface="MiSans"/>
                <a:ea typeface="MiSans"/>
              </a:rPr>
              <a:t>05</a:t>
            </a:r>
            <a:endParaRPr lang="en-US" sz="2000" noProof="1"/>
          </a:p>
        </p:txBody>
      </p:sp>
      <p:sp>
        <p:nvSpPr>
          <p:cNvPr id="108" name="c3-s5-iconbg"/>
          <p:cNvSpPr/>
          <p:nvPr/>
        </p:nvSpPr>
        <p:spPr>
          <a:xfrm>
            <a:off x="16510000" y="8039100"/>
            <a:ext cx="584200" cy="5842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109" name="c3-s5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eyJpY29uTmFtZSI6ImZhczpiZWxsIn0</pptd:icon>
              </p:ext>
            </p:extLst>
          </p:nvPr>
        </p:nvSpPr>
        <p:spPr>
          <a:xfrm>
            <a:off x="16637000" y="81661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0"/>
                </a:moveTo>
                <a:cubicBezTo>
                  <a:pt x="206" y="0"/>
                  <a:pt x="192" y="14"/>
                  <a:pt x="192" y="32"/>
                </a:cubicBezTo>
                <a:lnTo>
                  <a:pt x="192" y="35"/>
                </a:lnTo>
                <a:cubicBezTo>
                  <a:pt x="119" y="50"/>
                  <a:pt x="64" y="115"/>
                  <a:pt x="64" y="192"/>
                </a:cubicBezTo>
                <a:lnTo>
                  <a:pt x="64" y="214"/>
                </a:lnTo>
                <a:cubicBezTo>
                  <a:pt x="64" y="262"/>
                  <a:pt x="48" y="309"/>
                  <a:pt x="18" y="346"/>
                </a:cubicBezTo>
                <a:lnTo>
                  <a:pt x="8" y="358"/>
                </a:lnTo>
                <a:cubicBezTo>
                  <a:pt x="3" y="365"/>
                  <a:pt x="0" y="372"/>
                  <a:pt x="0" y="381"/>
                </a:cubicBezTo>
                <a:cubicBezTo>
                  <a:pt x="0" y="400"/>
                  <a:pt x="16" y="416"/>
                  <a:pt x="36" y="416"/>
                </a:cubicBezTo>
                <a:lnTo>
                  <a:pt x="412" y="416"/>
                </a:lnTo>
                <a:cubicBezTo>
                  <a:pt x="432" y="416"/>
                  <a:pt x="448" y="400"/>
                  <a:pt x="448" y="381"/>
                </a:cubicBezTo>
                <a:cubicBezTo>
                  <a:pt x="448" y="372"/>
                  <a:pt x="445" y="365"/>
                  <a:pt x="440" y="358"/>
                </a:cubicBezTo>
                <a:lnTo>
                  <a:pt x="430" y="346"/>
                </a:lnTo>
                <a:cubicBezTo>
                  <a:pt x="400" y="309"/>
                  <a:pt x="384" y="262"/>
                  <a:pt x="384" y="214"/>
                </a:cubicBezTo>
                <a:lnTo>
                  <a:pt x="384" y="192"/>
                </a:lnTo>
                <a:cubicBezTo>
                  <a:pt x="384" y="115"/>
                  <a:pt x="329" y="50"/>
                  <a:pt x="256" y="35"/>
                </a:cubicBezTo>
                <a:lnTo>
                  <a:pt x="256" y="32"/>
                </a:lnTo>
                <a:cubicBezTo>
                  <a:pt x="256" y="14"/>
                  <a:pt x="242" y="0"/>
                  <a:pt x="224" y="0"/>
                </a:cubicBezTo>
                <a:close/>
                <a:moveTo>
                  <a:pt x="162" y="464"/>
                </a:moveTo>
                <a:cubicBezTo>
                  <a:pt x="169" y="492"/>
                  <a:pt x="194" y="512"/>
                  <a:pt x="224" y="512"/>
                </a:cubicBezTo>
                <a:cubicBezTo>
                  <a:pt x="254" y="512"/>
                  <a:pt x="279" y="492"/>
                  <a:pt x="286" y="464"/>
                </a:cubicBezTo>
                <a:lnTo>
                  <a:pt x="162" y="46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0" name="c3-s5-text"/>
          <p:cNvSpPr txBox="1"/>
          <p:nvPr/>
        </p:nvSpPr>
        <p:spPr>
          <a:xfrm>
            <a:off x="17246600" y="8039100"/>
            <a:ext cx="34544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>
                <a:solidFill>
                  <a:srgbClr val="1F2A44"/>
                </a:solidFill>
                <a:latin typeface="MiSans"/>
                <a:ea typeface="MiSans"/>
              </a:rPr>
              <a:t>状态融合与可视化告警</a:t>
            </a:r>
            <a:endParaRPr lang="en-US" sz="2100" noProof="1"/>
          </a:p>
        </p:txBody>
      </p:sp>
      <p:sp>
        <p:nvSpPr>
          <p:cNvPr id="111" name="b1"/>
          <p:cNvSpPr/>
          <p:nvPr/>
        </p:nvSpPr>
        <p:spPr>
          <a:xfrm>
            <a:off x="304800" y="9982200"/>
            <a:ext cx="3860800" cy="1498600"/>
          </a:xfrm>
          <a:prstGeom prst="roundRect">
            <a:avLst>
              <a:gd name="adj" fmla="val 8000"/>
            </a:avLst>
          </a:prstGeom>
          <a:solidFill>
            <a:srgbClr val="FFFF00"/>
          </a:solidFill>
          <a:ln w="12700">
            <a:solidFill>
              <a:srgbClr val="DFE9F7"/>
            </a:solidFill>
          </a:ln>
        </p:spPr>
      </p:sp>
      <p:sp>
        <p:nvSpPr>
          <p:cNvPr id="112" name="b1-iconbg"/>
          <p:cNvSpPr/>
          <p:nvPr/>
        </p:nvSpPr>
        <p:spPr>
          <a:xfrm>
            <a:off x="558800" y="10452100"/>
            <a:ext cx="558800" cy="5588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113" name="b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eyJpY29uTmFtZSI6ImZhczp0b3dlci1icm9hZGNhc3QifQ</pptd:icon>
              </p:ext>
            </p:extLst>
          </p:nvPr>
        </p:nvSpPr>
        <p:spPr>
          <a:xfrm>
            <a:off x="685800" y="1057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88" y="12"/>
                </a:moveTo>
                <a:cubicBezTo>
                  <a:pt x="77" y="5"/>
                  <a:pt x="62" y="8"/>
                  <a:pt x="55" y="20"/>
                </a:cubicBezTo>
                <a:cubicBezTo>
                  <a:pt x="30" y="61"/>
                  <a:pt x="16" y="109"/>
                  <a:pt x="16" y="160"/>
                </a:cubicBezTo>
                <a:cubicBezTo>
                  <a:pt x="16" y="211"/>
                  <a:pt x="30" y="259"/>
                  <a:pt x="55" y="300"/>
                </a:cubicBezTo>
                <a:cubicBezTo>
                  <a:pt x="62" y="312"/>
                  <a:pt x="77" y="315"/>
                  <a:pt x="88" y="309"/>
                </a:cubicBezTo>
                <a:cubicBezTo>
                  <a:pt x="99" y="302"/>
                  <a:pt x="103" y="287"/>
                  <a:pt x="96" y="276"/>
                </a:cubicBezTo>
                <a:cubicBezTo>
                  <a:pt x="76" y="242"/>
                  <a:pt x="64" y="202"/>
                  <a:pt x="64" y="160"/>
                </a:cubicBezTo>
                <a:cubicBezTo>
                  <a:pt x="64" y="118"/>
                  <a:pt x="76" y="78"/>
                  <a:pt x="96" y="44"/>
                </a:cubicBezTo>
                <a:cubicBezTo>
                  <a:pt x="103" y="33"/>
                  <a:pt x="99" y="18"/>
                  <a:pt x="88" y="11"/>
                </a:cubicBezTo>
                <a:close/>
              </a:path>
              <a:path w="576" h="512">
                <a:moveTo>
                  <a:pt x="488" y="12"/>
                </a:moveTo>
                <a:cubicBezTo>
                  <a:pt x="477" y="18"/>
                  <a:pt x="473" y="33"/>
                  <a:pt x="480" y="45"/>
                </a:cubicBezTo>
                <a:cubicBezTo>
                  <a:pt x="500" y="78"/>
                  <a:pt x="512" y="118"/>
                  <a:pt x="512" y="160"/>
                </a:cubicBezTo>
                <a:cubicBezTo>
                  <a:pt x="512" y="202"/>
                  <a:pt x="500" y="242"/>
                  <a:pt x="480" y="276"/>
                </a:cubicBezTo>
                <a:cubicBezTo>
                  <a:pt x="473" y="287"/>
                  <a:pt x="477" y="302"/>
                  <a:pt x="488" y="309"/>
                </a:cubicBezTo>
                <a:cubicBezTo>
                  <a:pt x="499" y="316"/>
                  <a:pt x="514" y="312"/>
                  <a:pt x="521" y="301"/>
                </a:cubicBezTo>
                <a:cubicBezTo>
                  <a:pt x="546" y="260"/>
                  <a:pt x="560" y="211"/>
                  <a:pt x="560" y="160"/>
                </a:cubicBezTo>
                <a:cubicBezTo>
                  <a:pt x="560" y="109"/>
                  <a:pt x="546" y="61"/>
                  <a:pt x="521" y="20"/>
                </a:cubicBezTo>
                <a:cubicBezTo>
                  <a:pt x="514" y="8"/>
                  <a:pt x="499" y="5"/>
                  <a:pt x="488" y="12"/>
                </a:cubicBezTo>
                <a:close/>
              </a:path>
              <a:path w="576" h="512">
                <a:moveTo>
                  <a:pt x="320" y="215"/>
                </a:moveTo>
                <a:cubicBezTo>
                  <a:pt x="339" y="204"/>
                  <a:pt x="352" y="184"/>
                  <a:pt x="352" y="160"/>
                </a:cubicBezTo>
                <a:cubicBezTo>
                  <a:pt x="352" y="125"/>
                  <a:pt x="323" y="96"/>
                  <a:pt x="288" y="96"/>
                </a:cubicBezTo>
                <a:cubicBezTo>
                  <a:pt x="253" y="96"/>
                  <a:pt x="224" y="125"/>
                  <a:pt x="224" y="160"/>
                </a:cubicBezTo>
                <a:cubicBezTo>
                  <a:pt x="224" y="184"/>
                  <a:pt x="237" y="204"/>
                  <a:pt x="256" y="215"/>
                </a:cubicBezTo>
                <a:lnTo>
                  <a:pt x="256" y="480"/>
                </a:lnTo>
                <a:cubicBezTo>
                  <a:pt x="256" y="498"/>
                  <a:pt x="270" y="512"/>
                  <a:pt x="288" y="512"/>
                </a:cubicBezTo>
                <a:cubicBezTo>
                  <a:pt x="306" y="512"/>
                  <a:pt x="320" y="498"/>
                  <a:pt x="320" y="480"/>
                </a:cubicBezTo>
                <a:lnTo>
                  <a:pt x="320" y="215"/>
                </a:lnTo>
                <a:close/>
              </a:path>
              <a:path w="576" h="512">
                <a:moveTo>
                  <a:pt x="180" y="91"/>
                </a:moveTo>
                <a:cubicBezTo>
                  <a:pt x="187" y="80"/>
                  <a:pt x="184" y="65"/>
                  <a:pt x="173" y="58"/>
                </a:cubicBezTo>
                <a:cubicBezTo>
                  <a:pt x="162" y="51"/>
                  <a:pt x="147" y="54"/>
                  <a:pt x="140" y="65"/>
                </a:cubicBezTo>
                <a:cubicBezTo>
                  <a:pt x="122" y="92"/>
                  <a:pt x="112" y="125"/>
                  <a:pt x="112" y="160"/>
                </a:cubicBezTo>
                <a:cubicBezTo>
                  <a:pt x="112" y="195"/>
                  <a:pt x="122" y="228"/>
                  <a:pt x="140" y="255"/>
                </a:cubicBezTo>
                <a:cubicBezTo>
                  <a:pt x="147" y="266"/>
                  <a:pt x="162" y="269"/>
                  <a:pt x="173" y="262"/>
                </a:cubicBezTo>
                <a:cubicBezTo>
                  <a:pt x="184" y="255"/>
                  <a:pt x="187" y="240"/>
                  <a:pt x="180" y="229"/>
                </a:cubicBezTo>
                <a:cubicBezTo>
                  <a:pt x="167" y="209"/>
                  <a:pt x="160" y="185"/>
                  <a:pt x="160" y="160"/>
                </a:cubicBezTo>
                <a:cubicBezTo>
                  <a:pt x="160" y="135"/>
                  <a:pt x="167" y="111"/>
                  <a:pt x="180" y="91"/>
                </a:cubicBezTo>
                <a:close/>
              </a:path>
              <a:path w="576" h="512">
                <a:moveTo>
                  <a:pt x="436" y="65"/>
                </a:moveTo>
                <a:cubicBezTo>
                  <a:pt x="429" y="54"/>
                  <a:pt x="414" y="51"/>
                  <a:pt x="403" y="58"/>
                </a:cubicBezTo>
                <a:cubicBezTo>
                  <a:pt x="392" y="65"/>
                  <a:pt x="389" y="80"/>
                  <a:pt x="396" y="91"/>
                </a:cubicBezTo>
                <a:cubicBezTo>
                  <a:pt x="409" y="111"/>
                  <a:pt x="416" y="135"/>
                  <a:pt x="416" y="160"/>
                </a:cubicBezTo>
                <a:cubicBezTo>
                  <a:pt x="416" y="185"/>
                  <a:pt x="409" y="209"/>
                  <a:pt x="396" y="229"/>
                </a:cubicBezTo>
                <a:cubicBezTo>
                  <a:pt x="389" y="240"/>
                  <a:pt x="392" y="255"/>
                  <a:pt x="403" y="262"/>
                </a:cubicBezTo>
                <a:cubicBezTo>
                  <a:pt x="414" y="269"/>
                  <a:pt x="429" y="266"/>
                  <a:pt x="436" y="255"/>
                </a:cubicBezTo>
                <a:cubicBezTo>
                  <a:pt x="454" y="228"/>
                  <a:pt x="464" y="195"/>
                  <a:pt x="464" y="160"/>
                </a:cubicBezTo>
                <a:cubicBezTo>
                  <a:pt x="464" y="125"/>
                  <a:pt x="454" y="92"/>
                  <a:pt x="436" y="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4" name="b1-title"/>
          <p:cNvSpPr txBox="1"/>
          <p:nvPr/>
        </p:nvSpPr>
        <p:spPr>
          <a:xfrm>
            <a:off x="1270000" y="102870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10183F"/>
                </a:solidFill>
                <a:latin typeface="MiSans"/>
                <a:ea typeface="MiSans"/>
              </a:rPr>
              <a:t>非视距感知NLOS</a:t>
            </a:r>
            <a:endParaRPr lang="en-US" sz="2100" noProof="1"/>
          </a:p>
        </p:txBody>
      </p:sp>
      <p:sp>
        <p:nvSpPr>
          <p:cNvPr id="115" name="b1-desc"/>
          <p:cNvSpPr txBox="1"/>
          <p:nvPr/>
        </p:nvSpPr>
        <p:spPr>
          <a:xfrm>
            <a:off x="1270000" y="10769600"/>
            <a:ext cx="2743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4A5B7C"/>
                </a:solidFill>
                <a:latin typeface="MiSans"/>
                <a:ea typeface="MiSans"/>
              </a:rPr>
              <a:t>不依赖光照与天气条件</a:t>
            </a:r>
            <a:endParaRPr lang="en-US" sz="1700" noProof="1"/>
          </a:p>
        </p:txBody>
      </p:sp>
      <p:sp>
        <p:nvSpPr>
          <p:cNvPr id="116" name="b2"/>
          <p:cNvSpPr/>
          <p:nvPr/>
        </p:nvSpPr>
        <p:spPr>
          <a:xfrm>
            <a:off x="4343400" y="9982200"/>
            <a:ext cx="3860800" cy="1498600"/>
          </a:xfrm>
          <a:prstGeom prst="roundRect">
            <a:avLst>
              <a:gd name="adj" fmla="val 8000"/>
            </a:avLst>
          </a:prstGeom>
          <a:solidFill>
            <a:srgbClr val="FFFF00"/>
          </a:solidFill>
          <a:ln w="12700">
            <a:solidFill>
              <a:srgbClr val="DFE9F7"/>
            </a:solidFill>
          </a:ln>
        </p:spPr>
      </p:sp>
      <p:sp>
        <p:nvSpPr>
          <p:cNvPr id="117" name="b2-iconbg"/>
          <p:cNvSpPr/>
          <p:nvPr/>
        </p:nvSpPr>
        <p:spPr>
          <a:xfrm>
            <a:off x="4597400" y="10452100"/>
            <a:ext cx="558800" cy="5588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118" name="b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eyJpY29uTmFtZSI6ImZhczp3YXZlLXNxdWFyZSJ9</pptd:icon>
              </p:ext>
            </p:extLst>
          </p:nvPr>
        </p:nvSpPr>
        <p:spPr>
          <a:xfrm>
            <a:off x="4724400" y="1057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96"/>
                </a:moveTo>
                <a:cubicBezTo>
                  <a:pt x="64" y="78"/>
                  <a:pt x="78" y="64"/>
                  <a:pt x="96" y="64"/>
                </a:cubicBezTo>
                <a:lnTo>
                  <a:pt x="256" y="64"/>
                </a:lnTo>
                <a:cubicBezTo>
                  <a:pt x="274" y="64"/>
                  <a:pt x="288" y="78"/>
                  <a:pt x="288" y="96"/>
                </a:cubicBezTo>
                <a:lnTo>
                  <a:pt x="288" y="384"/>
                </a:lnTo>
                <a:lnTo>
                  <a:pt x="384" y="384"/>
                </a:lnTo>
                <a:lnTo>
                  <a:pt x="384" y="256"/>
                </a:lnTo>
                <a:cubicBezTo>
                  <a:pt x="384" y="238"/>
                  <a:pt x="398" y="224"/>
                  <a:pt x="41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448" y="288"/>
                </a:lnTo>
                <a:lnTo>
                  <a:pt x="448" y="416"/>
                </a:lnTo>
                <a:cubicBezTo>
                  <a:pt x="448" y="434"/>
                  <a:pt x="434" y="448"/>
                  <a:pt x="416" y="448"/>
                </a:cubicBezTo>
                <a:lnTo>
                  <a:pt x="256" y="448"/>
                </a:lnTo>
                <a:cubicBezTo>
                  <a:pt x="238" y="448"/>
                  <a:pt x="224" y="434"/>
                  <a:pt x="224" y="416"/>
                </a:cubicBezTo>
                <a:lnTo>
                  <a:pt x="224" y="128"/>
                </a:lnTo>
                <a:lnTo>
                  <a:pt x="128" y="128"/>
                </a:lnTo>
                <a:lnTo>
                  <a:pt x="128" y="256"/>
                </a:lnTo>
                <a:cubicBezTo>
                  <a:pt x="128" y="274"/>
                  <a:pt x="114" y="288"/>
                  <a:pt x="96" y="288"/>
                </a:cubicBezTo>
                <a:lnTo>
                  <a:pt x="32" y="288"/>
                </a:lnTo>
                <a:cubicBezTo>
                  <a:pt x="14" y="288"/>
                  <a:pt x="0" y="274"/>
                  <a:pt x="0" y="256"/>
                </a:cubicBezTo>
                <a:cubicBezTo>
                  <a:pt x="0" y="238"/>
                  <a:pt x="14" y="224"/>
                  <a:pt x="32" y="224"/>
                </a:cubicBezTo>
                <a:lnTo>
                  <a:pt x="64" y="224"/>
                </a:lnTo>
                <a:lnTo>
                  <a:pt x="64" y="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9" name="b2-title"/>
          <p:cNvSpPr txBox="1"/>
          <p:nvPr/>
        </p:nvSpPr>
        <p:spPr>
          <a:xfrm>
            <a:off x="5308600" y="102870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10183F"/>
                </a:solidFill>
                <a:latin typeface="MiSans"/>
                <a:ea typeface="MiSans"/>
              </a:rPr>
              <a:t>免解码通用分类</a:t>
            </a:r>
            <a:endParaRPr lang="en-US" sz="2100" noProof="1"/>
          </a:p>
        </p:txBody>
      </p:sp>
      <p:sp>
        <p:nvSpPr>
          <p:cNvPr id="120" name="b2-desc"/>
          <p:cNvSpPr txBox="1"/>
          <p:nvPr/>
        </p:nvSpPr>
        <p:spPr>
          <a:xfrm>
            <a:off x="5308600" y="10769600"/>
            <a:ext cx="2743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4A5B7C"/>
                </a:solidFill>
                <a:latin typeface="MiSans"/>
                <a:ea typeface="MiSans"/>
              </a:rPr>
              <a:t>时频特征直接分类识别</a:t>
            </a:r>
            <a:endParaRPr lang="en-US" sz="1700" noProof="1"/>
          </a:p>
        </p:txBody>
      </p:sp>
      <p:sp>
        <p:nvSpPr>
          <p:cNvPr id="121" name="b3"/>
          <p:cNvSpPr/>
          <p:nvPr/>
        </p:nvSpPr>
        <p:spPr>
          <a:xfrm>
            <a:off x="8382000" y="9982200"/>
            <a:ext cx="3860800" cy="1498600"/>
          </a:xfrm>
          <a:prstGeom prst="roundRect">
            <a:avLst>
              <a:gd name="adj" fmla="val 8000"/>
            </a:avLst>
          </a:prstGeom>
          <a:solidFill>
            <a:srgbClr val="FFFF00"/>
          </a:solidFill>
          <a:ln w="12700">
            <a:solidFill>
              <a:srgbClr val="DFE9F7"/>
            </a:solidFill>
          </a:ln>
        </p:spPr>
      </p:sp>
      <p:sp>
        <p:nvSpPr>
          <p:cNvPr id="122" name="b3-iconbg"/>
          <p:cNvSpPr/>
          <p:nvPr/>
        </p:nvSpPr>
        <p:spPr>
          <a:xfrm>
            <a:off x="8636000" y="10452100"/>
            <a:ext cx="558800" cy="5588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123" name="b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eyJpY29uTmFtZSI6ImZhczpzYXRlbGxpdGUtZGlzaCJ9</pptd:icon>
              </p:ext>
            </p:extLst>
          </p:nvPr>
        </p:nvSpPr>
        <p:spPr>
          <a:xfrm>
            <a:off x="8763000" y="1057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2" y="0"/>
                </a:moveTo>
                <a:cubicBezTo>
                  <a:pt x="387" y="0"/>
                  <a:pt x="512" y="125"/>
                  <a:pt x="512" y="280"/>
                </a:cubicBezTo>
                <a:cubicBezTo>
                  <a:pt x="512" y="293"/>
                  <a:pt x="501" y="304"/>
                  <a:pt x="488" y="304"/>
                </a:cubicBezTo>
                <a:cubicBezTo>
                  <a:pt x="475" y="304"/>
                  <a:pt x="464" y="293"/>
                  <a:pt x="464" y="280"/>
                </a:cubicBezTo>
                <a:cubicBezTo>
                  <a:pt x="464" y="152"/>
                  <a:pt x="360" y="48"/>
                  <a:pt x="232" y="48"/>
                </a:cubicBezTo>
                <a:cubicBezTo>
                  <a:pt x="219" y="48"/>
                  <a:pt x="208" y="37"/>
                  <a:pt x="208" y="24"/>
                </a:cubicBezTo>
                <a:cubicBezTo>
                  <a:pt x="208" y="11"/>
                  <a:pt x="219" y="0"/>
                  <a:pt x="232" y="0"/>
                </a:cubicBezTo>
                <a:close/>
              </a:path>
              <a:path w="512" h="512">
                <a:moveTo>
                  <a:pt x="208" y="120"/>
                </a:moveTo>
                <a:cubicBezTo>
                  <a:pt x="208" y="107"/>
                  <a:pt x="219" y="96"/>
                  <a:pt x="232" y="96"/>
                </a:cubicBezTo>
                <a:cubicBezTo>
                  <a:pt x="334" y="96"/>
                  <a:pt x="416" y="178"/>
                  <a:pt x="416" y="280"/>
                </a:cubicBezTo>
                <a:cubicBezTo>
                  <a:pt x="416" y="293"/>
                  <a:pt x="405" y="304"/>
                  <a:pt x="392" y="304"/>
                </a:cubicBezTo>
                <a:cubicBezTo>
                  <a:pt x="379" y="304"/>
                  <a:pt x="368" y="293"/>
                  <a:pt x="368" y="280"/>
                </a:cubicBezTo>
                <a:cubicBezTo>
                  <a:pt x="368" y="205"/>
                  <a:pt x="307" y="144"/>
                  <a:pt x="232" y="144"/>
                </a:cubicBezTo>
                <a:cubicBezTo>
                  <a:pt x="219" y="144"/>
                  <a:pt x="208" y="133"/>
                  <a:pt x="208" y="120"/>
                </a:cubicBezTo>
                <a:close/>
              </a:path>
              <a:path w="512" h="512">
                <a:moveTo>
                  <a:pt x="26" y="143"/>
                </a:moveTo>
                <a:cubicBezTo>
                  <a:pt x="35" y="125"/>
                  <a:pt x="59" y="123"/>
                  <a:pt x="73" y="137"/>
                </a:cubicBezTo>
                <a:lnTo>
                  <a:pt x="201" y="265"/>
                </a:lnTo>
                <a:lnTo>
                  <a:pt x="233" y="233"/>
                </a:lnTo>
                <a:cubicBezTo>
                  <a:pt x="246" y="221"/>
                  <a:pt x="266" y="221"/>
                  <a:pt x="279" y="233"/>
                </a:cubicBezTo>
                <a:cubicBezTo>
                  <a:pt x="291" y="246"/>
                  <a:pt x="291" y="266"/>
                  <a:pt x="279" y="279"/>
                </a:cubicBezTo>
                <a:lnTo>
                  <a:pt x="247" y="311"/>
                </a:lnTo>
                <a:lnTo>
                  <a:pt x="375" y="439"/>
                </a:lnTo>
                <a:cubicBezTo>
                  <a:pt x="389" y="453"/>
                  <a:pt x="387" y="477"/>
                  <a:pt x="369" y="486"/>
                </a:cubicBezTo>
                <a:cubicBezTo>
                  <a:pt x="335" y="503"/>
                  <a:pt x="297" y="512"/>
                  <a:pt x="256" y="512"/>
                </a:cubicBezTo>
                <a:cubicBezTo>
                  <a:pt x="115" y="512"/>
                  <a:pt x="0" y="398"/>
                  <a:pt x="0" y="256"/>
                </a:cubicBezTo>
                <a:cubicBezTo>
                  <a:pt x="0" y="215"/>
                  <a:pt x="10" y="177"/>
                  <a:pt x="26" y="1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4" name="b3-title"/>
          <p:cNvSpPr txBox="1"/>
          <p:nvPr/>
        </p:nvSpPr>
        <p:spPr>
          <a:xfrm>
            <a:off x="9347200" y="102870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10183F"/>
                </a:solidFill>
                <a:latin typeface="MiSans"/>
                <a:ea typeface="MiSans"/>
              </a:rPr>
              <a:t>法规频段覆盖</a:t>
            </a:r>
            <a:endParaRPr lang="en-US" sz="2100" noProof="1"/>
          </a:p>
        </p:txBody>
      </p:sp>
      <p:sp>
        <p:nvSpPr>
          <p:cNvPr id="125" name="b3-desc"/>
          <p:cNvSpPr txBox="1"/>
          <p:nvPr/>
        </p:nvSpPr>
        <p:spPr>
          <a:xfrm>
            <a:off x="9347200" y="10769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4A5B7C"/>
                </a:solidFill>
                <a:latin typeface="MiSans"/>
                <a:ea typeface="MiSans"/>
              </a:rPr>
              <a:t>覆盖2.4/5.8GHz目标频段</a:t>
            </a:r>
            <a:endParaRPr lang="en-US" sz="1700" noProof="1"/>
          </a:p>
        </p:txBody>
      </p:sp>
      <p:sp>
        <p:nvSpPr>
          <p:cNvPr id="126" name="b4"/>
          <p:cNvSpPr/>
          <p:nvPr/>
        </p:nvSpPr>
        <p:spPr>
          <a:xfrm>
            <a:off x="12420600" y="9982200"/>
            <a:ext cx="3860800" cy="1498600"/>
          </a:xfrm>
          <a:prstGeom prst="roundRect">
            <a:avLst>
              <a:gd name="adj" fmla="val 8000"/>
            </a:avLst>
          </a:prstGeom>
          <a:solidFill>
            <a:srgbClr val="FFFF00"/>
          </a:solidFill>
          <a:ln w="12700">
            <a:solidFill>
              <a:srgbClr val="DFE9F7"/>
            </a:solidFill>
          </a:ln>
        </p:spPr>
      </p:sp>
      <p:sp>
        <p:nvSpPr>
          <p:cNvPr id="127" name="b4-iconbg"/>
          <p:cNvSpPr/>
          <p:nvPr/>
        </p:nvSpPr>
        <p:spPr>
          <a:xfrm>
            <a:off x="12674600" y="10452100"/>
            <a:ext cx="558800" cy="5588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128" name="b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12801600" y="1057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9" name="b4-title"/>
          <p:cNvSpPr txBox="1"/>
          <p:nvPr/>
        </p:nvSpPr>
        <p:spPr>
          <a:xfrm>
            <a:off x="13385800" y="102870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10183F"/>
                </a:solidFill>
                <a:latin typeface="MiSans"/>
                <a:ea typeface="MiSans"/>
              </a:rPr>
              <a:t>端侧单芯片闭环</a:t>
            </a:r>
            <a:endParaRPr lang="en-US" sz="2100" noProof="1"/>
          </a:p>
        </p:txBody>
      </p:sp>
      <p:sp>
        <p:nvSpPr>
          <p:cNvPr id="130" name="b4-desc"/>
          <p:cNvSpPr txBox="1"/>
          <p:nvPr/>
        </p:nvSpPr>
        <p:spPr>
          <a:xfrm>
            <a:off x="13385800" y="10769600"/>
            <a:ext cx="2743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4A5B7C"/>
                </a:solidFill>
                <a:latin typeface="MiSans"/>
                <a:ea typeface="MiSans"/>
              </a:rPr>
              <a:t>采集到告警单芯片完成</a:t>
            </a:r>
            <a:endParaRPr lang="en-US" sz="1700" noProof="1"/>
          </a:p>
        </p:txBody>
      </p:sp>
      <p:sp>
        <p:nvSpPr>
          <p:cNvPr id="131" name="b5"/>
          <p:cNvSpPr/>
          <p:nvPr/>
        </p:nvSpPr>
        <p:spPr>
          <a:xfrm>
            <a:off x="16459200" y="9982200"/>
            <a:ext cx="3860800" cy="1498600"/>
          </a:xfrm>
          <a:prstGeom prst="roundRect">
            <a:avLst>
              <a:gd name="adj" fmla="val 8000"/>
            </a:avLst>
          </a:prstGeom>
          <a:solidFill>
            <a:srgbClr val="FFFF00"/>
          </a:solidFill>
          <a:ln w="12700">
            <a:solidFill>
              <a:srgbClr val="DFE9F7"/>
            </a:solidFill>
          </a:ln>
        </p:spPr>
      </p:sp>
      <p:sp>
        <p:nvSpPr>
          <p:cNvPr id="132" name="b5-iconbg"/>
          <p:cNvSpPr/>
          <p:nvPr/>
        </p:nvSpPr>
        <p:spPr>
          <a:xfrm>
            <a:off x="16713200" y="10452100"/>
            <a:ext cx="558800" cy="558800"/>
          </a:xfrm>
          <a:prstGeom prst="roundRect">
            <a:avLst>
              <a:gd name="adj" fmla="val 22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133" name="b5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</p:ext>
            </p:extLst>
          </p:nvPr>
        </p:nvSpPr>
        <p:spPr>
          <a:xfrm>
            <a:off x="16840200" y="1057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4" name="b5-title"/>
          <p:cNvSpPr txBox="1"/>
          <p:nvPr/>
        </p:nvSpPr>
        <p:spPr>
          <a:xfrm>
            <a:off x="17424400" y="102870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10183F"/>
                </a:solidFill>
                <a:latin typeface="MiSans"/>
                <a:ea typeface="MiSans"/>
              </a:rPr>
              <a:t>纯被动射频感知</a:t>
            </a:r>
            <a:endParaRPr lang="en-US" sz="2100" noProof="1"/>
          </a:p>
        </p:txBody>
      </p:sp>
      <p:sp>
        <p:nvSpPr>
          <p:cNvPr id="135" name="b5-desc"/>
          <p:cNvSpPr txBox="1"/>
          <p:nvPr/>
        </p:nvSpPr>
        <p:spPr>
          <a:xfrm>
            <a:off x="17424400" y="10769600"/>
            <a:ext cx="2743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4A5B7C"/>
                </a:solidFill>
                <a:latin typeface="MiSans"/>
                <a:ea typeface="MiSans"/>
              </a:rPr>
              <a:t>不发射任何信号</a:t>
            </a:r>
            <a:endParaRPr lang="en-US" sz="17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1F6FE"/>
            </a:gs>
            <a:gs pos="100000">
              <a:srgbClr val="FFFF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dge"/>
          <p:cNvSpPr/>
          <p:nvPr/>
        </p:nvSpPr>
        <p:spPr>
          <a:xfrm>
            <a:off x="101600" y="177800"/>
            <a:ext cx="1422400" cy="1117600"/>
          </a:xfrm>
          <a:prstGeom prst="roundRect">
            <a:avLst>
              <a:gd name="adj" fmla="val 14000"/>
            </a:avLst>
          </a:prstGeom>
          <a:solidFill>
            <a:srgbClr val="0A1030"/>
          </a:solidFill>
          <a:ln>
            <a:noFill/>
          </a:ln>
        </p:spPr>
      </p:sp>
      <p:sp>
        <p:nvSpPr>
          <p:cNvPr id="3" name="hdr-badge-num"/>
          <p:cNvSpPr txBox="1"/>
          <p:nvPr/>
        </p:nvSpPr>
        <p:spPr>
          <a:xfrm>
            <a:off x="101600" y="177800"/>
            <a:ext cx="1422400" cy="111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000" b="1" noProof="1">
                <a:solidFill>
                  <a:srgbClr val="FFFFFF"/>
                </a:solidFill>
                <a:latin typeface="MiSans"/>
                <a:ea typeface="MiSans"/>
              </a:rPr>
              <a:t>02</a:t>
            </a:r>
            <a:endParaRPr lang="en-US" sz="5000" noProof="1"/>
          </a:p>
        </p:txBody>
      </p:sp>
      <p:sp>
        <p:nvSpPr>
          <p:cNvPr id="4" name="hdr-conn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eyJ2aWV3Qm94IjpbMTgsNF0sInBvaW50cyI6IjAsMiAxOCwyIn0</pptd:line>
              </p:ext>
            </p:extLst>
          </p:nvPr>
        </p:nvSpPr>
        <p:spPr>
          <a:xfrm>
            <a:off x="1549400" y="723900"/>
            <a:ext cx="228600" cy="50800"/>
          </a:xfrm>
          <a:custGeom>
            <a:avLst/>
            <a:gdLst/>
            <a:ahLst/>
            <a:cxnLst/>
            <a:rect l="l" t="t" r="r" b="b"/>
            <a:pathLst>
              <a:path w="18" h="4">
                <a:moveTo>
                  <a:pt x="0" y="2"/>
                </a:moveTo>
                <a:lnTo>
                  <a:pt x="18" y="2"/>
                </a:lnTo>
              </a:path>
            </a:pathLst>
          </a:custGeom>
          <a:noFill/>
          <a:ln w="25400" cap="rnd">
            <a:solidFill>
              <a:srgbClr val="0A1030"/>
            </a:solidFill>
            <a:round/>
          </a:ln>
        </p:spPr>
      </p:sp>
      <p:sp>
        <p:nvSpPr>
          <p:cNvPr id="5" name="hdr-dot"/>
          <p:cNvSpPr/>
          <p:nvPr/>
        </p:nvSpPr>
        <p:spPr>
          <a:xfrm>
            <a:off x="1727200" y="673100"/>
            <a:ext cx="127000" cy="127000"/>
          </a:xfrm>
          <a:prstGeom prst="ellipse">
            <a:avLst/>
          </a:prstGeom>
          <a:solidFill>
            <a:srgbClr val="0A1030"/>
          </a:solidFill>
          <a:ln>
            <a:noFill/>
          </a:ln>
        </p:spPr>
      </p:sp>
      <p:sp>
        <p:nvSpPr>
          <p:cNvPr id="6" name="hdr-pill"/>
          <p:cNvSpPr/>
          <p:nvPr/>
        </p:nvSpPr>
        <p:spPr>
          <a:xfrm>
            <a:off x="1879600" y="342900"/>
            <a:ext cx="2260600" cy="6096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7" name="hdr-pill-text"/>
          <p:cNvSpPr txBox="1"/>
          <p:nvPr/>
        </p:nvSpPr>
        <p:spPr>
          <a:xfrm>
            <a:off x="1879600" y="342900"/>
            <a:ext cx="2260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noProof="1">
                <a:solidFill>
                  <a:srgbClr val="FFFFFF"/>
                </a:solidFill>
                <a:latin typeface="MiSans"/>
                <a:ea typeface="MiSans"/>
              </a:rPr>
              <a:t>硬件架构</a:t>
            </a:r>
            <a:endParaRPr lang="en-US" sz="2600" noProof="1"/>
          </a:p>
        </p:txBody>
      </p:sp>
      <p:sp>
        <p:nvSpPr>
          <p:cNvPr id="8" name="deco-chip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19761200" y="203200"/>
            <a:ext cx="1168400" cy="1168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D4E3FA"/>
          </a:solidFill>
          <a:ln>
            <a:noFill/>
          </a:ln>
        </p:spPr>
      </p:sp>
      <p:sp>
        <p:nvSpPr>
          <p:cNvPr id="9" name="main-title"/>
          <p:cNvSpPr txBox="1"/>
          <p:nvPr/>
        </p:nvSpPr>
        <p:spPr>
          <a:xfrm>
            <a:off x="2362200" y="838200"/>
            <a:ext cx="16510000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b="1" noProof="1">
                <a:solidFill>
                  <a:srgbClr val="10183F"/>
                </a:solidFill>
                <a:latin typeface="MiSans"/>
                <a:ea typeface="MiSans"/>
              </a:rPr>
              <a:t>SDR 射频接收与 RA8P1 端侧处理闭环</a:t>
            </a:r>
            <a:endParaRPr lang="en-US" sz="6000" noProof="1"/>
          </a:p>
        </p:txBody>
      </p:sp>
      <p:sp>
        <p:nvSpPr>
          <p:cNvPr id="12" name="rc"/>
          <p:cNvSpPr/>
          <p:nvPr/>
        </p:nvSpPr>
        <p:spPr>
          <a:xfrm>
            <a:off x="11658600" y="2540000"/>
            <a:ext cx="8661400" cy="690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13" name="rc-head"/>
          <p:cNvSpPr txBox="1"/>
          <p:nvPr/>
        </p:nvSpPr>
        <p:spPr>
          <a:xfrm>
            <a:off x="11658600" y="2717800"/>
            <a:ext cx="8661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noProof="1">
                <a:solidFill>
                  <a:srgbClr val="10183F"/>
                </a:solidFill>
                <a:latin typeface="MiSans"/>
                <a:ea typeface="MiSans"/>
              </a:rPr>
              <a:t>【六大硬件模块】</a:t>
            </a:r>
            <a:endParaRPr lang="en-US" sz="2800" noProof="1"/>
          </a:p>
        </p:txBody>
      </p:sp>
      <p:sp>
        <p:nvSpPr>
          <p:cNvPr id="14" name="rc-r1"/>
          <p:cNvSpPr/>
          <p:nvPr/>
        </p:nvSpPr>
        <p:spPr>
          <a:xfrm>
            <a:off x="11861800" y="3403600"/>
            <a:ext cx="8255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CF8"/>
            </a:solidFill>
          </a:ln>
        </p:spPr>
      </p:sp>
      <p:sp>
        <p:nvSpPr>
          <p:cNvPr id="15" name="rc-r1-badge"/>
          <p:cNvSpPr/>
          <p:nvPr/>
        </p:nvSpPr>
        <p:spPr>
          <a:xfrm>
            <a:off x="12065000" y="3530600"/>
            <a:ext cx="711200" cy="660400"/>
          </a:xfrm>
          <a:prstGeom prst="roundRect">
            <a:avLst>
              <a:gd name="adj" fmla="val 14000"/>
            </a:avLst>
          </a:prstGeom>
          <a:solidFill>
            <a:srgbClr val="0A1030"/>
          </a:solidFill>
          <a:ln>
            <a:noFill/>
          </a:ln>
        </p:spPr>
      </p:sp>
      <p:sp>
        <p:nvSpPr>
          <p:cNvPr id="16" name="rc-r1-num"/>
          <p:cNvSpPr txBox="1"/>
          <p:nvPr/>
        </p:nvSpPr>
        <p:spPr>
          <a:xfrm>
            <a:off x="12065000" y="3530600"/>
            <a:ext cx="711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noProof="1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lang="en-US" sz="2500" noProof="1"/>
          </a:p>
        </p:txBody>
      </p:sp>
      <p:sp>
        <p:nvSpPr>
          <p:cNvPr id="17" name="rc-r1-iconbg"/>
          <p:cNvSpPr/>
          <p:nvPr/>
        </p:nvSpPr>
        <p:spPr>
          <a:xfrm>
            <a:off x="12979400" y="3556000"/>
            <a:ext cx="609600" cy="6096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18" name="rc-r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eyJpY29uTmFtZSI6ImZhczp3YXZlLXNxdWFyZSJ9</pptd:icon>
              </p:ext>
            </p:extLst>
          </p:nvPr>
        </p:nvSpPr>
        <p:spPr>
          <a:xfrm>
            <a:off x="131064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96"/>
                </a:moveTo>
                <a:cubicBezTo>
                  <a:pt x="64" y="78"/>
                  <a:pt x="78" y="64"/>
                  <a:pt x="96" y="64"/>
                </a:cubicBezTo>
                <a:lnTo>
                  <a:pt x="256" y="64"/>
                </a:lnTo>
                <a:cubicBezTo>
                  <a:pt x="274" y="64"/>
                  <a:pt x="288" y="78"/>
                  <a:pt x="288" y="96"/>
                </a:cubicBezTo>
                <a:lnTo>
                  <a:pt x="288" y="384"/>
                </a:lnTo>
                <a:lnTo>
                  <a:pt x="384" y="384"/>
                </a:lnTo>
                <a:lnTo>
                  <a:pt x="384" y="256"/>
                </a:lnTo>
                <a:cubicBezTo>
                  <a:pt x="384" y="238"/>
                  <a:pt x="398" y="224"/>
                  <a:pt x="41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448" y="288"/>
                </a:lnTo>
                <a:lnTo>
                  <a:pt x="448" y="416"/>
                </a:lnTo>
                <a:cubicBezTo>
                  <a:pt x="448" y="434"/>
                  <a:pt x="434" y="448"/>
                  <a:pt x="416" y="448"/>
                </a:cubicBezTo>
                <a:lnTo>
                  <a:pt x="256" y="448"/>
                </a:lnTo>
                <a:cubicBezTo>
                  <a:pt x="238" y="448"/>
                  <a:pt x="224" y="434"/>
                  <a:pt x="224" y="416"/>
                </a:cubicBezTo>
                <a:lnTo>
                  <a:pt x="224" y="128"/>
                </a:lnTo>
                <a:lnTo>
                  <a:pt x="128" y="128"/>
                </a:lnTo>
                <a:lnTo>
                  <a:pt x="128" y="256"/>
                </a:lnTo>
                <a:cubicBezTo>
                  <a:pt x="128" y="274"/>
                  <a:pt x="114" y="288"/>
                  <a:pt x="96" y="288"/>
                </a:cubicBezTo>
                <a:lnTo>
                  <a:pt x="32" y="288"/>
                </a:lnTo>
                <a:cubicBezTo>
                  <a:pt x="14" y="288"/>
                  <a:pt x="0" y="274"/>
                  <a:pt x="0" y="256"/>
                </a:cubicBezTo>
                <a:cubicBezTo>
                  <a:pt x="0" y="238"/>
                  <a:pt x="14" y="224"/>
                  <a:pt x="32" y="224"/>
                </a:cubicBezTo>
                <a:lnTo>
                  <a:pt x="64" y="224"/>
                </a:lnTo>
                <a:lnTo>
                  <a:pt x="64" y="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" name="rc-r1-title"/>
          <p:cNvSpPr txBox="1"/>
          <p:nvPr/>
        </p:nvSpPr>
        <p:spPr>
          <a:xfrm>
            <a:off x="13792200" y="3505200"/>
            <a:ext cx="6223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0183F"/>
                </a:solidFill>
                <a:latin typeface="MiSans"/>
                <a:ea typeface="MiSans"/>
              </a:rPr>
              <a:t>Pluto兼容SDR射频前端</a:t>
            </a:r>
            <a:endParaRPr lang="en-US" sz="2300" noProof="1"/>
          </a:p>
        </p:txBody>
      </p:sp>
      <p:sp>
        <p:nvSpPr>
          <p:cNvPr id="20" name="rc-r1-desc"/>
          <p:cNvSpPr txBox="1"/>
          <p:nvPr/>
        </p:nvSpPr>
        <p:spPr>
          <a:xfrm>
            <a:off x="13792200" y="3937000"/>
            <a:ext cx="622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4A5B7C"/>
                </a:solidFill>
                <a:latin typeface="MiSans"/>
                <a:ea typeface="MiSans"/>
              </a:rPr>
              <a:t>宽带接收 · 低噪声 · 输出IQ数据</a:t>
            </a:r>
            <a:endParaRPr lang="en-US" sz="1800" noProof="1"/>
          </a:p>
        </p:txBody>
      </p:sp>
      <p:sp>
        <p:nvSpPr>
          <p:cNvPr id="21" name="rc-r2"/>
          <p:cNvSpPr/>
          <p:nvPr/>
        </p:nvSpPr>
        <p:spPr>
          <a:xfrm>
            <a:off x="11861800" y="4419600"/>
            <a:ext cx="8255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CF8"/>
            </a:solidFill>
          </a:ln>
        </p:spPr>
      </p:sp>
      <p:sp>
        <p:nvSpPr>
          <p:cNvPr id="22" name="rc-r2-badge"/>
          <p:cNvSpPr/>
          <p:nvPr/>
        </p:nvSpPr>
        <p:spPr>
          <a:xfrm>
            <a:off x="12065000" y="4546600"/>
            <a:ext cx="711200" cy="660400"/>
          </a:xfrm>
          <a:prstGeom prst="roundRect">
            <a:avLst>
              <a:gd name="adj" fmla="val 14000"/>
            </a:avLst>
          </a:prstGeom>
          <a:solidFill>
            <a:srgbClr val="0A1030"/>
          </a:solidFill>
          <a:ln>
            <a:noFill/>
          </a:ln>
        </p:spPr>
      </p:sp>
      <p:sp>
        <p:nvSpPr>
          <p:cNvPr id="23" name="rc-r2-num"/>
          <p:cNvSpPr txBox="1"/>
          <p:nvPr/>
        </p:nvSpPr>
        <p:spPr>
          <a:xfrm>
            <a:off x="12065000" y="4546600"/>
            <a:ext cx="711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noProof="1">
                <a:solidFill>
                  <a:srgbClr val="FFFFFF"/>
                </a:solidFill>
                <a:latin typeface="MiSans"/>
                <a:ea typeface="MiSans"/>
              </a:rPr>
              <a:t>02</a:t>
            </a:r>
            <a:endParaRPr lang="en-US" sz="2500" noProof="1"/>
          </a:p>
        </p:txBody>
      </p:sp>
      <p:sp>
        <p:nvSpPr>
          <p:cNvPr id="24" name="rc-r2-iconbg"/>
          <p:cNvSpPr/>
          <p:nvPr/>
        </p:nvSpPr>
        <p:spPr>
          <a:xfrm>
            <a:off x="12979400" y="4572000"/>
            <a:ext cx="609600" cy="6096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25" name="rc-r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eyJpY29uTmFtZSI6ImZhczpib2x0In0</pptd:icon>
              </p:ext>
            </p:extLst>
          </p:nvPr>
        </p:nvSpPr>
        <p:spPr>
          <a:xfrm>
            <a:off x="13106400" y="469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rc-r2-title"/>
          <p:cNvSpPr txBox="1"/>
          <p:nvPr/>
        </p:nvSpPr>
        <p:spPr>
          <a:xfrm>
            <a:off x="13792200" y="4521200"/>
            <a:ext cx="6223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0183F"/>
                </a:solidFill>
                <a:latin typeface="MiSans"/>
                <a:ea typeface="MiSans"/>
              </a:rPr>
              <a:t>电源模块</a:t>
            </a:r>
            <a:endParaRPr lang="en-US" sz="2300" noProof="1"/>
          </a:p>
        </p:txBody>
      </p:sp>
      <p:sp>
        <p:nvSpPr>
          <p:cNvPr id="27" name="rc-r2-desc"/>
          <p:cNvSpPr txBox="1"/>
          <p:nvPr/>
        </p:nvSpPr>
        <p:spPr>
          <a:xfrm>
            <a:off x="13792200" y="4953000"/>
            <a:ext cx="622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4A5B7C"/>
                </a:solidFill>
                <a:latin typeface="MiSans"/>
                <a:ea typeface="MiSans"/>
              </a:rPr>
              <a:t>稳定供电 · 低纹波</a:t>
            </a:r>
            <a:endParaRPr lang="en-US" sz="1800" noProof="1"/>
          </a:p>
        </p:txBody>
      </p:sp>
      <p:sp>
        <p:nvSpPr>
          <p:cNvPr id="28" name="rc-r3"/>
          <p:cNvSpPr/>
          <p:nvPr/>
        </p:nvSpPr>
        <p:spPr>
          <a:xfrm>
            <a:off x="11861800" y="5435600"/>
            <a:ext cx="8255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CF8"/>
            </a:solidFill>
          </a:ln>
        </p:spPr>
      </p:sp>
      <p:sp>
        <p:nvSpPr>
          <p:cNvPr id="29" name="rc-r3-badge"/>
          <p:cNvSpPr/>
          <p:nvPr/>
        </p:nvSpPr>
        <p:spPr>
          <a:xfrm>
            <a:off x="12065000" y="5562600"/>
            <a:ext cx="711200" cy="660400"/>
          </a:xfrm>
          <a:prstGeom prst="roundRect">
            <a:avLst>
              <a:gd name="adj" fmla="val 14000"/>
            </a:avLst>
          </a:prstGeom>
          <a:solidFill>
            <a:srgbClr val="0A1030"/>
          </a:solidFill>
          <a:ln>
            <a:noFill/>
          </a:ln>
        </p:spPr>
      </p:sp>
      <p:sp>
        <p:nvSpPr>
          <p:cNvPr id="30" name="rc-r3-num"/>
          <p:cNvSpPr txBox="1"/>
          <p:nvPr/>
        </p:nvSpPr>
        <p:spPr>
          <a:xfrm>
            <a:off x="12065000" y="5562600"/>
            <a:ext cx="711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noProof="1">
                <a:solidFill>
                  <a:srgbClr val="FFFFFF"/>
                </a:solidFill>
                <a:latin typeface="MiSans"/>
                <a:ea typeface="MiSans"/>
              </a:rPr>
              <a:t>03</a:t>
            </a:r>
            <a:endParaRPr lang="en-US" sz="2500" noProof="1"/>
          </a:p>
        </p:txBody>
      </p:sp>
      <p:sp>
        <p:nvSpPr>
          <p:cNvPr id="31" name="rc-r3-iconbg"/>
          <p:cNvSpPr/>
          <p:nvPr/>
        </p:nvSpPr>
        <p:spPr>
          <a:xfrm>
            <a:off x="12979400" y="5588000"/>
            <a:ext cx="609600" cy="6096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32" name="rc-r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eyJpY29uTmFtZSI6ImZhczpldGhlcm5ldCJ9</pptd:icon>
              </p:ext>
            </p:extLst>
          </p:nvPr>
        </p:nvSpPr>
        <p:spPr>
          <a:xfrm>
            <a:off x="13106400" y="571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24"/>
                </a:moveTo>
                <a:lnTo>
                  <a:pt x="0" y="416"/>
                </a:lnTo>
                <a:cubicBezTo>
                  <a:pt x="0" y="434"/>
                  <a:pt x="14" y="448"/>
                  <a:pt x="32" y="448"/>
                </a:cubicBezTo>
                <a:lnTo>
                  <a:pt x="64" y="448"/>
                </a:lnTo>
                <a:lnTo>
                  <a:pt x="64" y="344"/>
                </a:lnTo>
                <a:cubicBezTo>
                  <a:pt x="64" y="331"/>
                  <a:pt x="75" y="320"/>
                  <a:pt x="88" y="320"/>
                </a:cubicBezTo>
                <a:cubicBezTo>
                  <a:pt x="101" y="320"/>
                  <a:pt x="112" y="331"/>
                  <a:pt x="112" y="344"/>
                </a:cubicBezTo>
                <a:lnTo>
                  <a:pt x="112" y="448"/>
                </a:lnTo>
                <a:lnTo>
                  <a:pt x="176" y="448"/>
                </a:lnTo>
                <a:lnTo>
                  <a:pt x="176" y="344"/>
                </a:lnTo>
                <a:cubicBezTo>
                  <a:pt x="176" y="331"/>
                  <a:pt x="187" y="320"/>
                  <a:pt x="200" y="320"/>
                </a:cubicBezTo>
                <a:cubicBezTo>
                  <a:pt x="213" y="320"/>
                  <a:pt x="224" y="331"/>
                  <a:pt x="224" y="344"/>
                </a:cubicBezTo>
                <a:lnTo>
                  <a:pt x="224" y="448"/>
                </a:lnTo>
                <a:lnTo>
                  <a:pt x="288" y="448"/>
                </a:lnTo>
                <a:lnTo>
                  <a:pt x="288" y="344"/>
                </a:lnTo>
                <a:cubicBezTo>
                  <a:pt x="288" y="331"/>
                  <a:pt x="299" y="320"/>
                  <a:pt x="312" y="320"/>
                </a:cubicBezTo>
                <a:cubicBezTo>
                  <a:pt x="325" y="320"/>
                  <a:pt x="336" y="331"/>
                  <a:pt x="336" y="344"/>
                </a:cubicBezTo>
                <a:lnTo>
                  <a:pt x="336" y="448"/>
                </a:lnTo>
                <a:lnTo>
                  <a:pt x="400" y="448"/>
                </a:lnTo>
                <a:lnTo>
                  <a:pt x="400" y="344"/>
                </a:lnTo>
                <a:cubicBezTo>
                  <a:pt x="400" y="331"/>
                  <a:pt x="411" y="320"/>
                  <a:pt x="424" y="320"/>
                </a:cubicBezTo>
                <a:cubicBezTo>
                  <a:pt x="437" y="320"/>
                  <a:pt x="448" y="331"/>
                  <a:pt x="448" y="344"/>
                </a:cubicBezTo>
                <a:lnTo>
                  <a:pt x="448" y="448"/>
                </a:lnTo>
                <a:lnTo>
                  <a:pt x="480" y="448"/>
                </a:lnTo>
                <a:cubicBezTo>
                  <a:pt x="498" y="448"/>
                  <a:pt x="512" y="434"/>
                  <a:pt x="512" y="416"/>
                </a:cubicBezTo>
                <a:lnTo>
                  <a:pt x="512" y="224"/>
                </a:lnTo>
                <a:cubicBezTo>
                  <a:pt x="512" y="206"/>
                  <a:pt x="498" y="192"/>
                  <a:pt x="480" y="192"/>
                </a:cubicBezTo>
                <a:lnTo>
                  <a:pt x="448" y="192"/>
                </a:lnTo>
                <a:lnTo>
                  <a:pt x="448" y="160"/>
                </a:lnTo>
                <a:cubicBezTo>
                  <a:pt x="448" y="142"/>
                  <a:pt x="434" y="128"/>
                  <a:pt x="416" y="128"/>
                </a:cubicBezTo>
                <a:lnTo>
                  <a:pt x="384" y="128"/>
                </a:lnTo>
                <a:lnTo>
                  <a:pt x="384" y="96"/>
                </a:lnTo>
                <a:cubicBezTo>
                  <a:pt x="384" y="78"/>
                  <a:pt x="370" y="64"/>
                  <a:pt x="352" y="64"/>
                </a:cubicBezTo>
                <a:lnTo>
                  <a:pt x="160" y="64"/>
                </a:lnTo>
                <a:cubicBezTo>
                  <a:pt x="142" y="64"/>
                  <a:pt x="128" y="78"/>
                  <a:pt x="128" y="96"/>
                </a:cubicBezTo>
                <a:lnTo>
                  <a:pt x="128" y="128"/>
                </a:lnTo>
                <a:lnTo>
                  <a:pt x="96" y="128"/>
                </a:lnTo>
                <a:cubicBezTo>
                  <a:pt x="78" y="128"/>
                  <a:pt x="64" y="142"/>
                  <a:pt x="64" y="160"/>
                </a:cubicBezTo>
                <a:lnTo>
                  <a:pt x="64" y="192"/>
                </a:lnTo>
                <a:lnTo>
                  <a:pt x="32" y="192"/>
                </a:lnTo>
                <a:cubicBezTo>
                  <a:pt x="14" y="192"/>
                  <a:pt x="0" y="206"/>
                  <a:pt x="0" y="2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rc-r3-title"/>
          <p:cNvSpPr txBox="1"/>
          <p:nvPr/>
        </p:nvSpPr>
        <p:spPr>
          <a:xfrm>
            <a:off x="13792200" y="5537200"/>
            <a:ext cx="6223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0183F"/>
                </a:solidFill>
                <a:latin typeface="MiSans"/>
                <a:ea typeface="MiSans"/>
              </a:rPr>
              <a:t>RGMII千兆以太网模块</a:t>
            </a:r>
            <a:endParaRPr lang="en-US" sz="2300" noProof="1"/>
          </a:p>
        </p:txBody>
      </p:sp>
      <p:sp>
        <p:nvSpPr>
          <p:cNvPr id="34" name="rc-r3-desc"/>
          <p:cNvSpPr txBox="1"/>
          <p:nvPr/>
        </p:nvSpPr>
        <p:spPr>
          <a:xfrm>
            <a:off x="13792200" y="5969000"/>
            <a:ext cx="622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4A5B7C"/>
                </a:solidFill>
                <a:latin typeface="MiSans"/>
                <a:ea typeface="MiSans"/>
              </a:rPr>
              <a:t>高速传输 · 稳定可靠</a:t>
            </a:r>
            <a:endParaRPr lang="en-US" sz="1800" noProof="1"/>
          </a:p>
        </p:txBody>
      </p:sp>
      <p:sp>
        <p:nvSpPr>
          <p:cNvPr id="35" name="rc-r4"/>
          <p:cNvSpPr/>
          <p:nvPr/>
        </p:nvSpPr>
        <p:spPr>
          <a:xfrm>
            <a:off x="11861800" y="6451600"/>
            <a:ext cx="8255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A56E7"/>
            </a:solidFill>
          </a:ln>
        </p:spPr>
      </p:sp>
      <p:sp>
        <p:nvSpPr>
          <p:cNvPr id="36" name="rc-r4-badge"/>
          <p:cNvSpPr/>
          <p:nvPr/>
        </p:nvSpPr>
        <p:spPr>
          <a:xfrm>
            <a:off x="12065000" y="6578600"/>
            <a:ext cx="711200" cy="660400"/>
          </a:xfrm>
          <a:prstGeom prst="roundRect">
            <a:avLst>
              <a:gd name="adj" fmla="val 14000"/>
            </a:avLst>
          </a:prstGeom>
          <a:solidFill>
            <a:srgbClr val="0348F5"/>
          </a:solidFill>
          <a:ln>
            <a:noFill/>
          </a:ln>
        </p:spPr>
      </p:sp>
      <p:sp>
        <p:nvSpPr>
          <p:cNvPr id="37" name="rc-r4-num"/>
          <p:cNvSpPr txBox="1"/>
          <p:nvPr/>
        </p:nvSpPr>
        <p:spPr>
          <a:xfrm>
            <a:off x="12065000" y="6578600"/>
            <a:ext cx="711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noProof="1">
                <a:solidFill>
                  <a:srgbClr val="FFFFFF"/>
                </a:solidFill>
                <a:latin typeface="MiSans"/>
                <a:ea typeface="MiSans"/>
              </a:rPr>
              <a:t>04</a:t>
            </a:r>
            <a:endParaRPr lang="en-US" sz="2500" noProof="1"/>
          </a:p>
        </p:txBody>
      </p:sp>
      <p:sp>
        <p:nvSpPr>
          <p:cNvPr id="38" name="rc-r4-iconbg"/>
          <p:cNvSpPr/>
          <p:nvPr/>
        </p:nvSpPr>
        <p:spPr>
          <a:xfrm>
            <a:off x="12979400" y="6604000"/>
            <a:ext cx="609600" cy="6096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39" name="rc-r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13106400" y="673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0" name="rc-r4-title"/>
          <p:cNvSpPr txBox="1"/>
          <p:nvPr/>
        </p:nvSpPr>
        <p:spPr>
          <a:xfrm>
            <a:off x="13792200" y="6553200"/>
            <a:ext cx="6223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A56E7"/>
                </a:solidFill>
                <a:latin typeface="MiSans"/>
                <a:ea typeface="MiSans"/>
              </a:rPr>
              <a:t>RA8P1核心板及网口扩展板</a:t>
            </a:r>
            <a:endParaRPr lang="en-US" sz="2300" noProof="1"/>
          </a:p>
        </p:txBody>
      </p:sp>
      <p:sp>
        <p:nvSpPr>
          <p:cNvPr id="41" name="rc-r4-desc"/>
          <p:cNvSpPr txBox="1"/>
          <p:nvPr/>
        </p:nvSpPr>
        <p:spPr>
          <a:xfrm>
            <a:off x="13792200" y="6985000"/>
            <a:ext cx="622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4A5B7C"/>
                </a:solidFill>
                <a:latin typeface="MiSans"/>
                <a:ea typeface="MiSans"/>
              </a:rPr>
              <a:t>异构多核 · 边缘智能 · 全部处理核心</a:t>
            </a:r>
            <a:endParaRPr lang="en-US" sz="1800" noProof="1"/>
          </a:p>
        </p:txBody>
      </p:sp>
      <p:sp>
        <p:nvSpPr>
          <p:cNvPr id="42" name="rc-r5"/>
          <p:cNvSpPr/>
          <p:nvPr/>
        </p:nvSpPr>
        <p:spPr>
          <a:xfrm>
            <a:off x="11861800" y="7467600"/>
            <a:ext cx="8255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CF8"/>
            </a:solidFill>
          </a:ln>
        </p:spPr>
      </p:sp>
      <p:sp>
        <p:nvSpPr>
          <p:cNvPr id="43" name="rc-r5-badge"/>
          <p:cNvSpPr/>
          <p:nvPr/>
        </p:nvSpPr>
        <p:spPr>
          <a:xfrm>
            <a:off x="12065000" y="7594600"/>
            <a:ext cx="711200" cy="660400"/>
          </a:xfrm>
          <a:prstGeom prst="roundRect">
            <a:avLst>
              <a:gd name="adj" fmla="val 14000"/>
            </a:avLst>
          </a:prstGeom>
          <a:solidFill>
            <a:srgbClr val="0A1030"/>
          </a:solidFill>
          <a:ln>
            <a:noFill/>
          </a:ln>
        </p:spPr>
      </p:sp>
      <p:sp>
        <p:nvSpPr>
          <p:cNvPr id="44" name="rc-r5-num"/>
          <p:cNvSpPr txBox="1"/>
          <p:nvPr/>
        </p:nvSpPr>
        <p:spPr>
          <a:xfrm>
            <a:off x="12065000" y="7594600"/>
            <a:ext cx="711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noProof="1">
                <a:solidFill>
                  <a:srgbClr val="FFFFFF"/>
                </a:solidFill>
                <a:latin typeface="MiSans"/>
                <a:ea typeface="MiSans"/>
              </a:rPr>
              <a:t>05</a:t>
            </a:r>
            <a:endParaRPr lang="en-US" sz="2500" noProof="1"/>
          </a:p>
        </p:txBody>
      </p:sp>
      <p:sp>
        <p:nvSpPr>
          <p:cNvPr id="45" name="rc-r5-iconbg"/>
          <p:cNvSpPr/>
          <p:nvPr/>
        </p:nvSpPr>
        <p:spPr>
          <a:xfrm>
            <a:off x="12979400" y="7620000"/>
            <a:ext cx="609600" cy="6096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46" name="rc-r5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eyJpY29uTmFtZSI6ImZhczpkaXNwbGF5In0</pptd:icon>
              </p:ext>
            </p:extLst>
          </p:nvPr>
        </p:nvSpPr>
        <p:spPr>
          <a:xfrm>
            <a:off x="13106400" y="774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96"/>
                </a:moveTo>
                <a:lnTo>
                  <a:pt x="448" y="352"/>
                </a:lnTo>
                <a:lnTo>
                  <a:pt x="64" y="352"/>
                </a:lnTo>
                <a:lnTo>
                  <a:pt x="64" y="96"/>
                </a:lnTo>
                <a:lnTo>
                  <a:pt x="448" y="96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7" name="rc-r5-title"/>
          <p:cNvSpPr txBox="1"/>
          <p:nvPr/>
        </p:nvSpPr>
        <p:spPr>
          <a:xfrm>
            <a:off x="13792200" y="7569200"/>
            <a:ext cx="6223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0183F"/>
                </a:solidFill>
                <a:latin typeface="MiSans"/>
                <a:ea typeface="MiSans"/>
              </a:rPr>
              <a:t>MIPI显示转接板</a:t>
            </a:r>
            <a:endParaRPr lang="en-US" sz="2300" noProof="1"/>
          </a:p>
        </p:txBody>
      </p:sp>
      <p:sp>
        <p:nvSpPr>
          <p:cNvPr id="48" name="rc-r5-desc"/>
          <p:cNvSpPr txBox="1"/>
          <p:nvPr/>
        </p:nvSpPr>
        <p:spPr>
          <a:xfrm>
            <a:off x="13792200" y="8001000"/>
            <a:ext cx="622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4A5B7C"/>
                </a:solidFill>
                <a:latin typeface="MiSans"/>
                <a:ea typeface="MiSans"/>
              </a:rPr>
              <a:t>高速接口 · 低延迟</a:t>
            </a:r>
            <a:endParaRPr lang="en-US" sz="1800" noProof="1"/>
          </a:p>
        </p:txBody>
      </p:sp>
      <p:sp>
        <p:nvSpPr>
          <p:cNvPr id="49" name="rc-r6"/>
          <p:cNvSpPr/>
          <p:nvPr/>
        </p:nvSpPr>
        <p:spPr>
          <a:xfrm>
            <a:off x="11861800" y="8483600"/>
            <a:ext cx="8255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CF8"/>
            </a:solidFill>
          </a:ln>
        </p:spPr>
      </p:sp>
      <p:sp>
        <p:nvSpPr>
          <p:cNvPr id="50" name="rc-r6-badge"/>
          <p:cNvSpPr/>
          <p:nvPr/>
        </p:nvSpPr>
        <p:spPr>
          <a:xfrm>
            <a:off x="12065000" y="8610600"/>
            <a:ext cx="711200" cy="660400"/>
          </a:xfrm>
          <a:prstGeom prst="roundRect">
            <a:avLst>
              <a:gd name="adj" fmla="val 14000"/>
            </a:avLst>
          </a:prstGeom>
          <a:solidFill>
            <a:srgbClr val="0A1030"/>
          </a:solidFill>
          <a:ln>
            <a:noFill/>
          </a:ln>
        </p:spPr>
      </p:sp>
      <p:sp>
        <p:nvSpPr>
          <p:cNvPr id="51" name="rc-r6-num"/>
          <p:cNvSpPr txBox="1"/>
          <p:nvPr/>
        </p:nvSpPr>
        <p:spPr>
          <a:xfrm>
            <a:off x="12065000" y="8610600"/>
            <a:ext cx="7112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noProof="1">
                <a:solidFill>
                  <a:srgbClr val="FFFFFF"/>
                </a:solidFill>
                <a:latin typeface="MiSans"/>
                <a:ea typeface="MiSans"/>
              </a:rPr>
              <a:t>06</a:t>
            </a:r>
            <a:endParaRPr lang="en-US" sz="2500" noProof="1"/>
          </a:p>
        </p:txBody>
      </p:sp>
      <p:sp>
        <p:nvSpPr>
          <p:cNvPr id="52" name="rc-r6-iconbg"/>
          <p:cNvSpPr/>
          <p:nvPr/>
        </p:nvSpPr>
        <p:spPr>
          <a:xfrm>
            <a:off x="12979400" y="8636000"/>
            <a:ext cx="609600" cy="6096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53" name="rc-r6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eyJpY29uTmFtZSI6ImZhczpoYW5kLXBvaW50ZXIifQ</pptd:icon>
              </p:ext>
            </p:extLst>
          </p:nvPr>
        </p:nvSpPr>
        <p:spPr>
          <a:xfrm>
            <a:off x="13106400" y="876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40"/>
                </a:moveTo>
                <a:cubicBezTo>
                  <a:pt x="128" y="18"/>
                  <a:pt x="146" y="0"/>
                  <a:pt x="168" y="0"/>
                </a:cubicBezTo>
                <a:cubicBezTo>
                  <a:pt x="190" y="0"/>
                  <a:pt x="208" y="18"/>
                  <a:pt x="208" y="40"/>
                </a:cubicBezTo>
                <a:lnTo>
                  <a:pt x="208" y="188"/>
                </a:lnTo>
                <a:cubicBezTo>
                  <a:pt x="217" y="181"/>
                  <a:pt x="228" y="176"/>
                  <a:pt x="240" y="176"/>
                </a:cubicBezTo>
                <a:cubicBezTo>
                  <a:pt x="261" y="176"/>
                  <a:pt x="278" y="189"/>
                  <a:pt x="285" y="207"/>
                </a:cubicBezTo>
                <a:cubicBezTo>
                  <a:pt x="294" y="198"/>
                  <a:pt x="306" y="192"/>
                  <a:pt x="320" y="192"/>
                </a:cubicBezTo>
                <a:cubicBezTo>
                  <a:pt x="345" y="192"/>
                  <a:pt x="366" y="212"/>
                  <a:pt x="368" y="236"/>
                </a:cubicBezTo>
                <a:cubicBezTo>
                  <a:pt x="376" y="229"/>
                  <a:pt x="388" y="224"/>
                  <a:pt x="400" y="224"/>
                </a:cubicBezTo>
                <a:cubicBezTo>
                  <a:pt x="427" y="224"/>
                  <a:pt x="448" y="246"/>
                  <a:pt x="448" y="272"/>
                </a:cubicBezTo>
                <a:lnTo>
                  <a:pt x="448" y="384"/>
                </a:lnTo>
                <a:cubicBezTo>
                  <a:pt x="448" y="455"/>
                  <a:pt x="391" y="512"/>
                  <a:pt x="320" y="512"/>
                </a:cubicBezTo>
                <a:lnTo>
                  <a:pt x="235" y="512"/>
                </a:lnTo>
                <a:cubicBezTo>
                  <a:pt x="230" y="512"/>
                  <a:pt x="225" y="512"/>
                  <a:pt x="220" y="511"/>
                </a:cubicBezTo>
                <a:cubicBezTo>
                  <a:pt x="165" y="505"/>
                  <a:pt x="114" y="477"/>
                  <a:pt x="80" y="432"/>
                </a:cubicBezTo>
                <a:lnTo>
                  <a:pt x="8" y="336"/>
                </a:lnTo>
                <a:cubicBezTo>
                  <a:pt x="-5" y="318"/>
                  <a:pt x="-2" y="293"/>
                  <a:pt x="16" y="280"/>
                </a:cubicBezTo>
                <a:cubicBezTo>
                  <a:pt x="34" y="267"/>
                  <a:pt x="59" y="270"/>
                  <a:pt x="72" y="288"/>
                </a:cubicBezTo>
                <a:lnTo>
                  <a:pt x="128" y="363"/>
                </a:lnTo>
                <a:lnTo>
                  <a:pt x="128" y="40"/>
                </a:lnTo>
                <a:close/>
                <a:moveTo>
                  <a:pt x="240" y="304"/>
                </a:moveTo>
                <a:cubicBezTo>
                  <a:pt x="240" y="295"/>
                  <a:pt x="233" y="288"/>
                  <a:pt x="224" y="288"/>
                </a:cubicBezTo>
                <a:cubicBezTo>
                  <a:pt x="215" y="288"/>
                  <a:pt x="208" y="295"/>
                  <a:pt x="208" y="304"/>
                </a:cubicBezTo>
                <a:lnTo>
                  <a:pt x="208" y="400"/>
                </a:lnTo>
                <a:cubicBezTo>
                  <a:pt x="208" y="409"/>
                  <a:pt x="215" y="416"/>
                  <a:pt x="224" y="416"/>
                </a:cubicBezTo>
                <a:cubicBezTo>
                  <a:pt x="233" y="416"/>
                  <a:pt x="240" y="409"/>
                  <a:pt x="240" y="400"/>
                </a:cubicBezTo>
                <a:lnTo>
                  <a:pt x="240" y="304"/>
                </a:lnTo>
                <a:close/>
                <a:moveTo>
                  <a:pt x="288" y="288"/>
                </a:moveTo>
                <a:cubicBezTo>
                  <a:pt x="279" y="288"/>
                  <a:pt x="272" y="295"/>
                  <a:pt x="272" y="304"/>
                </a:cubicBezTo>
                <a:lnTo>
                  <a:pt x="272" y="400"/>
                </a:lnTo>
                <a:cubicBezTo>
                  <a:pt x="272" y="409"/>
                  <a:pt x="279" y="416"/>
                  <a:pt x="288" y="416"/>
                </a:cubicBezTo>
                <a:cubicBezTo>
                  <a:pt x="297" y="416"/>
                  <a:pt x="304" y="409"/>
                  <a:pt x="304" y="400"/>
                </a:cubicBezTo>
                <a:lnTo>
                  <a:pt x="304" y="304"/>
                </a:lnTo>
                <a:cubicBezTo>
                  <a:pt x="304" y="295"/>
                  <a:pt x="297" y="288"/>
                  <a:pt x="288" y="288"/>
                </a:cubicBezTo>
                <a:close/>
                <a:moveTo>
                  <a:pt x="368" y="304"/>
                </a:moveTo>
                <a:cubicBezTo>
                  <a:pt x="368" y="295"/>
                  <a:pt x="361" y="288"/>
                  <a:pt x="352" y="288"/>
                </a:cubicBezTo>
                <a:cubicBezTo>
                  <a:pt x="343" y="288"/>
                  <a:pt x="336" y="295"/>
                  <a:pt x="336" y="304"/>
                </a:cubicBezTo>
                <a:lnTo>
                  <a:pt x="336" y="400"/>
                </a:lnTo>
                <a:cubicBezTo>
                  <a:pt x="336" y="409"/>
                  <a:pt x="343" y="416"/>
                  <a:pt x="352" y="416"/>
                </a:cubicBezTo>
                <a:cubicBezTo>
                  <a:pt x="361" y="416"/>
                  <a:pt x="368" y="409"/>
                  <a:pt x="368" y="400"/>
                </a:cubicBezTo>
                <a:lnTo>
                  <a:pt x="368" y="3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" name="rc-r6-title"/>
          <p:cNvSpPr txBox="1"/>
          <p:nvPr/>
        </p:nvSpPr>
        <p:spPr>
          <a:xfrm>
            <a:off x="13792200" y="8585200"/>
            <a:ext cx="6223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10183F"/>
                </a:solidFill>
                <a:latin typeface="MiSans"/>
                <a:ea typeface="MiSans"/>
              </a:rPr>
              <a:t>7.0英寸1024×600触控屏</a:t>
            </a:r>
            <a:endParaRPr lang="en-US" sz="2300" noProof="1"/>
          </a:p>
        </p:txBody>
      </p:sp>
      <p:sp>
        <p:nvSpPr>
          <p:cNvPr id="55" name="rc-r6-desc"/>
          <p:cNvSpPr txBox="1"/>
          <p:nvPr/>
        </p:nvSpPr>
        <p:spPr>
          <a:xfrm>
            <a:off x="13792200" y="9017000"/>
            <a:ext cx="622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4A5B7C"/>
                </a:solidFill>
                <a:latin typeface="MiSans"/>
                <a:ea typeface="MiSans"/>
              </a:rPr>
              <a:t>高清显示 · 流畅交互</a:t>
            </a:r>
            <a:endParaRPr lang="en-US" sz="1800" noProof="1"/>
          </a:p>
        </p:txBody>
      </p:sp>
      <p:sp>
        <p:nvSpPr>
          <p:cNvPr id="56" name="bl"/>
          <p:cNvSpPr/>
          <p:nvPr/>
        </p:nvSpPr>
        <p:spPr>
          <a:xfrm>
            <a:off x="304800" y="9626600"/>
            <a:ext cx="9702800" cy="1854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57" name="bl-head"/>
          <p:cNvSpPr txBox="1"/>
          <p:nvPr/>
        </p:nvSpPr>
        <p:spPr>
          <a:xfrm>
            <a:off x="304800" y="9779000"/>
            <a:ext cx="970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noProof="1">
                <a:solidFill>
                  <a:srgbClr val="10183F"/>
                </a:solidFill>
                <a:latin typeface="MiSans"/>
                <a:ea typeface="MiSans"/>
              </a:rPr>
              <a:t>【四频点稀疏覆盖】</a:t>
            </a:r>
            <a:endParaRPr lang="en-US" sz="2500" noProof="1"/>
          </a:p>
        </p:txBody>
      </p:sp>
      <p:sp>
        <p:nvSpPr>
          <p:cNvPr id="58" name="bl-p1"/>
          <p:cNvSpPr/>
          <p:nvPr/>
        </p:nvSpPr>
        <p:spPr>
          <a:xfrm>
            <a:off x="1016000" y="10312400"/>
            <a:ext cx="1625600" cy="5588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59" name="bl-p1-t"/>
          <p:cNvSpPr txBox="1"/>
          <p:nvPr/>
        </p:nvSpPr>
        <p:spPr>
          <a:xfrm>
            <a:off x="1016000" y="10312400"/>
            <a:ext cx="16256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00" b="1" noProof="1">
                <a:solidFill>
                  <a:srgbClr val="FFFFFF"/>
                </a:solidFill>
                <a:latin typeface="MiSans"/>
                <a:ea typeface="MiSans"/>
              </a:rPr>
              <a:t>2.420 GHz</a:t>
            </a:r>
            <a:endParaRPr lang="en-US" sz="2100" noProof="1"/>
          </a:p>
        </p:txBody>
      </p:sp>
      <p:sp>
        <p:nvSpPr>
          <p:cNvPr id="60" name="bl-p2"/>
          <p:cNvSpPr/>
          <p:nvPr/>
        </p:nvSpPr>
        <p:spPr>
          <a:xfrm>
            <a:off x="3327400" y="10312400"/>
            <a:ext cx="1625600" cy="5588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61" name="bl-p2-t"/>
          <p:cNvSpPr txBox="1"/>
          <p:nvPr/>
        </p:nvSpPr>
        <p:spPr>
          <a:xfrm>
            <a:off x="3327400" y="10312400"/>
            <a:ext cx="16256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00" b="1" noProof="1">
                <a:solidFill>
                  <a:srgbClr val="FFFFFF"/>
                </a:solidFill>
                <a:latin typeface="MiSans"/>
                <a:ea typeface="MiSans"/>
              </a:rPr>
              <a:t>2.464 GHz</a:t>
            </a:r>
            <a:endParaRPr lang="en-US" sz="2100" noProof="1"/>
          </a:p>
        </p:txBody>
      </p:sp>
      <p:sp>
        <p:nvSpPr>
          <p:cNvPr id="62" name="bl-p3"/>
          <p:cNvSpPr/>
          <p:nvPr/>
        </p:nvSpPr>
        <p:spPr>
          <a:xfrm>
            <a:off x="5638800" y="10312400"/>
            <a:ext cx="1625600" cy="5588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63" name="bl-p3-t"/>
          <p:cNvSpPr txBox="1"/>
          <p:nvPr/>
        </p:nvSpPr>
        <p:spPr>
          <a:xfrm>
            <a:off x="5638800" y="10312400"/>
            <a:ext cx="16256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00" b="1" noProof="1">
                <a:solidFill>
                  <a:srgbClr val="FFFFFF"/>
                </a:solidFill>
                <a:latin typeface="MiSans"/>
                <a:ea typeface="MiSans"/>
              </a:rPr>
              <a:t>5.760 GHz</a:t>
            </a:r>
            <a:endParaRPr lang="en-US" sz="2100" noProof="1"/>
          </a:p>
        </p:txBody>
      </p:sp>
      <p:sp>
        <p:nvSpPr>
          <p:cNvPr id="64" name="bl-p4"/>
          <p:cNvSpPr/>
          <p:nvPr/>
        </p:nvSpPr>
        <p:spPr>
          <a:xfrm>
            <a:off x="7950200" y="10312400"/>
            <a:ext cx="1625600" cy="5588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65" name="bl-p4-t"/>
          <p:cNvSpPr txBox="1"/>
          <p:nvPr/>
        </p:nvSpPr>
        <p:spPr>
          <a:xfrm>
            <a:off x="7950200" y="10312400"/>
            <a:ext cx="16256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00" b="1" noProof="1">
                <a:solidFill>
                  <a:srgbClr val="FFFFFF"/>
                </a:solidFill>
                <a:latin typeface="MiSans"/>
                <a:ea typeface="MiSans"/>
              </a:rPr>
              <a:t>5.816 GHz</a:t>
            </a:r>
            <a:endParaRPr lang="en-US" sz="2100" noProof="1"/>
          </a:p>
        </p:txBody>
      </p:sp>
      <p:sp>
        <p:nvSpPr>
          <p:cNvPr id="66" name="bl-caption"/>
          <p:cNvSpPr txBox="1"/>
          <p:nvPr/>
        </p:nvSpPr>
        <p:spPr>
          <a:xfrm>
            <a:off x="558800" y="10998200"/>
            <a:ext cx="9194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>
                <a:solidFill>
                  <a:srgbClr val="1F2A44"/>
                </a:solidFill>
                <a:latin typeface="MiSans"/>
                <a:ea typeface="MiSans"/>
              </a:rPr>
              <a:t>瞬时带宽约56 MHz ｜ </a:t>
            </a:r>
            <a:r>
              <a:rPr lang="zh-CN" altLang="en-US" sz="1900" noProof="1">
                <a:solidFill>
                  <a:srgbClr val="1F2A44"/>
                </a:solidFill>
                <a:highlight>
                  <a:srgbClr val="FFFF00"/>
                </a:highlight>
                <a:latin typeface="MiSans"/>
                <a:ea typeface="MiSans"/>
              </a:rPr>
              <a:t>覆盖频段</a:t>
            </a:r>
            <a:r>
              <a:rPr lang="en-US" altLang="zh-CN" sz="1900" noProof="1">
                <a:solidFill>
                  <a:srgbClr val="1F2A44"/>
                </a:solidFill>
                <a:highlight>
                  <a:srgbClr val="FFFF00"/>
                </a:highlight>
                <a:latin typeface="MiSans"/>
                <a:ea typeface="MiSans"/>
              </a:rPr>
              <a:t>2392-2492</a:t>
            </a:r>
            <a:r>
              <a:rPr lang="zh-CN" altLang="en-US" sz="1900" noProof="1">
                <a:solidFill>
                  <a:srgbClr val="1F2A44"/>
                </a:solidFill>
                <a:highlight>
                  <a:srgbClr val="FFFF00"/>
                </a:highlight>
                <a:latin typeface="MiSans"/>
                <a:ea typeface="MiSans"/>
              </a:rPr>
              <a:t>，</a:t>
            </a:r>
            <a:r>
              <a:rPr lang="en-US" altLang="zh-CN" sz="1900" noProof="1">
                <a:solidFill>
                  <a:srgbClr val="1F2A44"/>
                </a:solidFill>
                <a:highlight>
                  <a:srgbClr val="FFFF00"/>
                </a:highlight>
                <a:latin typeface="MiSans"/>
                <a:ea typeface="MiSans"/>
              </a:rPr>
              <a:t>5732-5844 MHz </a:t>
            </a:r>
            <a:endParaRPr lang="en-US" sz="1900" noProof="1">
              <a:highlight>
                <a:srgbClr val="FFFF00"/>
              </a:highlight>
            </a:endParaRPr>
          </a:p>
        </p:txBody>
      </p:sp>
      <p:sp>
        <p:nvSpPr>
          <p:cNvPr id="67" name="br"/>
          <p:cNvSpPr/>
          <p:nvPr/>
        </p:nvSpPr>
        <p:spPr>
          <a:xfrm>
            <a:off x="10312400" y="9626600"/>
            <a:ext cx="10515600" cy="18542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1445"/>
              </a:gs>
              <a:gs pos="100000">
                <a:srgbClr val="123A9E"/>
              </a:gs>
            </a:gsLst>
            <a:lin ang="7200000" scaled="1"/>
          </a:gradFill>
          <a:ln>
            <a:noFill/>
          </a:ln>
        </p:spPr>
      </p:sp>
      <p:sp>
        <p:nvSpPr>
          <p:cNvPr id="68" name="br-text"/>
          <p:cNvSpPr txBox="1"/>
          <p:nvPr/>
        </p:nvSpPr>
        <p:spPr>
          <a:xfrm>
            <a:off x="10566400" y="9626600"/>
            <a:ext cx="10007600" cy="185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5000"/>
              </a:lnSpc>
            </a:pPr>
            <a:r>
              <a:rPr lang="en-US" sz="3500" b="1" noProof="1">
                <a:solidFill>
                  <a:srgbClr val="FFFFFF"/>
                </a:solidFill>
                <a:latin typeface="MiSans"/>
                <a:ea typeface="MiSans"/>
              </a:rPr>
              <a:t>SDR只负责把电磁波变成可计算的IQ数据</a:t>
            </a:r>
            <a:endParaRPr lang="en-US" sz="3500" noProof="1"/>
          </a:p>
          <a:p>
            <a:pPr algn="ctr">
              <a:lnSpc>
                <a:spcPct val="155000"/>
              </a:lnSpc>
            </a:pPr>
            <a:r>
              <a:rPr lang="en-US" sz="3500" b="1" noProof="1">
                <a:solidFill>
                  <a:srgbClr val="FFFFFF"/>
                </a:solidFill>
                <a:latin typeface="MiSans"/>
                <a:ea typeface="MiSans"/>
              </a:rPr>
              <a:t>接收后的全部处理由</a:t>
            </a:r>
            <a:r>
              <a:rPr lang="en-US" sz="3500" b="1" noProof="1">
                <a:solidFill>
                  <a:srgbClr val="F58236"/>
                </a:solidFill>
                <a:latin typeface="MiSans"/>
                <a:ea typeface="MiSans"/>
              </a:rPr>
              <a:t>RA8P1</a:t>
            </a:r>
            <a:r>
              <a:rPr lang="en-US" sz="3500" b="1" noProof="1">
                <a:solidFill>
                  <a:srgbClr val="FFFFFF"/>
                </a:solidFill>
                <a:latin typeface="MiSans"/>
                <a:ea typeface="MiSans"/>
              </a:rPr>
              <a:t>完成</a:t>
            </a:r>
            <a:endParaRPr lang="en-US" sz="3500" noProof="1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01677BEF-93E5-837F-0BEB-CA2D6E56E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38" y="1945025"/>
            <a:ext cx="7150308" cy="7641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1F6FE"/>
            </a:gs>
            <a:gs pos="100000">
              <a:srgbClr val="FFFF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dge"/>
          <p:cNvSpPr/>
          <p:nvPr/>
        </p:nvSpPr>
        <p:spPr>
          <a:xfrm>
            <a:off x="101600" y="177800"/>
            <a:ext cx="1422400" cy="1117600"/>
          </a:xfrm>
          <a:prstGeom prst="roundRect">
            <a:avLst>
              <a:gd name="adj" fmla="val 14000"/>
            </a:avLst>
          </a:prstGeom>
          <a:solidFill>
            <a:srgbClr val="0A1030"/>
          </a:solidFill>
          <a:ln>
            <a:noFill/>
          </a:ln>
        </p:spPr>
      </p:sp>
      <p:sp>
        <p:nvSpPr>
          <p:cNvPr id="3" name="hdr-badge-num"/>
          <p:cNvSpPr txBox="1"/>
          <p:nvPr/>
        </p:nvSpPr>
        <p:spPr>
          <a:xfrm>
            <a:off x="101600" y="177800"/>
            <a:ext cx="1422400" cy="111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000" b="1" noProof="1">
                <a:solidFill>
                  <a:srgbClr val="FFFFFF"/>
                </a:solidFill>
                <a:latin typeface="MiSans"/>
                <a:ea typeface="MiSans"/>
              </a:rPr>
              <a:t>03</a:t>
            </a:r>
            <a:endParaRPr lang="en-US" sz="5000" noProof="1"/>
          </a:p>
        </p:txBody>
      </p:sp>
      <p:sp>
        <p:nvSpPr>
          <p:cNvPr id="4" name="hdr-conn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eyJ2aWV3Qm94IjpbMTgsNF0sInBvaW50cyI6IjAsMiAxOCwyIn0</pptd:line>
              </p:ext>
            </p:extLst>
          </p:nvPr>
        </p:nvSpPr>
        <p:spPr>
          <a:xfrm>
            <a:off x="1549400" y="723900"/>
            <a:ext cx="228600" cy="50800"/>
          </a:xfrm>
          <a:custGeom>
            <a:avLst/>
            <a:gdLst/>
            <a:ahLst/>
            <a:cxnLst/>
            <a:rect l="l" t="t" r="r" b="b"/>
            <a:pathLst>
              <a:path w="18" h="4">
                <a:moveTo>
                  <a:pt x="0" y="2"/>
                </a:moveTo>
                <a:lnTo>
                  <a:pt x="18" y="2"/>
                </a:lnTo>
              </a:path>
            </a:pathLst>
          </a:custGeom>
          <a:noFill/>
          <a:ln w="25400" cap="rnd">
            <a:solidFill>
              <a:srgbClr val="0A1030"/>
            </a:solidFill>
            <a:round/>
          </a:ln>
        </p:spPr>
      </p:sp>
      <p:sp>
        <p:nvSpPr>
          <p:cNvPr id="5" name="hdr-dot"/>
          <p:cNvSpPr/>
          <p:nvPr/>
        </p:nvSpPr>
        <p:spPr>
          <a:xfrm>
            <a:off x="1727200" y="673100"/>
            <a:ext cx="127000" cy="127000"/>
          </a:xfrm>
          <a:prstGeom prst="ellipse">
            <a:avLst/>
          </a:prstGeom>
          <a:solidFill>
            <a:srgbClr val="0A1030"/>
          </a:solidFill>
          <a:ln>
            <a:noFill/>
          </a:ln>
        </p:spPr>
      </p:sp>
      <p:sp>
        <p:nvSpPr>
          <p:cNvPr id="6" name="hdr-pill"/>
          <p:cNvSpPr/>
          <p:nvPr/>
        </p:nvSpPr>
        <p:spPr>
          <a:xfrm>
            <a:off x="1879600" y="342900"/>
            <a:ext cx="2540000" cy="6096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7" name="hdr-pill-text"/>
          <p:cNvSpPr txBox="1"/>
          <p:nvPr/>
        </p:nvSpPr>
        <p:spPr>
          <a:xfrm>
            <a:off x="1879600" y="3429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noProof="1">
                <a:solidFill>
                  <a:srgbClr val="FFFFFF"/>
                </a:solidFill>
                <a:latin typeface="MiSans"/>
                <a:ea typeface="MiSans"/>
              </a:rPr>
              <a:t>数据预处理</a:t>
            </a:r>
            <a:endParaRPr lang="en-US" sz="2600" noProof="1"/>
          </a:p>
        </p:txBody>
      </p:sp>
      <p:sp>
        <p:nvSpPr>
          <p:cNvPr id="8" name="deco-chip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19761200" y="203200"/>
            <a:ext cx="1168400" cy="1168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D4E3FA"/>
          </a:solidFill>
          <a:ln>
            <a:noFill/>
          </a:ln>
        </p:spPr>
      </p:sp>
      <p:sp>
        <p:nvSpPr>
          <p:cNvPr id="9" name="main-title"/>
          <p:cNvSpPr txBox="1"/>
          <p:nvPr/>
        </p:nvSpPr>
        <p:spPr>
          <a:xfrm>
            <a:off x="2362200" y="838200"/>
            <a:ext cx="16510000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b="1" noProof="1">
                <a:solidFill>
                  <a:srgbClr val="10183F"/>
                </a:solidFill>
                <a:latin typeface="MiSans"/>
                <a:ea typeface="MiSans"/>
              </a:rPr>
              <a:t>数据预处理：2.36 MB窗口上的1,152次FFT</a:t>
            </a:r>
            <a:endParaRPr lang="en-US" sz="6000" noProof="1"/>
          </a:p>
        </p:txBody>
      </p:sp>
      <p:sp>
        <p:nvSpPr>
          <p:cNvPr id="10" name="sub-title"/>
          <p:cNvSpPr txBox="1"/>
          <p:nvPr/>
        </p:nvSpPr>
        <p:spPr>
          <a:xfrm>
            <a:off x="3632200" y="1905000"/>
            <a:ext cx="13970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000" b="1" noProof="1">
                <a:solidFill>
                  <a:srgbClr val="2B3E6E"/>
                </a:solidFill>
                <a:latin typeface="MiSans"/>
                <a:ea typeface="MiSans"/>
              </a:rPr>
              <a:t>硬件CRC校验 · Helium MVE向量化 · CMSIS-DSP优化FFT · TCM零等待存取</a:t>
            </a:r>
            <a:endParaRPr lang="en-US" sz="3000" noProof="1"/>
          </a:p>
        </p:txBody>
      </p:sp>
      <p:sp>
        <p:nvSpPr>
          <p:cNvPr id="11" name="k1"/>
          <p:cNvSpPr/>
          <p:nvPr/>
        </p:nvSpPr>
        <p:spPr>
          <a:xfrm>
            <a:off x="304800" y="2489200"/>
            <a:ext cx="4368800" cy="147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12" name="k1-num"/>
          <p:cNvSpPr txBox="1"/>
          <p:nvPr/>
        </p:nvSpPr>
        <p:spPr>
          <a:xfrm>
            <a:off x="558800" y="2616200"/>
            <a:ext cx="381000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b="1" noProof="1">
                <a:solidFill>
                  <a:srgbClr val="0A56E7"/>
                </a:solidFill>
                <a:latin typeface="MiSans"/>
                <a:ea typeface="MiSans"/>
              </a:rPr>
              <a:t>1.92</a:t>
            </a:r>
            <a:r>
              <a:rPr lang="en-US" sz="2400" b="1" noProof="1">
                <a:solidFill>
                  <a:srgbClr val="0A56E7"/>
                </a:solidFill>
                <a:latin typeface="MiSans"/>
                <a:ea typeface="MiSans"/>
              </a:rPr>
              <a:t> Gbps</a:t>
            </a:r>
            <a:endParaRPr lang="en-US" sz="1600" noProof="1"/>
          </a:p>
        </p:txBody>
      </p:sp>
      <p:sp>
        <p:nvSpPr>
          <p:cNvPr id="13" name="k1-cap"/>
          <p:cNvSpPr txBox="1"/>
          <p:nvPr/>
        </p:nvSpPr>
        <p:spPr>
          <a:xfrm>
            <a:off x="558800" y="3479800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4A5B7C"/>
                </a:solidFill>
                <a:latin typeface="MiSans"/>
                <a:ea typeface="MiSans"/>
              </a:rPr>
              <a:t>原始数据率60MSPS×S16 I/Q</a:t>
            </a:r>
            <a:endParaRPr lang="en-US" sz="1700" noProof="1"/>
          </a:p>
        </p:txBody>
      </p:sp>
      <p:sp>
        <p:nvSpPr>
          <p:cNvPr id="14" name="k2"/>
          <p:cNvSpPr/>
          <p:nvPr/>
        </p:nvSpPr>
        <p:spPr>
          <a:xfrm>
            <a:off x="4876800" y="2489200"/>
            <a:ext cx="4368800" cy="147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15" name="k2-num"/>
          <p:cNvSpPr txBox="1"/>
          <p:nvPr/>
        </p:nvSpPr>
        <p:spPr>
          <a:xfrm>
            <a:off x="5130800" y="2616200"/>
            <a:ext cx="3810000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b="1" noProof="1">
                <a:solidFill>
                  <a:srgbClr val="0A56E7"/>
                </a:solidFill>
                <a:latin typeface="MiSans"/>
                <a:ea typeface="MiSans"/>
              </a:rPr>
              <a:t>2.36</a:t>
            </a:r>
            <a:r>
              <a:rPr lang="en-US" sz="2400" b="1" noProof="1">
                <a:solidFill>
                  <a:srgbClr val="0A56E7"/>
                </a:solidFill>
                <a:latin typeface="MiSans"/>
                <a:ea typeface="MiSans"/>
              </a:rPr>
              <a:t> MB/窗口</a:t>
            </a:r>
            <a:endParaRPr lang="en-US" sz="1600" noProof="1"/>
          </a:p>
        </p:txBody>
      </p:sp>
      <p:sp>
        <p:nvSpPr>
          <p:cNvPr id="16" name="k2-cap"/>
          <p:cNvSpPr txBox="1"/>
          <p:nvPr/>
        </p:nvSpPr>
        <p:spPr>
          <a:xfrm>
            <a:off x="5130800" y="3479800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4A5B7C"/>
                </a:solidFill>
                <a:latin typeface="MiSans"/>
                <a:ea typeface="MiSans"/>
              </a:rPr>
              <a:t>590,336复采样 · 9.839ms观测</a:t>
            </a:r>
            <a:endParaRPr lang="en-US" sz="1700" noProof="1"/>
          </a:p>
        </p:txBody>
      </p:sp>
      <p:sp>
        <p:nvSpPr>
          <p:cNvPr id="17" name="k3"/>
          <p:cNvSpPr/>
          <p:nvPr/>
        </p:nvSpPr>
        <p:spPr>
          <a:xfrm>
            <a:off x="9448800" y="2489200"/>
            <a:ext cx="4368800" cy="147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18" name="k3-num"/>
          <p:cNvSpPr txBox="1"/>
          <p:nvPr/>
        </p:nvSpPr>
        <p:spPr>
          <a:xfrm>
            <a:off x="10488534" y="2583721"/>
            <a:ext cx="2289331" cy="838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b="1" noProof="1">
                <a:solidFill>
                  <a:srgbClr val="0A56E7"/>
                </a:solidFill>
                <a:latin typeface="MiSans"/>
                <a:ea typeface="MiSans"/>
              </a:rPr>
              <a:t>500</a:t>
            </a:r>
            <a:r>
              <a:rPr lang="en-US" sz="2400" b="1" noProof="1">
                <a:solidFill>
                  <a:srgbClr val="0A56E7"/>
                </a:solidFill>
                <a:latin typeface="MiSans"/>
                <a:ea typeface="MiSans"/>
              </a:rPr>
              <a:t> Mbps</a:t>
            </a:r>
            <a:endParaRPr lang="en-US" sz="1600" noProof="1"/>
          </a:p>
        </p:txBody>
      </p:sp>
      <p:sp>
        <p:nvSpPr>
          <p:cNvPr id="19" name="k3-cap"/>
          <p:cNvSpPr txBox="1"/>
          <p:nvPr/>
        </p:nvSpPr>
        <p:spPr>
          <a:xfrm>
            <a:off x="10871200" y="3451947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1700" noProof="1">
                <a:solidFill>
                  <a:srgbClr val="4A5B7C"/>
                </a:solidFill>
                <a:latin typeface="MiSans"/>
                <a:ea typeface="MiSans"/>
              </a:rPr>
              <a:t>网口速度</a:t>
            </a:r>
            <a:endParaRPr lang="en-US" sz="1700" noProof="1"/>
          </a:p>
        </p:txBody>
      </p:sp>
      <p:sp>
        <p:nvSpPr>
          <p:cNvPr id="53" name="hw"/>
          <p:cNvSpPr/>
          <p:nvPr/>
        </p:nvSpPr>
        <p:spPr>
          <a:xfrm>
            <a:off x="14376400" y="2489200"/>
            <a:ext cx="6502400" cy="3022600"/>
          </a:xfrm>
          <a:prstGeom prst="roundRect">
            <a:avLst>
              <a:gd name="adj" fmla="val 4000"/>
            </a:avLst>
          </a:prstGeom>
          <a:solidFill>
            <a:srgbClr val="FFFF00"/>
          </a:solidFill>
          <a:ln w="12700">
            <a:solidFill>
              <a:srgbClr val="DFE9F7"/>
            </a:solidFill>
          </a:ln>
        </p:spPr>
      </p:sp>
      <p:sp>
        <p:nvSpPr>
          <p:cNvPr id="54" name="hw-head"/>
          <p:cNvSpPr txBox="1"/>
          <p:nvPr/>
        </p:nvSpPr>
        <p:spPr>
          <a:xfrm>
            <a:off x="14376400" y="2667000"/>
            <a:ext cx="6502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noProof="1">
                <a:solidFill>
                  <a:srgbClr val="10183F"/>
                </a:solidFill>
                <a:latin typeface="MiSans"/>
                <a:ea typeface="MiSans"/>
              </a:rPr>
              <a:t>【硬件加速映射】</a:t>
            </a:r>
            <a:endParaRPr lang="en-US" sz="2400" noProof="1"/>
          </a:p>
        </p:txBody>
      </p:sp>
      <p:sp>
        <p:nvSpPr>
          <p:cNvPr id="55" name="hw-r1-icon"/>
          <p:cNvSpPr/>
          <p:nvPr/>
        </p:nvSpPr>
        <p:spPr>
          <a:xfrm>
            <a:off x="14605000" y="32004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56" name="hw-r1-i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14693900" y="3289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" name="hw-r1-t"/>
          <p:cNvSpPr txBox="1"/>
          <p:nvPr/>
        </p:nvSpPr>
        <p:spPr>
          <a:xfrm>
            <a:off x="15189200" y="3200400"/>
            <a:ext cx="5537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A44"/>
                </a:solidFill>
                <a:latin typeface="MiSans"/>
                <a:ea typeface="MiSans"/>
              </a:rPr>
              <a:t>CRC32C→CRC外设硬件校验</a:t>
            </a:r>
            <a:endParaRPr lang="en-US" sz="2000" noProof="1"/>
          </a:p>
        </p:txBody>
      </p:sp>
      <p:sp>
        <p:nvSpPr>
          <p:cNvPr id="58" name="hw-d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eyJ2aWV3Qm94IjpbNDc4LDJdLCJwb2ludHMiOiIwLDEgNDc4LDEifQ</pptd:line>
              </p:ext>
            </p:extLst>
          </p:nvPr>
        </p:nvSpPr>
        <p:spPr>
          <a:xfrm>
            <a:off x="14605000" y="3759200"/>
            <a:ext cx="6070600" cy="25400"/>
          </a:xfrm>
          <a:custGeom>
            <a:avLst/>
            <a:gdLst/>
            <a:ahLst/>
            <a:cxnLst/>
            <a:rect l="l" t="t" r="r" b="b"/>
            <a:pathLst>
              <a:path w="478" h="2">
                <a:moveTo>
                  <a:pt x="0" y="1"/>
                </a:moveTo>
                <a:lnTo>
                  <a:pt x="478" y="1"/>
                </a:lnTo>
              </a:path>
            </a:pathLst>
          </a:custGeom>
          <a:noFill/>
          <a:ln w="12700" cap="rnd">
            <a:solidFill>
              <a:srgbClr val="D8E3F2"/>
            </a:solidFill>
            <a:prstDash val="dash"/>
            <a:round/>
          </a:ln>
        </p:spPr>
      </p:sp>
      <p:sp>
        <p:nvSpPr>
          <p:cNvPr id="59" name="hw-r2-icon"/>
          <p:cNvSpPr/>
          <p:nvPr/>
        </p:nvSpPr>
        <p:spPr>
          <a:xfrm>
            <a:off x="14605000" y="38100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60" name="hw-r2-i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eyJpY29uTmFtZSI6ImZhczp3YXZlLXNxdWFyZSJ9</pptd:icon>
              </p:ext>
            </p:extLst>
          </p:nvPr>
        </p:nvSpPr>
        <p:spPr>
          <a:xfrm>
            <a:off x="14693900" y="3898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96"/>
                </a:moveTo>
                <a:cubicBezTo>
                  <a:pt x="64" y="78"/>
                  <a:pt x="78" y="64"/>
                  <a:pt x="96" y="64"/>
                </a:cubicBezTo>
                <a:lnTo>
                  <a:pt x="256" y="64"/>
                </a:lnTo>
                <a:cubicBezTo>
                  <a:pt x="274" y="64"/>
                  <a:pt x="288" y="78"/>
                  <a:pt x="288" y="96"/>
                </a:cubicBezTo>
                <a:lnTo>
                  <a:pt x="288" y="384"/>
                </a:lnTo>
                <a:lnTo>
                  <a:pt x="384" y="384"/>
                </a:lnTo>
                <a:lnTo>
                  <a:pt x="384" y="256"/>
                </a:lnTo>
                <a:cubicBezTo>
                  <a:pt x="384" y="238"/>
                  <a:pt x="398" y="224"/>
                  <a:pt x="41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448" y="288"/>
                </a:lnTo>
                <a:lnTo>
                  <a:pt x="448" y="416"/>
                </a:lnTo>
                <a:cubicBezTo>
                  <a:pt x="448" y="434"/>
                  <a:pt x="434" y="448"/>
                  <a:pt x="416" y="448"/>
                </a:cubicBezTo>
                <a:lnTo>
                  <a:pt x="256" y="448"/>
                </a:lnTo>
                <a:cubicBezTo>
                  <a:pt x="238" y="448"/>
                  <a:pt x="224" y="434"/>
                  <a:pt x="224" y="416"/>
                </a:cubicBezTo>
                <a:lnTo>
                  <a:pt x="224" y="128"/>
                </a:lnTo>
                <a:lnTo>
                  <a:pt x="128" y="128"/>
                </a:lnTo>
                <a:lnTo>
                  <a:pt x="128" y="256"/>
                </a:lnTo>
                <a:cubicBezTo>
                  <a:pt x="128" y="274"/>
                  <a:pt x="114" y="288"/>
                  <a:pt x="96" y="288"/>
                </a:cubicBezTo>
                <a:lnTo>
                  <a:pt x="32" y="288"/>
                </a:lnTo>
                <a:cubicBezTo>
                  <a:pt x="14" y="288"/>
                  <a:pt x="0" y="274"/>
                  <a:pt x="0" y="256"/>
                </a:cubicBezTo>
                <a:cubicBezTo>
                  <a:pt x="0" y="238"/>
                  <a:pt x="14" y="224"/>
                  <a:pt x="32" y="224"/>
                </a:cubicBezTo>
                <a:lnTo>
                  <a:pt x="64" y="224"/>
                </a:lnTo>
                <a:lnTo>
                  <a:pt x="64" y="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1" name="hw-r2-t"/>
          <p:cNvSpPr txBox="1"/>
          <p:nvPr/>
        </p:nvSpPr>
        <p:spPr>
          <a:xfrm>
            <a:off x="15189200" y="3810000"/>
            <a:ext cx="5537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A44"/>
                </a:solidFill>
                <a:latin typeface="MiSans"/>
                <a:ea typeface="MiSans"/>
              </a:rPr>
              <a:t>1024点FFT→CMSIS-DSP优化Q15内核</a:t>
            </a:r>
            <a:endParaRPr lang="en-US" sz="2000" noProof="1"/>
          </a:p>
        </p:txBody>
      </p:sp>
      <p:sp>
        <p:nvSpPr>
          <p:cNvPr id="62" name="hw-d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eyJ2aWV3Qm94IjpbNDc4LDJdLCJwb2ludHMiOiIwLDEgNDc4LDEifQ</pptd:line>
              </p:ext>
            </p:extLst>
          </p:nvPr>
        </p:nvSpPr>
        <p:spPr>
          <a:xfrm>
            <a:off x="14605000" y="4368800"/>
            <a:ext cx="6070600" cy="25400"/>
          </a:xfrm>
          <a:custGeom>
            <a:avLst/>
            <a:gdLst/>
            <a:ahLst/>
            <a:cxnLst/>
            <a:rect l="l" t="t" r="r" b="b"/>
            <a:pathLst>
              <a:path w="478" h="2">
                <a:moveTo>
                  <a:pt x="0" y="1"/>
                </a:moveTo>
                <a:lnTo>
                  <a:pt x="478" y="1"/>
                </a:lnTo>
              </a:path>
            </a:pathLst>
          </a:custGeom>
          <a:noFill/>
          <a:ln w="12700" cap="rnd">
            <a:solidFill>
              <a:srgbClr val="D8E3F2"/>
            </a:solidFill>
            <a:prstDash val="dash"/>
            <a:round/>
          </a:ln>
        </p:spPr>
      </p:sp>
      <p:sp>
        <p:nvSpPr>
          <p:cNvPr id="63" name="hw-r3-icon"/>
          <p:cNvSpPr/>
          <p:nvPr/>
        </p:nvSpPr>
        <p:spPr>
          <a:xfrm>
            <a:off x="14605000" y="44196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64" name="hw-r3-i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eyJpY29uTmFtZSI6ImZhczpsYXllci1ncm91cCJ9</pptd:icon>
              </p:ext>
            </p:extLst>
          </p:nvPr>
        </p:nvSpPr>
        <p:spPr>
          <a:xfrm>
            <a:off x="14693900" y="4508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5" name="hw-r3-t"/>
          <p:cNvSpPr txBox="1"/>
          <p:nvPr/>
        </p:nvSpPr>
        <p:spPr>
          <a:xfrm>
            <a:off x="15189200" y="4343400"/>
            <a:ext cx="553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A44"/>
                </a:solidFill>
                <a:latin typeface="MiSans"/>
                <a:ea typeface="MiSans"/>
              </a:rPr>
              <a:t>加窗/功率/log2→Helium MVE
128bit向量化</a:t>
            </a:r>
            <a:endParaRPr lang="en-US" sz="2000" noProof="1"/>
          </a:p>
        </p:txBody>
      </p:sp>
      <p:sp>
        <p:nvSpPr>
          <p:cNvPr id="66" name="hw-d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eyJ2aWV3Qm94IjpbNDc4LDJdLCJwb2ludHMiOiIwLDEgNDc4LDEifQ</pptd:line>
              </p:ext>
            </p:extLst>
          </p:nvPr>
        </p:nvSpPr>
        <p:spPr>
          <a:xfrm>
            <a:off x="14605000" y="4978400"/>
            <a:ext cx="6070600" cy="25400"/>
          </a:xfrm>
          <a:custGeom>
            <a:avLst/>
            <a:gdLst/>
            <a:ahLst/>
            <a:cxnLst/>
            <a:rect l="l" t="t" r="r" b="b"/>
            <a:pathLst>
              <a:path w="478" h="2">
                <a:moveTo>
                  <a:pt x="0" y="1"/>
                </a:moveTo>
                <a:lnTo>
                  <a:pt x="478" y="1"/>
                </a:lnTo>
              </a:path>
            </a:pathLst>
          </a:custGeom>
          <a:noFill/>
          <a:ln w="12700" cap="rnd">
            <a:solidFill>
              <a:srgbClr val="D8E3F2"/>
            </a:solidFill>
            <a:prstDash val="dash"/>
            <a:round/>
          </a:ln>
        </p:spPr>
      </p:sp>
      <p:sp>
        <p:nvSpPr>
          <p:cNvPr id="67" name="hw-r4-icon"/>
          <p:cNvSpPr/>
          <p:nvPr/>
        </p:nvSpPr>
        <p:spPr>
          <a:xfrm>
            <a:off x="14605000" y="50292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68" name="hw-r4-i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eyJpY29uTmFtZSI6ImZhczptZW1vcnkifQ</pptd:icon>
              </p:ext>
            </p:extLst>
          </p:nvPr>
        </p:nvSpPr>
        <p:spPr>
          <a:xfrm>
            <a:off x="14693900" y="5118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29" y="64"/>
                  <a:pt x="0" y="93"/>
                  <a:pt x="0" y="128"/>
                </a:cubicBezTo>
                <a:lnTo>
                  <a:pt x="0" y="135"/>
                </a:lnTo>
                <a:cubicBezTo>
                  <a:pt x="0" y="142"/>
                  <a:pt x="4" y="148"/>
                  <a:pt x="10" y="152"/>
                </a:cubicBezTo>
                <a:cubicBezTo>
                  <a:pt x="23" y="160"/>
                  <a:pt x="32" y="175"/>
                  <a:pt x="32" y="192"/>
                </a:cubicBezTo>
                <a:cubicBezTo>
                  <a:pt x="32" y="209"/>
                  <a:pt x="23" y="224"/>
                  <a:pt x="10" y="232"/>
                </a:cubicBezTo>
                <a:cubicBezTo>
                  <a:pt x="4" y="236"/>
                  <a:pt x="0" y="242"/>
                  <a:pt x="0" y="249"/>
                </a:cubicBezTo>
                <a:lnTo>
                  <a:pt x="0" y="304"/>
                </a:lnTo>
                <a:lnTo>
                  <a:pt x="512" y="304"/>
                </a:lnTo>
                <a:lnTo>
                  <a:pt x="512" y="249"/>
                </a:lnTo>
                <a:cubicBezTo>
                  <a:pt x="512" y="242"/>
                  <a:pt x="508" y="236"/>
                  <a:pt x="502" y="232"/>
                </a:cubicBezTo>
                <a:cubicBezTo>
                  <a:pt x="489" y="224"/>
                  <a:pt x="480" y="209"/>
                  <a:pt x="480" y="192"/>
                </a:cubicBezTo>
                <a:cubicBezTo>
                  <a:pt x="480" y="175"/>
                  <a:pt x="489" y="160"/>
                  <a:pt x="502" y="152"/>
                </a:cubicBezTo>
                <a:cubicBezTo>
                  <a:pt x="508" y="148"/>
                  <a:pt x="512" y="142"/>
                  <a:pt x="512" y="135"/>
                </a:cubicBezTo>
                <a:lnTo>
                  <a:pt x="512" y="128"/>
                </a:lnTo>
                <a:cubicBezTo>
                  <a:pt x="512" y="93"/>
                  <a:pt x="483" y="64"/>
                  <a:pt x="448" y="64"/>
                </a:cubicBezTo>
                <a:lnTo>
                  <a:pt x="64" y="64"/>
                </a:lnTo>
                <a:close/>
                <a:moveTo>
                  <a:pt x="160" y="160"/>
                </a:moveTo>
                <a:lnTo>
                  <a:pt x="160" y="224"/>
                </a:lnTo>
                <a:cubicBezTo>
                  <a:pt x="160" y="242"/>
                  <a:pt x="146" y="256"/>
                  <a:pt x="128" y="256"/>
                </a:cubicBezTo>
                <a:cubicBezTo>
                  <a:pt x="110" y="256"/>
                  <a:pt x="96" y="242"/>
                  <a:pt x="96" y="224"/>
                </a:cubicBezTo>
                <a:lnTo>
                  <a:pt x="96" y="160"/>
                </a:lnTo>
                <a:cubicBezTo>
                  <a:pt x="96" y="142"/>
                  <a:pt x="110" y="128"/>
                  <a:pt x="128" y="128"/>
                </a:cubicBezTo>
                <a:cubicBezTo>
                  <a:pt x="146" y="128"/>
                  <a:pt x="160" y="142"/>
                  <a:pt x="160" y="160"/>
                </a:cubicBezTo>
                <a:close/>
                <a:moveTo>
                  <a:pt x="288" y="160"/>
                </a:moveTo>
                <a:lnTo>
                  <a:pt x="288" y="224"/>
                </a:lnTo>
                <a:cubicBezTo>
                  <a:pt x="288" y="242"/>
                  <a:pt x="274" y="256"/>
                  <a:pt x="256" y="256"/>
                </a:cubicBezTo>
                <a:cubicBezTo>
                  <a:pt x="238" y="256"/>
                  <a:pt x="224" y="242"/>
                  <a:pt x="224" y="224"/>
                </a:cubicBezTo>
                <a:lnTo>
                  <a:pt x="224" y="160"/>
                </a:ln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lose/>
                <a:moveTo>
                  <a:pt x="416" y="160"/>
                </a:moveTo>
                <a:lnTo>
                  <a:pt x="416" y="224"/>
                </a:lnTo>
                <a:cubicBezTo>
                  <a:pt x="416" y="242"/>
                  <a:pt x="402" y="256"/>
                  <a:pt x="384" y="256"/>
                </a:cubicBezTo>
                <a:cubicBezTo>
                  <a:pt x="366" y="256"/>
                  <a:pt x="352" y="242"/>
                  <a:pt x="352" y="224"/>
                </a:cubicBezTo>
                <a:lnTo>
                  <a:pt x="352" y="160"/>
                </a:lnTo>
                <a:cubicBezTo>
                  <a:pt x="352" y="142"/>
                  <a:pt x="366" y="128"/>
                  <a:pt x="384" y="128"/>
                </a:cubicBezTo>
                <a:cubicBezTo>
                  <a:pt x="402" y="128"/>
                  <a:pt x="416" y="142"/>
                  <a:pt x="416" y="160"/>
                </a:cubicBezTo>
                <a:close/>
              </a:path>
              <a:path w="512" h="512">
                <a:moveTo>
                  <a:pt x="512" y="416"/>
                </a:moveTo>
                <a:lnTo>
                  <a:pt x="512" y="352"/>
                </a:lnTo>
                <a:lnTo>
                  <a:pt x="0" y="352"/>
                </a:lnTo>
                <a:lnTo>
                  <a:pt x="0" y="416"/>
                </a:lnTo>
                <a:cubicBezTo>
                  <a:pt x="0" y="434"/>
                  <a:pt x="14" y="448"/>
                  <a:pt x="32" y="448"/>
                </a:cubicBezTo>
                <a:lnTo>
                  <a:pt x="96" y="448"/>
                </a:lnTo>
                <a:lnTo>
                  <a:pt x="96" y="424"/>
                </a:lnTo>
                <a:cubicBezTo>
                  <a:pt x="96" y="411"/>
                  <a:pt x="107" y="400"/>
                  <a:pt x="120" y="400"/>
                </a:cubicBezTo>
                <a:cubicBezTo>
                  <a:pt x="133" y="400"/>
                  <a:pt x="144" y="411"/>
                  <a:pt x="144" y="424"/>
                </a:cubicBezTo>
                <a:lnTo>
                  <a:pt x="144" y="448"/>
                </a:lnTo>
                <a:lnTo>
                  <a:pt x="232" y="448"/>
                </a:lnTo>
                <a:lnTo>
                  <a:pt x="232" y="424"/>
                </a:lnTo>
                <a:cubicBezTo>
                  <a:pt x="232" y="411"/>
                  <a:pt x="243" y="400"/>
                  <a:pt x="256" y="400"/>
                </a:cubicBezTo>
                <a:cubicBezTo>
                  <a:pt x="269" y="400"/>
                  <a:pt x="280" y="411"/>
                  <a:pt x="280" y="424"/>
                </a:cubicBezTo>
                <a:lnTo>
                  <a:pt x="280" y="448"/>
                </a:lnTo>
                <a:lnTo>
                  <a:pt x="368" y="448"/>
                </a:lnTo>
                <a:lnTo>
                  <a:pt x="368" y="424"/>
                </a:lnTo>
                <a:cubicBezTo>
                  <a:pt x="368" y="411"/>
                  <a:pt x="379" y="400"/>
                  <a:pt x="392" y="400"/>
                </a:cubicBezTo>
                <a:cubicBezTo>
                  <a:pt x="405" y="400"/>
                  <a:pt x="416" y="411"/>
                  <a:pt x="416" y="424"/>
                </a:cubicBezTo>
                <a:lnTo>
                  <a:pt x="416" y="448"/>
                </a:lnTo>
                <a:lnTo>
                  <a:pt x="480" y="448"/>
                </a:lnTo>
                <a:cubicBezTo>
                  <a:pt x="498" y="448"/>
                  <a:pt x="512" y="434"/>
                  <a:pt x="512" y="4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9" name="hw-r4-t"/>
          <p:cNvSpPr txBox="1"/>
          <p:nvPr/>
        </p:nvSpPr>
        <p:spPr>
          <a:xfrm>
            <a:off x="15189200" y="5029200"/>
            <a:ext cx="5537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F2A44"/>
                </a:solidFill>
                <a:latin typeface="MiSans"/>
                <a:ea typeface="MiSans"/>
              </a:rPr>
              <a:t>热代码/热数据→ITCM · DTCM零等待</a:t>
            </a:r>
            <a:endParaRPr lang="en-US" sz="2000" noProof="1"/>
          </a:p>
        </p:txBody>
      </p:sp>
      <p:sp>
        <p:nvSpPr>
          <p:cNvPr id="70" name="hw-d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eyJ2aWV3Qm94IjpbNDc4LDJdLCJwb2ludHMiOiIwLDEgNDc4LDEifQ</pptd:line>
              </p:ext>
            </p:extLst>
          </p:nvPr>
        </p:nvSpPr>
        <p:spPr>
          <a:xfrm>
            <a:off x="14605000" y="5588000"/>
            <a:ext cx="6070600" cy="25400"/>
          </a:xfrm>
          <a:custGeom>
            <a:avLst/>
            <a:gdLst/>
            <a:ahLst/>
            <a:cxnLst/>
            <a:rect l="l" t="t" r="r" b="b"/>
            <a:pathLst>
              <a:path w="478" h="2">
                <a:moveTo>
                  <a:pt x="0" y="1"/>
                </a:moveTo>
                <a:lnTo>
                  <a:pt x="478" y="1"/>
                </a:lnTo>
              </a:path>
            </a:pathLst>
          </a:custGeom>
          <a:noFill/>
          <a:ln w="12700" cap="rnd">
            <a:solidFill>
              <a:srgbClr val="D8E3F2"/>
            </a:solidFill>
            <a:prstDash val="dash"/>
            <a:round/>
          </a:ln>
        </p:spPr>
      </p:sp>
      <p:sp>
        <p:nvSpPr>
          <p:cNvPr id="71" name="hw-r5-icon"/>
          <p:cNvSpPr/>
          <p:nvPr/>
        </p:nvSpPr>
        <p:spPr>
          <a:xfrm>
            <a:off x="14605000" y="56388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72" name="hw-r5-i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eyJpY29uTmFtZSI6ImZhczpjbG9jayJ9</pptd:icon>
              </p:ext>
            </p:extLst>
          </p:nvPr>
        </p:nvSpPr>
        <p:spPr>
          <a:xfrm>
            <a:off x="14693900" y="5727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lose/>
                <a:moveTo>
                  <a:pt x="232" y="120"/>
                </a:moveTo>
                <a:lnTo>
                  <a:pt x="232" y="256"/>
                </a:lnTo>
                <a:cubicBezTo>
                  <a:pt x="232" y="264"/>
                  <a:pt x="236" y="272"/>
                  <a:pt x="243" y="276"/>
                </a:cubicBezTo>
                <a:lnTo>
                  <a:pt x="339" y="340"/>
                </a:lnTo>
                <a:cubicBezTo>
                  <a:pt x="350" y="347"/>
                  <a:pt x="365" y="344"/>
                  <a:pt x="372" y="333"/>
                </a:cubicBezTo>
                <a:cubicBezTo>
                  <a:pt x="379" y="322"/>
                  <a:pt x="376" y="307"/>
                  <a:pt x="365" y="300"/>
                </a:cubicBezTo>
                <a:lnTo>
                  <a:pt x="280" y="243"/>
                </a:lnTo>
                <a:lnTo>
                  <a:pt x="280" y="120"/>
                </a:lnTo>
                <a:cubicBezTo>
                  <a:pt x="280" y="107"/>
                  <a:pt x="269" y="96"/>
                  <a:pt x="256" y="96"/>
                </a:cubicBezTo>
                <a:cubicBezTo>
                  <a:pt x="243" y="96"/>
                  <a:pt x="232" y="107"/>
                  <a:pt x="232" y="1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" name="hw-r5-t"/>
          <p:cNvSpPr txBox="1"/>
          <p:nvPr/>
        </p:nvSpPr>
        <p:spPr>
          <a:xfrm>
            <a:off x="15189200" y="5638800"/>
            <a:ext cx="5537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000" noProof="1">
                <a:solidFill>
                  <a:srgbClr val="1F2A44"/>
                </a:solidFill>
                <a:latin typeface="MiSans"/>
                <a:ea typeface="MiSans"/>
              </a:rPr>
              <a:t>单样本</a:t>
            </a:r>
            <a:r>
              <a:rPr lang="en-US" altLang="zh-CN" sz="2000" noProof="1">
                <a:solidFill>
                  <a:srgbClr val="1F2A44"/>
                </a:solidFill>
                <a:latin typeface="MiSans"/>
                <a:ea typeface="MiSans"/>
              </a:rPr>
              <a:t>ST</a:t>
            </a:r>
            <a:r>
              <a:rPr lang="en-US" sz="2000" noProof="1">
                <a:solidFill>
                  <a:srgbClr val="1F2A44"/>
                </a:solidFill>
                <a:latin typeface="MiSans"/>
                <a:ea typeface="MiSans"/>
              </a:rPr>
              <a:t>FT</a:t>
            </a:r>
            <a:r>
              <a:rPr lang="zh-CN" altLang="en-US" sz="2000" noProof="1">
                <a:solidFill>
                  <a:srgbClr val="1F2A44"/>
                </a:solidFill>
                <a:latin typeface="MiSans"/>
                <a:ea typeface="MiSans"/>
              </a:rPr>
              <a:t>从</a:t>
            </a:r>
            <a:r>
              <a:rPr lang="en-US" altLang="zh-CN" sz="2000" noProof="1">
                <a:solidFill>
                  <a:srgbClr val="1F2A44"/>
                </a:solidFill>
                <a:latin typeface="MiSans"/>
                <a:ea typeface="MiSans"/>
              </a:rPr>
              <a:t>1500ms-&gt;45ms</a:t>
            </a:r>
            <a:endParaRPr lang="en-US" sz="2000" noProof="1"/>
          </a:p>
        </p:txBody>
      </p:sp>
      <p:sp>
        <p:nvSpPr>
          <p:cNvPr id="74" name="bm"/>
          <p:cNvSpPr/>
          <p:nvPr/>
        </p:nvSpPr>
        <p:spPr>
          <a:xfrm>
            <a:off x="14376400" y="6223000"/>
            <a:ext cx="65024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75" name="bm-head"/>
          <p:cNvSpPr txBox="1"/>
          <p:nvPr/>
        </p:nvSpPr>
        <p:spPr>
          <a:xfrm>
            <a:off x="14554200" y="64008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0A56E7"/>
                </a:solidFill>
                <a:latin typeface="MiSans"/>
                <a:ea typeface="MiSans"/>
              </a:rPr>
              <a:t>历史板测分阶段耗时</a:t>
            </a:r>
            <a:endParaRPr lang="en-US" sz="2100" noProof="1"/>
          </a:p>
        </p:txBody>
      </p:sp>
      <p:sp>
        <p:nvSpPr>
          <p:cNvPr id="76" name="bm-l0"/>
          <p:cNvSpPr txBox="1"/>
          <p:nvPr/>
        </p:nvSpPr>
        <p:spPr>
          <a:xfrm>
            <a:off x="14605000" y="70104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ST</a:t>
            </a:r>
            <a:r>
              <a:rPr lang="en-US" noProof="1">
                <a:solidFill>
                  <a:srgbClr val="1F2A44"/>
                </a:solidFill>
                <a:latin typeface="MiSans"/>
                <a:ea typeface="MiSans"/>
              </a:rPr>
              <a:t>FT</a:t>
            </a:r>
            <a:endParaRPr lang="en-US" sz="1800" noProof="1"/>
          </a:p>
        </p:txBody>
      </p:sp>
      <p:sp>
        <p:nvSpPr>
          <p:cNvPr id="77" name="bm-track0"/>
          <p:cNvSpPr/>
          <p:nvPr/>
        </p:nvSpPr>
        <p:spPr>
          <a:xfrm>
            <a:off x="16332200" y="7048500"/>
            <a:ext cx="2667000" cy="25400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>
            <a:noFill/>
          </a:ln>
        </p:spPr>
      </p:sp>
      <p:sp>
        <p:nvSpPr>
          <p:cNvPr id="78" name="bm-fill0"/>
          <p:cNvSpPr/>
          <p:nvPr/>
        </p:nvSpPr>
        <p:spPr>
          <a:xfrm>
            <a:off x="16332200" y="7048500"/>
            <a:ext cx="2667000" cy="2540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79" name="bm-v0"/>
          <p:cNvSpPr txBox="1"/>
          <p:nvPr/>
        </p:nvSpPr>
        <p:spPr>
          <a:xfrm>
            <a:off x="19242374" y="70104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4A5B7C"/>
                </a:solidFill>
                <a:latin typeface="MiSans"/>
                <a:ea typeface="MiSans"/>
              </a:rPr>
              <a:t>45.832ms（29.2%）</a:t>
            </a:r>
            <a:endParaRPr lang="en-US" sz="1600" noProof="1"/>
          </a:p>
        </p:txBody>
      </p:sp>
      <p:sp>
        <p:nvSpPr>
          <p:cNvPr id="80" name="bm-l1"/>
          <p:cNvSpPr txBox="1"/>
          <p:nvPr/>
        </p:nvSpPr>
        <p:spPr>
          <a:xfrm>
            <a:off x="14605000" y="75946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功率归约</a:t>
            </a:r>
            <a:endParaRPr lang="en-US" sz="1800" noProof="1"/>
          </a:p>
        </p:txBody>
      </p:sp>
      <p:sp>
        <p:nvSpPr>
          <p:cNvPr id="81" name="bm-track1"/>
          <p:cNvSpPr/>
          <p:nvPr/>
        </p:nvSpPr>
        <p:spPr>
          <a:xfrm>
            <a:off x="16332200" y="7632700"/>
            <a:ext cx="2667000" cy="25400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>
            <a:noFill/>
          </a:ln>
        </p:spPr>
      </p:sp>
      <p:sp>
        <p:nvSpPr>
          <p:cNvPr id="82" name="bm-fill1"/>
          <p:cNvSpPr/>
          <p:nvPr/>
        </p:nvSpPr>
        <p:spPr>
          <a:xfrm>
            <a:off x="16332200" y="7632700"/>
            <a:ext cx="889000" cy="2540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83" name="bm-v1"/>
          <p:cNvSpPr txBox="1"/>
          <p:nvPr/>
        </p:nvSpPr>
        <p:spPr>
          <a:xfrm>
            <a:off x="19075400" y="75946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4A5B7C"/>
                </a:solidFill>
                <a:latin typeface="MiSans"/>
                <a:ea typeface="MiSans"/>
              </a:rPr>
              <a:t>6.293ms（4.0%）</a:t>
            </a:r>
            <a:endParaRPr lang="en-US" sz="1600" noProof="1"/>
          </a:p>
        </p:txBody>
      </p:sp>
      <p:sp>
        <p:nvSpPr>
          <p:cNvPr id="84" name="bm-l2"/>
          <p:cNvSpPr txBox="1"/>
          <p:nvPr/>
        </p:nvSpPr>
        <p:spPr>
          <a:xfrm>
            <a:off x="14605000" y="81788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noProof="1">
                <a:solidFill>
                  <a:srgbClr val="1F2A44"/>
                </a:solidFill>
                <a:latin typeface="MiSans"/>
                <a:ea typeface="MiSans"/>
              </a:rPr>
              <a:t>网口传输和</a:t>
            </a:r>
            <a:r>
              <a:rPr lang="en-US" altLang="zh-CN" noProof="1">
                <a:solidFill>
                  <a:srgbClr val="1F2A44"/>
                </a:solidFill>
                <a:latin typeface="MiSans"/>
                <a:ea typeface="MiSans"/>
              </a:rPr>
              <a:t>CRC</a:t>
            </a:r>
            <a:endParaRPr lang="en-US" sz="1800" noProof="1"/>
          </a:p>
        </p:txBody>
      </p:sp>
      <p:sp>
        <p:nvSpPr>
          <p:cNvPr id="85" name="bm-track2"/>
          <p:cNvSpPr/>
          <p:nvPr/>
        </p:nvSpPr>
        <p:spPr>
          <a:xfrm>
            <a:off x="16332200" y="8216900"/>
            <a:ext cx="2667000" cy="25400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>
            <a:noFill/>
          </a:ln>
        </p:spPr>
      </p:sp>
      <p:sp>
        <p:nvSpPr>
          <p:cNvPr id="86" name="bm-fill2"/>
          <p:cNvSpPr/>
          <p:nvPr/>
        </p:nvSpPr>
        <p:spPr>
          <a:xfrm>
            <a:off x="16332200" y="8216900"/>
            <a:ext cx="723900" cy="2540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87" name="bm-v2"/>
          <p:cNvSpPr txBox="1"/>
          <p:nvPr/>
        </p:nvSpPr>
        <p:spPr>
          <a:xfrm>
            <a:off x="19222387" y="8178800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4A5B7C"/>
                </a:solidFill>
                <a:latin typeface="MiSans"/>
                <a:ea typeface="MiSans"/>
              </a:rPr>
              <a:t>75.083ms（47.9%）</a:t>
            </a:r>
            <a:endParaRPr lang="en-US" sz="1600" noProof="1"/>
          </a:p>
        </p:txBody>
      </p:sp>
      <p:sp>
        <p:nvSpPr>
          <p:cNvPr id="88" name="bm-l3"/>
          <p:cNvSpPr txBox="1"/>
          <p:nvPr/>
        </p:nvSpPr>
        <p:spPr>
          <a:xfrm>
            <a:off x="14605000" y="87630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其余阶段</a:t>
            </a:r>
            <a:endParaRPr lang="en-US" sz="1800" noProof="1"/>
          </a:p>
        </p:txBody>
      </p:sp>
      <p:sp>
        <p:nvSpPr>
          <p:cNvPr id="89" name="bm-track3"/>
          <p:cNvSpPr/>
          <p:nvPr/>
        </p:nvSpPr>
        <p:spPr>
          <a:xfrm>
            <a:off x="16332200" y="8801100"/>
            <a:ext cx="2667000" cy="25400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>
            <a:noFill/>
          </a:ln>
        </p:spPr>
      </p:sp>
      <p:sp>
        <p:nvSpPr>
          <p:cNvPr id="90" name="bm-fill3"/>
          <p:cNvSpPr/>
          <p:nvPr/>
        </p:nvSpPr>
        <p:spPr>
          <a:xfrm>
            <a:off x="16332200" y="8801100"/>
            <a:ext cx="660400" cy="2540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91" name="bm-v3"/>
          <p:cNvSpPr txBox="1"/>
          <p:nvPr/>
        </p:nvSpPr>
        <p:spPr>
          <a:xfrm>
            <a:off x="19304000" y="8756754"/>
            <a:ext cx="1676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noProof="1">
                <a:solidFill>
                  <a:srgbClr val="4A5B7C"/>
                </a:solidFill>
                <a:latin typeface="MiSans"/>
                <a:ea typeface="MiSans"/>
              </a:rPr>
              <a:t>≈29.699ms（18.9%）</a:t>
            </a:r>
            <a:endParaRPr lang="en-US" sz="1600" noProof="1"/>
          </a:p>
        </p:txBody>
      </p:sp>
      <p:sp>
        <p:nvSpPr>
          <p:cNvPr id="92" name="bb"/>
          <p:cNvSpPr/>
          <p:nvPr/>
        </p:nvSpPr>
        <p:spPr>
          <a:xfrm>
            <a:off x="304800" y="9677400"/>
            <a:ext cx="10363200" cy="18034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1445"/>
              </a:gs>
              <a:gs pos="100000">
                <a:srgbClr val="123A9E"/>
              </a:gs>
            </a:gsLst>
            <a:lin ang="7200000" scaled="1"/>
          </a:gradFill>
          <a:ln>
            <a:noFill/>
          </a:ln>
        </p:spPr>
      </p:sp>
      <p:sp>
        <p:nvSpPr>
          <p:cNvPr id="93" name="bb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eyJpY29uTmFtZSI6ImZhczpidWxsc2V5ZSJ9</pptd:icon>
              </p:ext>
            </p:extLst>
          </p:nvPr>
        </p:nvSpPr>
        <p:spPr>
          <a:xfrm>
            <a:off x="711200" y="101727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448" y="256"/>
                </a:moveTo>
                <a:cubicBezTo>
                  <a:pt x="448" y="150"/>
                  <a:pt x="362" y="64"/>
                  <a:pt x="256" y="64"/>
                </a:cubicBezTo>
                <a:cubicBezTo>
                  <a:pt x="150" y="64"/>
                  <a:pt x="64" y="150"/>
                  <a:pt x="64" y="256"/>
                </a:cubicBezTo>
                <a:cubicBezTo>
                  <a:pt x="64" y="362"/>
                  <a:pt x="150" y="448"/>
                  <a:pt x="256" y="448"/>
                </a:cubicBezTo>
                <a:cubicBezTo>
                  <a:pt x="362" y="448"/>
                  <a:pt x="448" y="362"/>
                  <a:pt x="448" y="256"/>
                </a:cubicBezTo>
                <a:close/>
              </a:path>
              <a:path w="512" h="512">
                <a:moveTo>
                  <a:pt x="256" y="112"/>
                </a:moveTo>
                <a:cubicBezTo>
                  <a:pt x="336" y="112"/>
                  <a:pt x="400" y="176"/>
                  <a:pt x="400" y="256"/>
                </a:cubicBezTo>
                <a:cubicBezTo>
                  <a:pt x="400" y="336"/>
                  <a:pt x="336" y="400"/>
                  <a:pt x="256" y="400"/>
                </a:cubicBezTo>
                <a:cubicBezTo>
                  <a:pt x="176" y="400"/>
                  <a:pt x="112" y="336"/>
                  <a:pt x="112" y="256"/>
                </a:cubicBezTo>
                <a:cubicBezTo>
                  <a:pt x="112" y="176"/>
                  <a:pt x="176" y="112"/>
                  <a:pt x="256" y="112"/>
                </a:cubicBezTo>
                <a:close/>
                <a:moveTo>
                  <a:pt x="256" y="336"/>
                </a:moveTo>
                <a:cubicBezTo>
                  <a:pt x="300" y="336"/>
                  <a:pt x="336" y="300"/>
                  <a:pt x="336" y="256"/>
                </a:cubicBezTo>
                <a:cubicBezTo>
                  <a:pt x="336" y="212"/>
                  <a:pt x="300" y="176"/>
                  <a:pt x="256" y="176"/>
                </a:cubicBezTo>
                <a:cubicBezTo>
                  <a:pt x="212" y="176"/>
                  <a:pt x="176" y="212"/>
                  <a:pt x="176" y="256"/>
                </a:cubicBezTo>
                <a:cubicBezTo>
                  <a:pt x="176" y="300"/>
                  <a:pt x="212" y="336"/>
                  <a:pt x="256" y="33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cubicBezTo>
                  <a:pt x="274" y="224"/>
                  <a:pt x="288" y="238"/>
                  <a:pt x="288" y="256"/>
                </a:cubicBezTo>
                <a:cubicBezTo>
                  <a:pt x="288" y="274"/>
                  <a:pt x="274" y="288"/>
                  <a:pt x="256" y="288"/>
                </a:cubicBezTo>
                <a:cubicBezTo>
                  <a:pt x="238" y="288"/>
                  <a:pt x="224" y="274"/>
                  <a:pt x="224" y="25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4" name="bb-text"/>
          <p:cNvSpPr txBox="1"/>
          <p:nvPr/>
        </p:nvSpPr>
        <p:spPr>
          <a:xfrm>
            <a:off x="1854200" y="9677400"/>
            <a:ext cx="8636000" cy="180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900" b="1" noProof="1">
                <a:solidFill>
                  <a:srgbClr val="FFFFFF"/>
                </a:solidFill>
                <a:latin typeface="MiSans"/>
                <a:ea typeface="MiSans"/>
              </a:rPr>
              <a:t>软件流水线与硬件加速一一对应——</a:t>
            </a:r>
            <a:endParaRPr lang="en-US" sz="2900" noProof="1"/>
          </a:p>
          <a:p>
            <a:pPr algn="l">
              <a:lnSpc>
                <a:spcPct val="150000"/>
              </a:lnSpc>
            </a:pPr>
            <a:r>
              <a:rPr lang="en-US" sz="2900" b="1" noProof="1">
                <a:solidFill>
                  <a:srgbClr val="FFFFFF"/>
                </a:solidFill>
                <a:latin typeface="MiSans"/>
                <a:ea typeface="MiSans"/>
              </a:rPr>
              <a:t>全部处理阶段在RA8P1单芯片内闭环，无主机依赖</a:t>
            </a:r>
            <a:endParaRPr lang="en-US" sz="2900" noProof="1"/>
          </a:p>
        </p:txBody>
      </p:sp>
      <p:sp>
        <p:nvSpPr>
          <p:cNvPr id="95" name="st1"/>
          <p:cNvSpPr/>
          <p:nvPr/>
        </p:nvSpPr>
        <p:spPr>
          <a:xfrm>
            <a:off x="10871200" y="9677400"/>
            <a:ext cx="4927600" cy="180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96" name="st1-num"/>
          <p:cNvSpPr txBox="1"/>
          <p:nvPr/>
        </p:nvSpPr>
        <p:spPr>
          <a:xfrm>
            <a:off x="10871200" y="9880600"/>
            <a:ext cx="49276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800" b="1" noProof="1">
                <a:solidFill>
                  <a:srgbClr val="F58236"/>
                </a:solidFill>
                <a:latin typeface="MiSans"/>
                <a:ea typeface="MiSans"/>
              </a:rPr>
              <a:t>≈156.907</a:t>
            </a:r>
            <a:r>
              <a:rPr lang="en-US" sz="2400" b="1" noProof="1">
                <a:solidFill>
                  <a:srgbClr val="F58236"/>
                </a:solidFill>
                <a:latin typeface="MiSans"/>
                <a:ea typeface="MiSans"/>
              </a:rPr>
              <a:t> ms</a:t>
            </a:r>
            <a:endParaRPr lang="en-US" sz="1600" noProof="1"/>
          </a:p>
        </p:txBody>
      </p:sp>
      <p:sp>
        <p:nvSpPr>
          <p:cNvPr id="97" name="st1-cap"/>
          <p:cNvSpPr txBox="1"/>
          <p:nvPr/>
        </p:nvSpPr>
        <p:spPr>
          <a:xfrm>
            <a:off x="10871200" y="10845800"/>
            <a:ext cx="4927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>
                <a:solidFill>
                  <a:srgbClr val="4A5B7C"/>
                </a:solidFill>
                <a:latin typeface="MiSans"/>
                <a:ea typeface="MiSans"/>
              </a:rPr>
              <a:t>单窗口处理耗时</a:t>
            </a:r>
            <a:endParaRPr lang="en-US" sz="1800" noProof="1"/>
          </a:p>
        </p:txBody>
      </p:sp>
      <p:sp>
        <p:nvSpPr>
          <p:cNvPr id="98" name="st2"/>
          <p:cNvSpPr/>
          <p:nvPr/>
        </p:nvSpPr>
        <p:spPr>
          <a:xfrm>
            <a:off x="16002000" y="9677400"/>
            <a:ext cx="4927600" cy="180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99" name="st2-num"/>
          <p:cNvSpPr txBox="1"/>
          <p:nvPr/>
        </p:nvSpPr>
        <p:spPr>
          <a:xfrm>
            <a:off x="16002000" y="9880600"/>
            <a:ext cx="49276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800" b="1" noProof="1">
                <a:solidFill>
                  <a:srgbClr val="F58236"/>
                </a:solidFill>
                <a:latin typeface="MiSans"/>
                <a:ea typeface="MiSans"/>
              </a:rPr>
              <a:t>≈6.4</a:t>
            </a:r>
            <a:r>
              <a:rPr lang="en-US" sz="2400" b="1" noProof="1">
                <a:solidFill>
                  <a:srgbClr val="F58236"/>
                </a:solidFill>
                <a:latin typeface="MiSans"/>
                <a:ea typeface="MiSans"/>
              </a:rPr>
              <a:t>FPS</a:t>
            </a:r>
            <a:endParaRPr lang="en-US" sz="1600" noProof="1"/>
          </a:p>
        </p:txBody>
      </p:sp>
      <p:sp>
        <p:nvSpPr>
          <p:cNvPr id="100" name="st2-cap"/>
          <p:cNvSpPr txBox="1"/>
          <p:nvPr/>
        </p:nvSpPr>
        <p:spPr>
          <a:xfrm>
            <a:off x="16002000" y="10845800"/>
            <a:ext cx="4927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>
                <a:solidFill>
                  <a:srgbClr val="4A5B7C"/>
                </a:solidFill>
                <a:latin typeface="MiSans"/>
                <a:ea typeface="MiSans"/>
              </a:rPr>
              <a:t>端到端呈现帧率（历史板测）</a:t>
            </a:r>
            <a:endParaRPr lang="en-US" sz="1800" noProof="1"/>
          </a:p>
        </p:txBody>
      </p:sp>
      <p:pic>
        <p:nvPicPr>
          <p:cNvPr id="107" name="图片 106">
            <a:extLst>
              <a:ext uri="{FF2B5EF4-FFF2-40B4-BE49-F238E27FC236}">
                <a16:creationId xmlns:a16="http://schemas.microsoft.com/office/drawing/2014/main" id="{A031E6D5-D7DA-5C75-8955-3DBF18722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917388"/>
            <a:ext cx="13231318" cy="57015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1F6FE"/>
            </a:gs>
            <a:gs pos="100000">
              <a:srgbClr val="FFFF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dge"/>
          <p:cNvSpPr/>
          <p:nvPr/>
        </p:nvSpPr>
        <p:spPr>
          <a:xfrm>
            <a:off x="101600" y="177800"/>
            <a:ext cx="1422400" cy="1117600"/>
          </a:xfrm>
          <a:prstGeom prst="roundRect">
            <a:avLst>
              <a:gd name="adj" fmla="val 14000"/>
            </a:avLst>
          </a:prstGeom>
          <a:solidFill>
            <a:srgbClr val="0A1030"/>
          </a:solidFill>
          <a:ln>
            <a:noFill/>
          </a:ln>
        </p:spPr>
      </p:sp>
      <p:sp>
        <p:nvSpPr>
          <p:cNvPr id="3" name="hdr-badge-num"/>
          <p:cNvSpPr txBox="1"/>
          <p:nvPr/>
        </p:nvSpPr>
        <p:spPr>
          <a:xfrm>
            <a:off x="101600" y="177800"/>
            <a:ext cx="1422400" cy="111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000" b="1" noProof="1">
                <a:solidFill>
                  <a:srgbClr val="FFFFFF"/>
                </a:solidFill>
                <a:latin typeface="MiSans"/>
                <a:ea typeface="MiSans"/>
              </a:rPr>
              <a:t>04</a:t>
            </a:r>
            <a:endParaRPr lang="en-US" sz="5000" noProof="1"/>
          </a:p>
        </p:txBody>
      </p:sp>
      <p:sp>
        <p:nvSpPr>
          <p:cNvPr id="4" name="hdr-conn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eyJ2aWV3Qm94IjpbMTgsNF0sInBvaW50cyI6IjAsMiAxOCwyIn0</pptd:line>
              </p:ext>
            </p:extLst>
          </p:nvPr>
        </p:nvSpPr>
        <p:spPr>
          <a:xfrm>
            <a:off x="1549400" y="723900"/>
            <a:ext cx="228600" cy="50800"/>
          </a:xfrm>
          <a:custGeom>
            <a:avLst/>
            <a:gdLst/>
            <a:ahLst/>
            <a:cxnLst/>
            <a:rect l="l" t="t" r="r" b="b"/>
            <a:pathLst>
              <a:path w="18" h="4">
                <a:moveTo>
                  <a:pt x="0" y="2"/>
                </a:moveTo>
                <a:lnTo>
                  <a:pt x="18" y="2"/>
                </a:lnTo>
              </a:path>
            </a:pathLst>
          </a:custGeom>
          <a:noFill/>
          <a:ln w="25400" cap="rnd">
            <a:solidFill>
              <a:srgbClr val="0A1030"/>
            </a:solidFill>
            <a:round/>
          </a:ln>
        </p:spPr>
      </p:sp>
      <p:sp>
        <p:nvSpPr>
          <p:cNvPr id="5" name="hdr-dot"/>
          <p:cNvSpPr/>
          <p:nvPr/>
        </p:nvSpPr>
        <p:spPr>
          <a:xfrm>
            <a:off x="1727200" y="673100"/>
            <a:ext cx="127000" cy="127000"/>
          </a:xfrm>
          <a:prstGeom prst="ellipse">
            <a:avLst/>
          </a:prstGeom>
          <a:solidFill>
            <a:srgbClr val="0A1030"/>
          </a:solidFill>
          <a:ln>
            <a:noFill/>
          </a:ln>
        </p:spPr>
      </p:sp>
      <p:sp>
        <p:nvSpPr>
          <p:cNvPr id="6" name="hdr-pill"/>
          <p:cNvSpPr/>
          <p:nvPr/>
        </p:nvSpPr>
        <p:spPr>
          <a:xfrm>
            <a:off x="1879600" y="342900"/>
            <a:ext cx="2540000" cy="6096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7" name="hdr-pill-text"/>
          <p:cNvSpPr txBox="1"/>
          <p:nvPr/>
        </p:nvSpPr>
        <p:spPr>
          <a:xfrm>
            <a:off x="1879600" y="342900"/>
            <a:ext cx="2540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noProof="1">
                <a:solidFill>
                  <a:srgbClr val="FFFFFF"/>
                </a:solidFill>
                <a:latin typeface="MiSans"/>
                <a:ea typeface="MiSans"/>
              </a:rPr>
              <a:t>数据集构建</a:t>
            </a:r>
            <a:endParaRPr lang="en-US" sz="2600" noProof="1"/>
          </a:p>
        </p:txBody>
      </p:sp>
      <p:sp>
        <p:nvSpPr>
          <p:cNvPr id="8" name="deco-chip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19761200" y="203200"/>
            <a:ext cx="1168400" cy="1168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D4E3FA"/>
          </a:solidFill>
          <a:ln>
            <a:noFill/>
          </a:ln>
        </p:spPr>
      </p:sp>
      <p:sp>
        <p:nvSpPr>
          <p:cNvPr id="9" name="main-title"/>
          <p:cNvSpPr txBox="1"/>
          <p:nvPr/>
        </p:nvSpPr>
        <p:spPr>
          <a:xfrm>
            <a:off x="2997200" y="1066800"/>
            <a:ext cx="15240000" cy="101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b="1" noProof="1">
                <a:solidFill>
                  <a:srgbClr val="10183F"/>
                </a:solidFill>
                <a:latin typeface="MiSans"/>
                <a:ea typeface="MiSans"/>
              </a:rPr>
              <a:t>自建数据集：四类目标实物与实测射频指纹</a:t>
            </a:r>
            <a:endParaRPr lang="en-US" sz="6000" noProof="1"/>
          </a:p>
        </p:txBody>
      </p:sp>
      <p:sp>
        <p:nvSpPr>
          <p:cNvPr id="10" name="sub-title"/>
          <p:cNvSpPr txBox="1"/>
          <p:nvPr/>
        </p:nvSpPr>
        <p:spPr>
          <a:xfrm>
            <a:off x="4267200" y="2057400"/>
            <a:ext cx="1270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700" b="1" noProof="1">
                <a:solidFill>
                  <a:srgbClr val="2B3E6E"/>
                </a:solidFill>
                <a:latin typeface="MiSans"/>
                <a:ea typeface="MiSans"/>
              </a:rPr>
              <a:t>DroneRFa方法启发 · 实物与实测纹理一一对应 · 与硬件同域采集</a:t>
            </a:r>
            <a:endParaRPr lang="en-US" sz="2700" noProof="1"/>
          </a:p>
        </p:txBody>
      </p:sp>
      <p:sp>
        <p:nvSpPr>
          <p:cNvPr id="11" name="t1"/>
          <p:cNvSpPr/>
          <p:nvPr/>
        </p:nvSpPr>
        <p:spPr>
          <a:xfrm>
            <a:off x="228600" y="2451100"/>
            <a:ext cx="5435600" cy="59563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12" name="t1-head"/>
          <p:cNvSpPr txBox="1"/>
          <p:nvPr/>
        </p:nvSpPr>
        <p:spPr>
          <a:xfrm>
            <a:off x="228600" y="2590800"/>
            <a:ext cx="5435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noProof="1">
                <a:solidFill>
                  <a:srgbClr val="10183F"/>
                </a:solidFill>
                <a:latin typeface="MiSans"/>
                <a:ea typeface="MiSans"/>
              </a:rPr>
              <a:t>【大疆 MINI 3 PRO】</a:t>
            </a:r>
            <a:endParaRPr lang="en-US" sz="2600" noProof="1"/>
          </a:p>
        </p:txBody>
      </p:sp>
      <p:sp>
        <p:nvSpPr>
          <p:cNvPr id="14" name="t1-pill"/>
          <p:cNvSpPr/>
          <p:nvPr/>
        </p:nvSpPr>
        <p:spPr>
          <a:xfrm>
            <a:off x="1219200" y="5943600"/>
            <a:ext cx="3454400" cy="5334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15" name="t1-pill-t"/>
          <p:cNvSpPr txBox="1"/>
          <p:nvPr/>
        </p:nvSpPr>
        <p:spPr>
          <a:xfrm>
            <a:off x="1219200" y="5943600"/>
            <a:ext cx="34544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noProof="1">
                <a:solidFill>
                  <a:srgbClr val="FFFFFF"/>
                </a:solidFill>
                <a:latin typeface="MiSans"/>
                <a:ea typeface="MiSans"/>
              </a:rPr>
              <a:t>OFDM图传+跳频遥控</a:t>
            </a:r>
            <a:endParaRPr lang="en-US" sz="2200" noProof="1"/>
          </a:p>
        </p:txBody>
      </p:sp>
      <p:sp>
        <p:nvSpPr>
          <p:cNvPr id="18" name="t2"/>
          <p:cNvSpPr/>
          <p:nvPr/>
        </p:nvSpPr>
        <p:spPr>
          <a:xfrm>
            <a:off x="5842000" y="2565400"/>
            <a:ext cx="4800600" cy="584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19" name="t2-head"/>
          <p:cNvSpPr txBox="1"/>
          <p:nvPr/>
        </p:nvSpPr>
        <p:spPr>
          <a:xfrm>
            <a:off x="5842000" y="2590800"/>
            <a:ext cx="4800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noProof="1">
                <a:solidFill>
                  <a:srgbClr val="10183F"/>
                </a:solidFill>
                <a:latin typeface="MiSans"/>
                <a:ea typeface="MiSans"/>
              </a:rPr>
              <a:t>【乐迪 AT9S】</a:t>
            </a:r>
            <a:endParaRPr lang="en-US" sz="2600" noProof="1"/>
          </a:p>
        </p:txBody>
      </p:sp>
      <p:sp>
        <p:nvSpPr>
          <p:cNvPr id="21" name="t2-pill"/>
          <p:cNvSpPr/>
          <p:nvPr/>
        </p:nvSpPr>
        <p:spPr>
          <a:xfrm>
            <a:off x="6718300" y="5943600"/>
            <a:ext cx="3048000" cy="5334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22" name="t2-pill-t"/>
          <p:cNvSpPr txBox="1"/>
          <p:nvPr/>
        </p:nvSpPr>
        <p:spPr>
          <a:xfrm>
            <a:off x="6718300" y="59436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noProof="1">
                <a:solidFill>
                  <a:srgbClr val="FFFFFF"/>
                </a:solidFill>
                <a:latin typeface="MiSans"/>
                <a:ea typeface="MiSans"/>
              </a:rPr>
              <a:t>FHSS+DSSS</a:t>
            </a:r>
            <a:endParaRPr lang="en-US" sz="2200" noProof="1"/>
          </a:p>
        </p:txBody>
      </p:sp>
      <p:sp>
        <p:nvSpPr>
          <p:cNvPr id="24" name="t3"/>
          <p:cNvSpPr/>
          <p:nvPr/>
        </p:nvSpPr>
        <p:spPr>
          <a:xfrm>
            <a:off x="10947400" y="2565400"/>
            <a:ext cx="4521200" cy="584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25" name="t3-head"/>
          <p:cNvSpPr txBox="1"/>
          <p:nvPr/>
        </p:nvSpPr>
        <p:spPr>
          <a:xfrm>
            <a:off x="10947400" y="2590800"/>
            <a:ext cx="45212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noProof="1">
                <a:solidFill>
                  <a:srgbClr val="10183F"/>
                </a:solidFill>
                <a:latin typeface="MiSans"/>
                <a:ea typeface="MiSans"/>
              </a:rPr>
              <a:t>【云卓 T12】</a:t>
            </a:r>
            <a:endParaRPr lang="en-US" sz="2600" noProof="1"/>
          </a:p>
        </p:txBody>
      </p:sp>
      <p:sp>
        <p:nvSpPr>
          <p:cNvPr id="27" name="t3-pill"/>
          <p:cNvSpPr/>
          <p:nvPr/>
        </p:nvSpPr>
        <p:spPr>
          <a:xfrm>
            <a:off x="12217400" y="5943600"/>
            <a:ext cx="2032000" cy="5334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28" name="t3-pill-t"/>
          <p:cNvSpPr txBox="1"/>
          <p:nvPr/>
        </p:nvSpPr>
        <p:spPr>
          <a:xfrm>
            <a:off x="12217400" y="5943600"/>
            <a:ext cx="2032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noProof="1">
                <a:solidFill>
                  <a:srgbClr val="FFFFFF"/>
                </a:solidFill>
                <a:latin typeface="MiSans"/>
                <a:ea typeface="MiSans"/>
              </a:rPr>
              <a:t>DSSS</a:t>
            </a:r>
            <a:endParaRPr lang="en-US" sz="2200" noProof="1"/>
          </a:p>
        </p:txBody>
      </p:sp>
      <p:sp>
        <p:nvSpPr>
          <p:cNvPr id="30" name="t4"/>
          <p:cNvSpPr/>
          <p:nvPr/>
        </p:nvSpPr>
        <p:spPr>
          <a:xfrm>
            <a:off x="15697200" y="2565400"/>
            <a:ext cx="5295900" cy="584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31" name="t4-head"/>
          <p:cNvSpPr txBox="1"/>
          <p:nvPr/>
        </p:nvSpPr>
        <p:spPr>
          <a:xfrm>
            <a:off x="15697200" y="2590800"/>
            <a:ext cx="52959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noProof="1">
                <a:solidFill>
                  <a:srgbClr val="10183F"/>
                </a:solidFill>
                <a:latin typeface="MiSans"/>
                <a:ea typeface="MiSans"/>
              </a:rPr>
              <a:t>【小霸王】</a:t>
            </a:r>
            <a:endParaRPr lang="en-US" sz="2600" noProof="1"/>
          </a:p>
        </p:txBody>
      </p:sp>
      <p:sp>
        <p:nvSpPr>
          <p:cNvPr id="33" name="t4-pill"/>
          <p:cNvSpPr/>
          <p:nvPr/>
        </p:nvSpPr>
        <p:spPr>
          <a:xfrm>
            <a:off x="16891000" y="5943600"/>
            <a:ext cx="2794000" cy="5334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34" name="t4-pill-t"/>
          <p:cNvSpPr txBox="1"/>
          <p:nvPr/>
        </p:nvSpPr>
        <p:spPr>
          <a:xfrm>
            <a:off x="16891000" y="5943600"/>
            <a:ext cx="2794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noProof="1">
                <a:solidFill>
                  <a:srgbClr val="FFFFFF"/>
                </a:solidFill>
                <a:latin typeface="MiSans"/>
                <a:ea typeface="MiSans"/>
              </a:rPr>
              <a:t>2.4GHz跳频</a:t>
            </a:r>
            <a:endParaRPr lang="en-US" sz="2200" noProof="1"/>
          </a:p>
        </p:txBody>
      </p:sp>
      <p:sp>
        <p:nvSpPr>
          <p:cNvPr id="37" name="ds-head"/>
          <p:cNvSpPr txBox="1"/>
          <p:nvPr/>
        </p:nvSpPr>
        <p:spPr>
          <a:xfrm>
            <a:off x="508000" y="8813800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 noProof="1">
                <a:solidFill>
                  <a:srgbClr val="10183F"/>
                </a:solidFill>
                <a:latin typeface="MiSans"/>
                <a:ea typeface="MiSans"/>
              </a:rPr>
              <a:t>【数据规模与质量】</a:t>
            </a:r>
            <a:endParaRPr lang="en-US" sz="2600" noProof="1"/>
          </a:p>
        </p:txBody>
      </p:sp>
      <p:sp>
        <p:nvSpPr>
          <p:cNvPr id="38" name="ds-s0-num"/>
          <p:cNvSpPr txBox="1"/>
          <p:nvPr/>
        </p:nvSpPr>
        <p:spPr>
          <a:xfrm>
            <a:off x="508000" y="9347200"/>
            <a:ext cx="33782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noProof="1">
                <a:solidFill>
                  <a:srgbClr val="0A56E7"/>
                </a:solidFill>
                <a:latin typeface="MiSans"/>
                <a:ea typeface="MiSans"/>
              </a:rPr>
              <a:t>≈60800</a:t>
            </a:r>
            <a:endParaRPr lang="en-US" sz="1600" noProof="1"/>
          </a:p>
        </p:txBody>
      </p:sp>
      <p:sp>
        <p:nvSpPr>
          <p:cNvPr id="39" name="ds-s0-cap"/>
          <p:cNvSpPr txBox="1"/>
          <p:nvPr/>
        </p:nvSpPr>
        <p:spPr>
          <a:xfrm>
            <a:off x="508000" y="10160000"/>
            <a:ext cx="3378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noProof="1">
                <a:solidFill>
                  <a:srgbClr val="1F2A44"/>
                </a:solidFill>
                <a:latin typeface="MiSans"/>
                <a:ea typeface="MiSans"/>
              </a:rPr>
              <a:t>样本数</a:t>
            </a:r>
            <a:endParaRPr lang="en-US" sz="1800" noProof="1"/>
          </a:p>
        </p:txBody>
      </p:sp>
      <p:sp>
        <p:nvSpPr>
          <p:cNvPr id="40" name="ds-s1-num"/>
          <p:cNvSpPr txBox="1"/>
          <p:nvPr/>
        </p:nvSpPr>
        <p:spPr>
          <a:xfrm>
            <a:off x="4191000" y="9347200"/>
            <a:ext cx="33782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b="1" noProof="1">
                <a:solidFill>
                  <a:srgbClr val="0A56E7"/>
                </a:solidFill>
                <a:latin typeface="MiSans"/>
                <a:ea typeface="MiSans"/>
              </a:rPr>
              <a:t>147.84</a:t>
            </a:r>
            <a:r>
              <a:rPr lang="en-US" sz="2200" b="1" noProof="1">
                <a:solidFill>
                  <a:srgbClr val="0A56E7"/>
                </a:solidFill>
                <a:latin typeface="MiSans"/>
                <a:ea typeface="MiSans"/>
              </a:rPr>
              <a:t> GB</a:t>
            </a:r>
            <a:endParaRPr lang="en-US" sz="1600" noProof="1"/>
          </a:p>
        </p:txBody>
      </p:sp>
      <p:sp>
        <p:nvSpPr>
          <p:cNvPr id="41" name="ds-s1-cap"/>
          <p:cNvSpPr txBox="1"/>
          <p:nvPr/>
        </p:nvSpPr>
        <p:spPr>
          <a:xfrm>
            <a:off x="4191000" y="10160000"/>
            <a:ext cx="3378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可追溯原始IQ · 6,160段</a:t>
            </a:r>
            <a:endParaRPr lang="en-US" sz="1800" noProof="1"/>
          </a:p>
        </p:txBody>
      </p:sp>
      <p:sp>
        <p:nvSpPr>
          <p:cNvPr id="46" name="ds-div306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eyJ2aWV3Qm94IjpbMiw2MF0sInBvaW50cyI6IjEsMCAxLDYwIn0</pptd:line>
              </p:ext>
            </p:extLst>
          </p:nvPr>
        </p:nvSpPr>
        <p:spPr>
          <a:xfrm>
            <a:off x="3886200" y="9423400"/>
            <a:ext cx="25400" cy="762000"/>
          </a:xfrm>
          <a:custGeom>
            <a:avLst/>
            <a:gdLst/>
            <a:ahLst/>
            <a:cxnLst/>
            <a:rect l="l" t="t" r="r" b="b"/>
            <a:pathLst>
              <a:path w="2" h="60">
                <a:moveTo>
                  <a:pt x="1" y="0"/>
                </a:moveTo>
                <a:lnTo>
                  <a:pt x="1" y="60"/>
                </a:lnTo>
              </a:path>
            </a:pathLst>
          </a:custGeom>
          <a:noFill/>
          <a:ln w="12700" cap="rnd">
            <a:solidFill>
              <a:srgbClr val="D8E3F2"/>
            </a:solidFill>
            <a:round/>
          </a:ln>
        </p:spPr>
      </p:sp>
      <p:sp>
        <p:nvSpPr>
          <p:cNvPr id="49" name="ds-tag0"/>
          <p:cNvSpPr/>
          <p:nvPr/>
        </p:nvSpPr>
        <p:spPr>
          <a:xfrm>
            <a:off x="508000" y="10769600"/>
            <a:ext cx="3251200" cy="711200"/>
          </a:xfrm>
          <a:prstGeom prst="roundRect">
            <a:avLst>
              <a:gd name="adj" fmla="val 16000"/>
            </a:avLst>
          </a:prstGeom>
          <a:solidFill>
            <a:srgbClr val="F7FBFF"/>
          </a:solidFill>
          <a:ln w="12700">
            <a:solidFill>
              <a:srgbClr val="B9D2F2"/>
            </a:solidFill>
          </a:ln>
        </p:spPr>
      </p:sp>
      <p:sp>
        <p:nvSpPr>
          <p:cNvPr id="50" name="ds-tag0-icon"/>
          <p:cNvSpPr/>
          <p:nvPr/>
        </p:nvSpPr>
        <p:spPr>
          <a:xfrm>
            <a:off x="787400" y="1094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8" h="48">
                <a:moveTo>
                  <a:pt x="10" y="3"/>
                </a:moveTo>
                <a:cubicBezTo>
                  <a:pt x="14" y="3"/>
                  <a:pt x="17" y="6"/>
                  <a:pt x="17" y="10"/>
                </a:cubicBezTo>
                <a:cubicBezTo>
                  <a:pt x="17" y="14"/>
                  <a:pt x="14" y="17"/>
                  <a:pt x="10" y="17"/>
                </a:cubicBezTo>
                <a:cubicBezTo>
                  <a:pt x="6" y="17"/>
                  <a:pt x="3" y="14"/>
                  <a:pt x="3" y="10"/>
                </a:cubicBezTo>
                <a:cubicBezTo>
                  <a:pt x="3" y="6"/>
                  <a:pt x="6" y="3"/>
                  <a:pt x="10" y="3"/>
                </a:cubicBezTo>
                <a:close/>
              </a:path>
              <a:path w="48" h="48">
                <a:moveTo>
                  <a:pt x="38" y="3"/>
                </a:moveTo>
                <a:cubicBezTo>
                  <a:pt x="42" y="3"/>
                  <a:pt x="45" y="6"/>
                  <a:pt x="45" y="10"/>
                </a:cubicBezTo>
                <a:cubicBezTo>
                  <a:pt x="45" y="14"/>
                  <a:pt x="42" y="17"/>
                  <a:pt x="38" y="17"/>
                </a:cubicBezTo>
                <a:cubicBezTo>
                  <a:pt x="34" y="17"/>
                  <a:pt x="31" y="14"/>
                  <a:pt x="31" y="10"/>
                </a:cubicBezTo>
                <a:cubicBezTo>
                  <a:pt x="31" y="6"/>
                  <a:pt x="34" y="3"/>
                  <a:pt x="38" y="3"/>
                </a:cubicBezTo>
                <a:close/>
              </a:path>
              <a:path w="48" h="48">
                <a:moveTo>
                  <a:pt x="10" y="31"/>
                </a:moveTo>
                <a:cubicBezTo>
                  <a:pt x="14" y="31"/>
                  <a:pt x="17" y="34"/>
                  <a:pt x="17" y="38"/>
                </a:cubicBezTo>
                <a:cubicBezTo>
                  <a:pt x="17" y="42"/>
                  <a:pt x="14" y="45"/>
                  <a:pt x="10" y="45"/>
                </a:cubicBezTo>
                <a:cubicBezTo>
                  <a:pt x="6" y="45"/>
                  <a:pt x="3" y="42"/>
                  <a:pt x="3" y="38"/>
                </a:cubicBezTo>
                <a:cubicBezTo>
                  <a:pt x="3" y="34"/>
                  <a:pt x="6" y="31"/>
                  <a:pt x="10" y="31"/>
                </a:cubicBezTo>
                <a:close/>
              </a:path>
              <a:path w="48" h="48">
                <a:moveTo>
                  <a:pt x="38" y="31"/>
                </a:moveTo>
                <a:cubicBezTo>
                  <a:pt x="42" y="31"/>
                  <a:pt x="45" y="34"/>
                  <a:pt x="45" y="38"/>
                </a:cubicBezTo>
                <a:cubicBezTo>
                  <a:pt x="45" y="42"/>
                  <a:pt x="42" y="45"/>
                  <a:pt x="38" y="45"/>
                </a:cubicBezTo>
                <a:cubicBezTo>
                  <a:pt x="34" y="45"/>
                  <a:pt x="31" y="42"/>
                  <a:pt x="31" y="38"/>
                </a:cubicBezTo>
                <a:cubicBezTo>
                  <a:pt x="31" y="34"/>
                  <a:pt x="34" y="31"/>
                  <a:pt x="38" y="31"/>
                </a:cubicBezTo>
                <a:close/>
              </a:path>
              <a:path w="48" h="48">
                <a:moveTo>
                  <a:pt x="24" y="17"/>
                </a:moveTo>
                <a:cubicBezTo>
                  <a:pt x="28" y="17"/>
                  <a:pt x="31" y="20"/>
                  <a:pt x="31" y="24"/>
                </a:cubicBezTo>
                <a:cubicBezTo>
                  <a:pt x="31" y="28"/>
                  <a:pt x="28" y="31"/>
                  <a:pt x="24" y="31"/>
                </a:cubicBezTo>
                <a:cubicBezTo>
                  <a:pt x="20" y="31"/>
                  <a:pt x="17" y="28"/>
                  <a:pt x="17" y="24"/>
                </a:cubicBezTo>
                <a:cubicBezTo>
                  <a:pt x="17" y="20"/>
                  <a:pt x="20" y="17"/>
                  <a:pt x="24" y="17"/>
                </a:cubicBezTo>
                <a:close/>
              </a:path>
              <a:path w="48" h="48">
                <a:moveTo>
                  <a:pt x="12" y="12"/>
                </a:moveTo>
                <a:lnTo>
                  <a:pt x="23" y="23"/>
                </a:lnTo>
                <a:lnTo>
                  <a:pt x="20" y="26"/>
                </a:lnTo>
                <a:lnTo>
                  <a:pt x="9" y="15"/>
                </a:lnTo>
                <a:close/>
              </a:path>
              <a:path w="48" h="48">
                <a:moveTo>
                  <a:pt x="36" y="12"/>
                </a:moveTo>
                <a:lnTo>
                  <a:pt x="25" y="23"/>
                </a:lnTo>
                <a:lnTo>
                  <a:pt x="28" y="26"/>
                </a:lnTo>
                <a:lnTo>
                  <a:pt x="39" y="15"/>
                </a:lnTo>
                <a:close/>
              </a:path>
              <a:path w="48" h="48">
                <a:moveTo>
                  <a:pt x="12" y="36"/>
                </a:moveTo>
                <a:lnTo>
                  <a:pt x="23" y="25"/>
                </a:lnTo>
                <a:lnTo>
                  <a:pt x="20" y="22"/>
                </a:lnTo>
                <a:lnTo>
                  <a:pt x="9" y="33"/>
                </a:lnTo>
                <a:close/>
              </a:path>
              <a:path w="48" h="48">
                <a:moveTo>
                  <a:pt x="36" y="36"/>
                </a:moveTo>
                <a:lnTo>
                  <a:pt x="25" y="25"/>
                </a:lnTo>
                <a:lnTo>
                  <a:pt x="28" y="22"/>
                </a:lnTo>
                <a:lnTo>
                  <a:pt x="39" y="33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51" name="ds-tag0-t"/>
          <p:cNvSpPr txBox="1"/>
          <p:nvPr/>
        </p:nvSpPr>
        <p:spPr>
          <a:xfrm>
            <a:off x="1295400" y="107696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0A56E7"/>
                </a:solidFill>
                <a:latin typeface="MiSans"/>
                <a:ea typeface="MiSans"/>
              </a:rPr>
              <a:t>单设备3,400</a:t>
            </a:r>
            <a:endParaRPr lang="en-US" sz="2000" noProof="1"/>
          </a:p>
        </p:txBody>
      </p:sp>
      <p:sp>
        <p:nvSpPr>
          <p:cNvPr id="52" name="ds-tag1"/>
          <p:cNvSpPr/>
          <p:nvPr/>
        </p:nvSpPr>
        <p:spPr>
          <a:xfrm>
            <a:off x="4038600" y="10769600"/>
            <a:ext cx="3251200" cy="711200"/>
          </a:xfrm>
          <a:prstGeom prst="roundRect">
            <a:avLst>
              <a:gd name="adj" fmla="val 16000"/>
            </a:avLst>
          </a:prstGeom>
          <a:solidFill>
            <a:srgbClr val="F7FBFF"/>
          </a:solidFill>
          <a:ln w="12700">
            <a:solidFill>
              <a:srgbClr val="B9D2F2"/>
            </a:solidFill>
          </a:ln>
        </p:spPr>
      </p:sp>
      <p:sp>
        <p:nvSpPr>
          <p:cNvPr id="53" name="ds-tag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eyJpY29uTmFtZSI6ImZhczpsaW5rIn0</pptd:icon>
              </p:ext>
            </p:extLst>
          </p:nvPr>
        </p:nvSpPr>
        <p:spPr>
          <a:xfrm>
            <a:off x="4318000" y="10947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20" y="96"/>
                </a:moveTo>
                <a:cubicBezTo>
                  <a:pt x="403" y="96"/>
                  <a:pt x="387" y="101"/>
                  <a:pt x="373" y="109"/>
                </a:cubicBezTo>
                <a:cubicBezTo>
                  <a:pt x="357" y="93"/>
                  <a:pt x="339" y="79"/>
                  <a:pt x="318" y="69"/>
                </a:cubicBezTo>
                <a:cubicBezTo>
                  <a:pt x="346" y="45"/>
                  <a:pt x="382" y="32"/>
                  <a:pt x="420" y="32"/>
                </a:cubicBezTo>
                <a:cubicBezTo>
                  <a:pt x="506" y="32"/>
                  <a:pt x="576" y="102"/>
                  <a:pt x="576" y="189"/>
                </a:cubicBezTo>
                <a:cubicBezTo>
                  <a:pt x="576" y="230"/>
                  <a:pt x="560" y="270"/>
                  <a:pt x="530" y="299"/>
                </a:cubicBezTo>
                <a:lnTo>
                  <a:pt x="459" y="370"/>
                </a:lnTo>
                <a:cubicBezTo>
                  <a:pt x="430" y="400"/>
                  <a:pt x="390" y="416"/>
                  <a:pt x="349" y="416"/>
                </a:cubicBezTo>
                <a:cubicBezTo>
                  <a:pt x="262" y="416"/>
                  <a:pt x="192" y="346"/>
                  <a:pt x="192" y="260"/>
                </a:cubicBezTo>
                <a:cubicBezTo>
                  <a:pt x="192" y="258"/>
                  <a:pt x="192" y="257"/>
                  <a:pt x="192" y="255"/>
                </a:cubicBezTo>
                <a:cubicBezTo>
                  <a:pt x="193" y="237"/>
                  <a:pt x="207" y="223"/>
                  <a:pt x="225" y="224"/>
                </a:cubicBezTo>
                <a:cubicBezTo>
                  <a:pt x="243" y="224"/>
                  <a:pt x="257" y="239"/>
                  <a:pt x="256" y="257"/>
                </a:cubicBezTo>
                <a:cubicBezTo>
                  <a:pt x="256" y="258"/>
                  <a:pt x="256" y="259"/>
                  <a:pt x="256" y="259"/>
                </a:cubicBezTo>
                <a:cubicBezTo>
                  <a:pt x="256" y="311"/>
                  <a:pt x="298" y="352"/>
                  <a:pt x="349" y="352"/>
                </a:cubicBezTo>
                <a:cubicBezTo>
                  <a:pt x="373" y="352"/>
                  <a:pt x="397" y="342"/>
                  <a:pt x="414" y="325"/>
                </a:cubicBezTo>
                <a:lnTo>
                  <a:pt x="485" y="254"/>
                </a:lnTo>
                <a:cubicBezTo>
                  <a:pt x="502" y="236"/>
                  <a:pt x="512" y="213"/>
                  <a:pt x="512" y="188"/>
                </a:cubicBezTo>
                <a:cubicBezTo>
                  <a:pt x="512" y="137"/>
                  <a:pt x="471" y="96"/>
                  <a:pt x="420" y="96"/>
                </a:cubicBezTo>
                <a:close/>
                <a:moveTo>
                  <a:pt x="275" y="173"/>
                </a:moveTo>
                <a:cubicBezTo>
                  <a:pt x="273" y="173"/>
                  <a:pt x="271" y="171"/>
                  <a:pt x="270" y="170"/>
                </a:cubicBezTo>
                <a:cubicBezTo>
                  <a:pt x="257" y="164"/>
                  <a:pt x="243" y="160"/>
                  <a:pt x="228" y="160"/>
                </a:cubicBezTo>
                <a:cubicBezTo>
                  <a:pt x="203" y="160"/>
                  <a:pt x="180" y="170"/>
                  <a:pt x="162" y="187"/>
                </a:cubicBezTo>
                <a:lnTo>
                  <a:pt x="91" y="258"/>
                </a:lnTo>
                <a:cubicBezTo>
                  <a:pt x="74" y="276"/>
                  <a:pt x="64" y="299"/>
                  <a:pt x="64" y="324"/>
                </a:cubicBezTo>
                <a:cubicBezTo>
                  <a:pt x="64" y="375"/>
                  <a:pt x="105" y="416"/>
                  <a:pt x="157" y="416"/>
                </a:cubicBezTo>
                <a:cubicBezTo>
                  <a:pt x="173" y="416"/>
                  <a:pt x="189" y="412"/>
                  <a:pt x="203" y="404"/>
                </a:cubicBezTo>
                <a:cubicBezTo>
                  <a:pt x="219" y="420"/>
                  <a:pt x="237" y="433"/>
                  <a:pt x="258" y="443"/>
                </a:cubicBezTo>
                <a:cubicBezTo>
                  <a:pt x="230" y="467"/>
                  <a:pt x="194" y="480"/>
                  <a:pt x="157" y="480"/>
                </a:cubicBezTo>
                <a:cubicBezTo>
                  <a:pt x="70" y="480"/>
                  <a:pt x="0" y="410"/>
                  <a:pt x="0" y="324"/>
                </a:cubicBezTo>
                <a:cubicBezTo>
                  <a:pt x="0" y="282"/>
                  <a:pt x="17" y="242"/>
                  <a:pt x="46" y="213"/>
                </a:cubicBezTo>
                <a:lnTo>
                  <a:pt x="117" y="142"/>
                </a:lnTo>
                <a:cubicBezTo>
                  <a:pt x="146" y="113"/>
                  <a:pt x="186" y="96"/>
                  <a:pt x="228" y="96"/>
                </a:cubicBezTo>
                <a:cubicBezTo>
                  <a:pt x="314" y="96"/>
                  <a:pt x="384" y="167"/>
                  <a:pt x="384" y="253"/>
                </a:cubicBezTo>
                <a:cubicBezTo>
                  <a:pt x="384" y="254"/>
                  <a:pt x="384" y="256"/>
                  <a:pt x="384" y="257"/>
                </a:cubicBezTo>
                <a:cubicBezTo>
                  <a:pt x="384" y="275"/>
                  <a:pt x="369" y="289"/>
                  <a:pt x="351" y="288"/>
                </a:cubicBezTo>
                <a:cubicBezTo>
                  <a:pt x="334" y="288"/>
                  <a:pt x="320" y="273"/>
                  <a:pt x="320" y="255"/>
                </a:cubicBezTo>
                <a:cubicBezTo>
                  <a:pt x="320" y="255"/>
                  <a:pt x="320" y="254"/>
                  <a:pt x="320" y="253"/>
                </a:cubicBezTo>
                <a:cubicBezTo>
                  <a:pt x="320" y="219"/>
                  <a:pt x="302" y="190"/>
                  <a:pt x="275" y="173"/>
                </a:cubicBez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54" name="ds-tag1-t"/>
          <p:cNvSpPr txBox="1"/>
          <p:nvPr/>
        </p:nvSpPr>
        <p:spPr>
          <a:xfrm>
            <a:off x="4826000" y="107696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0A56E7"/>
                </a:solidFill>
                <a:latin typeface="MiSans"/>
                <a:ea typeface="MiSans"/>
              </a:rPr>
              <a:t>组合720</a:t>
            </a:r>
            <a:endParaRPr lang="en-US" sz="2000" noProof="1"/>
          </a:p>
        </p:txBody>
      </p:sp>
      <p:sp>
        <p:nvSpPr>
          <p:cNvPr id="61" name="ph"/>
          <p:cNvSpPr/>
          <p:nvPr/>
        </p:nvSpPr>
        <p:spPr>
          <a:xfrm>
            <a:off x="14732000" y="8661400"/>
            <a:ext cx="6197600" cy="193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B9C8DE"/>
            </a:solidFill>
            <a:prstDash val="dash"/>
          </a:ln>
        </p:spPr>
      </p:sp>
      <p:sp>
        <p:nvSpPr>
          <p:cNvPr id="62" name="ph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eyJpY29uTmFtZSI6ImZhczpjYW1lcmEifQ</pptd:icon>
              </p:ext>
            </p:extLst>
          </p:nvPr>
        </p:nvSpPr>
        <p:spPr>
          <a:xfrm>
            <a:off x="17449800" y="90678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9" y="65"/>
                </a:moveTo>
                <a:lnTo>
                  <a:pt x="139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73" y="96"/>
                </a:lnTo>
                <a:lnTo>
                  <a:pt x="363" y="65"/>
                </a:lnTo>
                <a:cubicBezTo>
                  <a:pt x="356" y="45"/>
                  <a:pt x="338" y="32"/>
                  <a:pt x="317" y="32"/>
                </a:cubicBezTo>
                <a:lnTo>
                  <a:pt x="195" y="32"/>
                </a:lnTo>
                <a:cubicBezTo>
                  <a:pt x="174" y="32"/>
                  <a:pt x="156" y="45"/>
                  <a:pt x="149" y="65"/>
                </a:cubicBezTo>
                <a:close/>
                <a:moveTo>
                  <a:pt x="256" y="192"/>
                </a:moveTo>
                <a:cubicBezTo>
                  <a:pt x="309" y="192"/>
                  <a:pt x="352" y="235"/>
                  <a:pt x="352" y="288"/>
                </a:cubicBezTo>
                <a:cubicBezTo>
                  <a:pt x="352" y="341"/>
                  <a:pt x="309" y="384"/>
                  <a:pt x="256" y="384"/>
                </a:cubicBezTo>
                <a:cubicBezTo>
                  <a:pt x="203" y="384"/>
                  <a:pt x="160" y="341"/>
                  <a:pt x="160" y="288"/>
                </a:cubicBezTo>
                <a:cubicBezTo>
                  <a:pt x="160" y="235"/>
                  <a:pt x="203" y="192"/>
                  <a:pt x="256" y="192"/>
                </a:cubicBezTo>
                <a:close/>
              </a:path>
            </a:pathLst>
          </a:custGeom>
          <a:solidFill>
            <a:srgbClr val="8A97A8"/>
          </a:solidFill>
          <a:ln>
            <a:noFill/>
          </a:ln>
        </p:spPr>
      </p:sp>
      <p:sp>
        <p:nvSpPr>
          <p:cNvPr id="63" name="ph-text"/>
          <p:cNvSpPr txBox="1"/>
          <p:nvPr/>
        </p:nvSpPr>
        <p:spPr>
          <a:xfrm>
            <a:off x="14732000" y="9804400"/>
            <a:ext cx="6197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>
                <a:solidFill>
                  <a:srgbClr val="8A97A8"/>
                </a:solidFill>
                <a:latin typeface="MiSans"/>
                <a:ea typeface="MiSans"/>
              </a:rPr>
              <a:t>实际采集现场实拍图（预留位置）</a:t>
            </a:r>
            <a:endParaRPr lang="en-US" sz="2000" noProof="1"/>
          </a:p>
        </p:txBody>
      </p:sp>
      <p:sp>
        <p:nvSpPr>
          <p:cNvPr id="64" name="fn"/>
          <p:cNvSpPr txBox="1"/>
          <p:nvPr/>
        </p:nvSpPr>
        <p:spPr>
          <a:xfrm>
            <a:off x="14732000" y="10744200"/>
            <a:ext cx="6350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7A8699"/>
                </a:solidFill>
                <a:latin typeface="MiSans"/>
                <a:ea typeface="MiSans"/>
              </a:rPr>
              <a:t>*项目目录统计口径，以最终磁盘清单复核为准</a:t>
            </a:r>
            <a:endParaRPr lang="en-US" sz="1400" noProof="1"/>
          </a:p>
          <a:p>
            <a:pPr algn="l">
              <a:lnSpc>
                <a:spcPct val="150000"/>
              </a:lnSpc>
            </a:pPr>
            <a:r>
              <a:rPr lang="en-US" sz="1400" noProof="1">
                <a:solidFill>
                  <a:srgbClr val="7A8699"/>
                </a:solidFill>
                <a:latin typeface="MiSans"/>
                <a:ea typeface="MiSans"/>
              </a:rPr>
              <a:t>方法启发：俞宁宁, 等. DroneRFa: 用于侦测低空无人机的大规模无人机射频信号数据集[J]. 电子与信息学报, 2024, 46(4): 1147-1156</a:t>
            </a:r>
            <a:endParaRPr lang="en-US" sz="1400" noProof="1"/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F45B52BB-F2A1-F9E1-6A1C-A3A0BB9D6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3154185"/>
            <a:ext cx="4183063" cy="2662415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7C777181-6574-5B17-FFB7-CD0B4DE07468}"/>
              </a:ext>
            </a:extLst>
          </p:cNvPr>
          <p:cNvPicPr>
            <a:picLocks/>
          </p:cNvPicPr>
          <p:nvPr/>
        </p:nvPicPr>
        <p:blipFill>
          <a:blip r:embed="rId3"/>
          <a:srcRect l="9783" t="3932" r="11039" b="11583"/>
          <a:stretch/>
        </p:blipFill>
        <p:spPr>
          <a:xfrm>
            <a:off x="7112000" y="3022600"/>
            <a:ext cx="2345336" cy="2895600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B0A62ECF-46FA-0CAE-0618-92BBB95F233A}"/>
              </a:ext>
            </a:extLst>
          </p:cNvPr>
          <p:cNvPicPr>
            <a:picLocks/>
          </p:cNvPicPr>
          <p:nvPr/>
        </p:nvPicPr>
        <p:blipFill>
          <a:blip r:embed="rId4"/>
          <a:srcRect l="3994" t="16911" r="5197" b="18413"/>
          <a:stretch/>
        </p:blipFill>
        <p:spPr>
          <a:xfrm>
            <a:off x="16317001" y="3302000"/>
            <a:ext cx="3941997" cy="2565400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46066C6F-018E-8339-B71A-A11E60CCB17E}"/>
              </a:ext>
            </a:extLst>
          </p:cNvPr>
          <p:cNvPicPr>
            <a:picLocks/>
          </p:cNvPicPr>
          <p:nvPr/>
        </p:nvPicPr>
        <p:blipFill>
          <a:blip r:embed="rId5"/>
          <a:srcRect l="22796" t="19262" r="15303" b="20730"/>
          <a:stretch/>
        </p:blipFill>
        <p:spPr>
          <a:xfrm>
            <a:off x="11634345" y="3022600"/>
            <a:ext cx="3147310" cy="293370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BC672D64-CF1F-CDDD-5DDE-21CAC08E89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00" y="6477001"/>
            <a:ext cx="4775200" cy="1905000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CF6B6931-8A16-3A5D-411A-64A469F232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135" y="6486218"/>
            <a:ext cx="1981200" cy="1906905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1A61A59F-83B6-1353-EA99-E27F4984E6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8478" y="7048500"/>
            <a:ext cx="1484523" cy="1377912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5879123A-59CB-E68D-91DB-F03A1EBDF7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83298" y="7112000"/>
            <a:ext cx="4249404" cy="1283236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5ECD849E-269D-93D6-1ECB-72DC5A8AAA5F}"/>
              </a:ext>
            </a:extLst>
          </p:cNvPr>
          <p:cNvPicPr>
            <a:picLocks/>
          </p:cNvPicPr>
          <p:nvPr/>
        </p:nvPicPr>
        <p:blipFill>
          <a:blip r:embed="rId10"/>
          <a:srcRect t="21850" b="33922"/>
          <a:stretch/>
        </p:blipFill>
        <p:spPr>
          <a:xfrm>
            <a:off x="16509924" y="6680200"/>
            <a:ext cx="3670452" cy="1574800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E2093403-2F8E-8389-0D22-B2995C4401E2}"/>
              </a:ext>
            </a:extLst>
          </p:cNvPr>
          <p:cNvPicPr>
            <a:picLocks/>
          </p:cNvPicPr>
          <p:nvPr/>
        </p:nvPicPr>
        <p:blipFill>
          <a:blip r:embed="rId11"/>
          <a:srcRect t="58980"/>
          <a:stretch/>
        </p:blipFill>
        <p:spPr>
          <a:xfrm>
            <a:off x="14732000" y="8662233"/>
            <a:ext cx="6197600" cy="1957939"/>
          </a:xfrm>
          <a:prstGeom prst="round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83BEAFB7-0270-32E6-A356-340669024012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9042400" y="8512204"/>
            <a:ext cx="5100566" cy="2228792"/>
          </a:xfrm>
          <a:prstGeom prst="roundRect">
            <a:avLst/>
          </a:prstGeom>
        </p:spPr>
      </p:pic>
      <p:sp>
        <p:nvSpPr>
          <p:cNvPr id="87" name="ds-head">
            <a:extLst>
              <a:ext uri="{FF2B5EF4-FFF2-40B4-BE49-F238E27FC236}">
                <a16:creationId xmlns:a16="http://schemas.microsoft.com/office/drawing/2014/main" id="{D14E812F-1403-E7E4-1FC0-6438AC6DD74D}"/>
              </a:ext>
            </a:extLst>
          </p:cNvPr>
          <p:cNvSpPr txBox="1"/>
          <p:nvPr/>
        </p:nvSpPr>
        <p:spPr>
          <a:xfrm>
            <a:off x="10261600" y="10988704"/>
            <a:ext cx="4064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600" b="1" noProof="1">
                <a:solidFill>
                  <a:srgbClr val="10183F"/>
                </a:solidFill>
                <a:latin typeface="MiSans"/>
                <a:ea typeface="MiSans"/>
              </a:rPr>
              <a:t>采集记录和标注上位机</a:t>
            </a:r>
            <a:endParaRPr lang="en-US" sz="26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1F6FE"/>
            </a:gs>
            <a:gs pos="100000">
              <a:srgbClr val="FFFF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dge"/>
          <p:cNvSpPr/>
          <p:nvPr/>
        </p:nvSpPr>
        <p:spPr>
          <a:xfrm>
            <a:off x="101600" y="177800"/>
            <a:ext cx="1422400" cy="1117600"/>
          </a:xfrm>
          <a:prstGeom prst="roundRect">
            <a:avLst>
              <a:gd name="adj" fmla="val 14000"/>
            </a:avLst>
          </a:prstGeom>
          <a:solidFill>
            <a:srgbClr val="0A1030"/>
          </a:solidFill>
          <a:ln>
            <a:noFill/>
          </a:ln>
        </p:spPr>
      </p:sp>
      <p:sp>
        <p:nvSpPr>
          <p:cNvPr id="3" name="hdr-badge-num"/>
          <p:cNvSpPr txBox="1"/>
          <p:nvPr/>
        </p:nvSpPr>
        <p:spPr>
          <a:xfrm>
            <a:off x="101600" y="177800"/>
            <a:ext cx="1422400" cy="111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000" b="1" noProof="1">
                <a:solidFill>
                  <a:srgbClr val="FFFFFF"/>
                </a:solidFill>
                <a:latin typeface="MiSans"/>
                <a:ea typeface="MiSans"/>
              </a:rPr>
              <a:t>05</a:t>
            </a:r>
            <a:endParaRPr lang="en-US" sz="5000" noProof="1"/>
          </a:p>
        </p:txBody>
      </p:sp>
      <p:sp>
        <p:nvSpPr>
          <p:cNvPr id="4" name="hdr-conn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eyJ2aWV3Qm94IjpbMTgsNF0sInBvaW50cyI6IjAsMiAxOCwyIn0</pptd:line>
              </p:ext>
            </p:extLst>
          </p:nvPr>
        </p:nvSpPr>
        <p:spPr>
          <a:xfrm>
            <a:off x="1549400" y="723900"/>
            <a:ext cx="228600" cy="50800"/>
          </a:xfrm>
          <a:custGeom>
            <a:avLst/>
            <a:gdLst/>
            <a:ahLst/>
            <a:cxnLst/>
            <a:rect l="l" t="t" r="r" b="b"/>
            <a:pathLst>
              <a:path w="18" h="4">
                <a:moveTo>
                  <a:pt x="0" y="2"/>
                </a:moveTo>
                <a:lnTo>
                  <a:pt x="18" y="2"/>
                </a:lnTo>
              </a:path>
            </a:pathLst>
          </a:custGeom>
          <a:noFill/>
          <a:ln w="25400" cap="rnd">
            <a:solidFill>
              <a:srgbClr val="0A1030"/>
            </a:solidFill>
            <a:round/>
          </a:ln>
        </p:spPr>
      </p:sp>
      <p:sp>
        <p:nvSpPr>
          <p:cNvPr id="5" name="hdr-dot"/>
          <p:cNvSpPr/>
          <p:nvPr/>
        </p:nvSpPr>
        <p:spPr>
          <a:xfrm>
            <a:off x="1727200" y="673100"/>
            <a:ext cx="127000" cy="127000"/>
          </a:xfrm>
          <a:prstGeom prst="ellipse">
            <a:avLst/>
          </a:prstGeom>
          <a:solidFill>
            <a:srgbClr val="0A1030"/>
          </a:solidFill>
          <a:ln>
            <a:noFill/>
          </a:ln>
        </p:spPr>
      </p:sp>
      <p:sp>
        <p:nvSpPr>
          <p:cNvPr id="6" name="hdr-pill"/>
          <p:cNvSpPr/>
          <p:nvPr/>
        </p:nvSpPr>
        <p:spPr>
          <a:xfrm>
            <a:off x="1879600" y="342900"/>
            <a:ext cx="2260600" cy="6096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7" name="hdr-pill-text"/>
          <p:cNvSpPr txBox="1"/>
          <p:nvPr/>
        </p:nvSpPr>
        <p:spPr>
          <a:xfrm>
            <a:off x="1879600" y="342900"/>
            <a:ext cx="2260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noProof="1">
                <a:solidFill>
                  <a:srgbClr val="FFFFFF"/>
                </a:solidFill>
                <a:latin typeface="MiSans"/>
                <a:ea typeface="MiSans"/>
              </a:rPr>
              <a:t>端侧推理</a:t>
            </a:r>
            <a:endParaRPr lang="en-US" sz="2600" noProof="1"/>
          </a:p>
        </p:txBody>
      </p:sp>
      <p:sp>
        <p:nvSpPr>
          <p:cNvPr id="8" name="deco-chip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19761200" y="203200"/>
            <a:ext cx="1168400" cy="1168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D4E3FA"/>
          </a:solidFill>
          <a:ln>
            <a:noFill/>
          </a:ln>
        </p:spPr>
      </p:sp>
      <p:sp>
        <p:nvSpPr>
          <p:cNvPr id="9" name="main-title"/>
          <p:cNvSpPr txBox="1"/>
          <p:nvPr/>
        </p:nvSpPr>
        <p:spPr>
          <a:xfrm>
            <a:off x="2997200" y="1066800"/>
            <a:ext cx="15240000" cy="101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000" b="1" noProof="1">
                <a:solidFill>
                  <a:srgbClr val="10183F"/>
                </a:solidFill>
                <a:latin typeface="MiSans"/>
                <a:ea typeface="MiSans"/>
              </a:rPr>
              <a:t>轻量全卷积双模型：细化架构与选型依据</a:t>
            </a:r>
            <a:endParaRPr lang="en-US" sz="6000" noProof="1"/>
          </a:p>
        </p:txBody>
      </p:sp>
      <p:sp>
        <p:nvSpPr>
          <p:cNvPr id="10" name="sub-title"/>
          <p:cNvSpPr txBox="1"/>
          <p:nvPr/>
        </p:nvSpPr>
        <p:spPr>
          <a:xfrm>
            <a:off x="4267200" y="2057400"/>
            <a:ext cx="1270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700" b="1" noProof="1">
                <a:solidFill>
                  <a:srgbClr val="2B3E6E"/>
                </a:solidFill>
                <a:latin typeface="MiSans"/>
                <a:ea typeface="MiSans"/>
              </a:rPr>
              <a:t>保留时频位置 · 全算子NPU部署 · 双模型分工 · 端侧时延可控</a:t>
            </a:r>
            <a:endParaRPr lang="en-US" sz="2700" noProof="1"/>
          </a:p>
        </p:txBody>
      </p:sp>
      <p:sp>
        <p:nvSpPr>
          <p:cNvPr id="11" name="lc"/>
          <p:cNvSpPr/>
          <p:nvPr/>
        </p:nvSpPr>
        <p:spPr>
          <a:xfrm>
            <a:off x="304800" y="2641600"/>
            <a:ext cx="11684000" cy="6502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12" name="lc-head"/>
          <p:cNvSpPr txBox="1"/>
          <p:nvPr/>
        </p:nvSpPr>
        <p:spPr>
          <a:xfrm>
            <a:off x="304800" y="2870200"/>
            <a:ext cx="11684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noProof="1">
                <a:solidFill>
                  <a:srgbClr val="10183F"/>
                </a:solidFill>
                <a:latin typeface="MiSans"/>
                <a:ea typeface="MiSans"/>
              </a:rPr>
              <a:t>【CNN细化架构】</a:t>
            </a:r>
            <a:endParaRPr lang="en-US" sz="2800" noProof="1"/>
          </a:p>
        </p:txBody>
      </p:sp>
      <p:pic>
        <p:nvPicPr>
          <p:cNvPr id="13" name="lc-cube"/>
          <p:cNvPicPr/>
          <p:nvPr/>
        </p:nvPicPr>
        <p:blipFill>
          <a:blip r:embed="rId2"/>
          <a:stretch>
            <a:fillRect/>
          </a:stretch>
        </p:blipFill>
        <p:spPr>
          <a:xfrm>
            <a:off x="736600" y="4127500"/>
            <a:ext cx="2209800" cy="3009900"/>
          </a:xfrm>
          <a:prstGeom prst="rect">
            <a:avLst/>
          </a:prstGeom>
          <a:ln>
            <a:noFill/>
          </a:ln>
        </p:spPr>
      </p:pic>
      <p:sp>
        <p:nvSpPr>
          <p:cNvPr id="14" name="lc-cube-cap1"/>
          <p:cNvSpPr txBox="1"/>
          <p:nvPr/>
        </p:nvSpPr>
        <p:spPr>
          <a:xfrm>
            <a:off x="508000" y="726440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noProof="1">
                <a:solidFill>
                  <a:srgbClr val="10183F"/>
                </a:solidFill>
                <a:latin typeface="MiSans"/>
                <a:ea typeface="MiSans"/>
              </a:rPr>
              <a:t>输入时频张量</a:t>
            </a:r>
            <a:endParaRPr lang="en-US" sz="2200" noProof="1"/>
          </a:p>
        </p:txBody>
      </p:sp>
      <p:sp>
        <p:nvSpPr>
          <p:cNvPr id="15" name="lc-cube-cap2"/>
          <p:cNvSpPr txBox="1"/>
          <p:nvPr/>
        </p:nvSpPr>
        <p:spPr>
          <a:xfrm>
            <a:off x="381000" y="7670800"/>
            <a:ext cx="2921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>
                <a:solidFill>
                  <a:srgbClr val="10183F"/>
                </a:solidFill>
                <a:latin typeface="MiSans"/>
                <a:ea typeface="MiSans"/>
              </a:rPr>
              <a:t>1×204×115×4 · INT8</a:t>
            </a:r>
            <a:endParaRPr lang="en-US" sz="1900" noProof="1"/>
          </a:p>
        </p:txBody>
      </p:sp>
      <p:sp>
        <p:nvSpPr>
          <p:cNvPr id="16" name="lc-arrow1"/>
          <p:cNvSpPr/>
          <p:nvPr/>
        </p:nvSpPr>
        <p:spPr>
          <a:xfrm>
            <a:off x="3124200" y="5588000"/>
            <a:ext cx="558800" cy="457200"/>
          </a:xfrm>
          <a:prstGeom prst="rightArrow">
            <a:avLst/>
          </a:prstGeom>
          <a:solidFill>
            <a:srgbClr val="2E7CF6"/>
          </a:solidFill>
          <a:ln>
            <a:noFill/>
          </a:ln>
        </p:spPr>
      </p:sp>
      <p:sp>
        <p:nvSpPr>
          <p:cNvPr id="17" name="lc-conv-label"/>
          <p:cNvSpPr txBox="1"/>
          <p:nvPr/>
        </p:nvSpPr>
        <p:spPr>
          <a:xfrm>
            <a:off x="3581400" y="39878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noProof="1">
                <a:solidFill>
                  <a:srgbClr val="10183F"/>
                </a:solidFill>
                <a:latin typeface="MiSans"/>
                <a:ea typeface="MiSans"/>
              </a:rPr>
              <a:t>全卷积特征提取主干</a:t>
            </a:r>
            <a:endParaRPr lang="en-US" sz="2200" noProof="1"/>
          </a:p>
        </p:txBody>
      </p:sp>
      <p:pic>
        <p:nvPicPr>
          <p:cNvPr id="18" name="lc-conv"/>
          <p:cNvPicPr/>
          <p:nvPr/>
        </p:nvPicPr>
        <p:blipFill>
          <a:blip r:embed="rId3"/>
          <a:stretch>
            <a:fillRect/>
          </a:stretch>
        </p:blipFill>
        <p:spPr>
          <a:xfrm>
            <a:off x="3581400" y="4724400"/>
            <a:ext cx="2705100" cy="2540000"/>
          </a:xfrm>
          <a:prstGeom prst="rect">
            <a:avLst/>
          </a:prstGeom>
          <a:ln>
            <a:noFill/>
          </a:ln>
        </p:spPr>
      </p:pic>
      <p:sp>
        <p:nvSpPr>
          <p:cNvPr id="19" name="lc-conv-cap"/>
          <p:cNvSpPr txBox="1"/>
          <p:nvPr/>
        </p:nvSpPr>
        <p:spPr>
          <a:xfrm>
            <a:off x="3200400" y="7366000"/>
            <a:ext cx="3302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>
                <a:solidFill>
                  <a:srgbClr val="10183F"/>
                </a:solidFill>
                <a:latin typeface="MiSans"/>
                <a:ea typeface="MiSans"/>
              </a:rPr>
              <a:t>多层卷积堆叠 · 保持时频分辨率</a:t>
            </a:r>
            <a:endParaRPr lang="en-US" sz="1900" noProof="1"/>
          </a:p>
        </p:txBody>
      </p:sp>
      <p:sp>
        <p:nvSpPr>
          <p:cNvPr id="20" name="lc-l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eyJ2aWV3Qm94IjpbNTAsOTJdLCJwb2ludHMiOiIwLDkyIDE4LDkyIDMyLDAgNTAsMCIsImN1cnZlIjoic2hhcnAifQ</pptd:line>
              </p:ext>
            </p:extLst>
          </p:nvPr>
        </p:nvSpPr>
        <p:spPr>
          <a:xfrm>
            <a:off x="6096000" y="4800600"/>
            <a:ext cx="635000" cy="1168400"/>
          </a:xfrm>
          <a:custGeom>
            <a:avLst/>
            <a:gdLst/>
            <a:ahLst/>
            <a:cxnLst/>
            <a:rect l="l" t="t" r="r" b="b"/>
            <a:pathLst>
              <a:path w="50" h="92">
                <a:moveTo>
                  <a:pt x="0" y="92"/>
                </a:moveTo>
                <a:lnTo>
                  <a:pt x="18" y="92"/>
                </a:lnTo>
                <a:lnTo>
                  <a:pt x="32" y="0"/>
                </a:lnTo>
                <a:lnTo>
                  <a:pt x="50" y="0"/>
                </a:lnTo>
              </a:path>
            </a:pathLst>
          </a:custGeom>
          <a:noFill/>
          <a:ln w="38100">
            <a:solidFill>
              <a:srgbClr val="2E7CF6"/>
            </a:solidFill>
            <a:tailEnd type="arrow"/>
          </a:ln>
        </p:spPr>
      </p:sp>
      <p:sp>
        <p:nvSpPr>
          <p:cNvPr id="21" name="lc-l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eyJ2aWV3Qm94IjpbNTAsMTQyXSwicG9pbnRzIjoiMCwwIDE4LDAgMzIsMTQyIDUwLDE0MiIsImN1cnZlIjoic2hhcnAifQ</pptd:line>
              </p:ext>
            </p:extLst>
          </p:nvPr>
        </p:nvSpPr>
        <p:spPr>
          <a:xfrm>
            <a:off x="6096000" y="5969000"/>
            <a:ext cx="635000" cy="1803400"/>
          </a:xfrm>
          <a:custGeom>
            <a:avLst/>
            <a:gdLst/>
            <a:ahLst/>
            <a:cxnLst/>
            <a:rect l="l" t="t" r="r" b="b"/>
            <a:pathLst>
              <a:path w="50" h="142">
                <a:moveTo>
                  <a:pt x="0" y="0"/>
                </a:moveTo>
                <a:lnTo>
                  <a:pt x="18" y="0"/>
                </a:lnTo>
                <a:lnTo>
                  <a:pt x="32" y="142"/>
                </a:lnTo>
                <a:lnTo>
                  <a:pt x="50" y="142"/>
                </a:lnTo>
              </a:path>
            </a:pathLst>
          </a:custGeom>
          <a:noFill/>
          <a:ln w="38100">
            <a:solidFill>
              <a:srgbClr val="2E7CF6"/>
            </a:solidFill>
            <a:tailEnd type="arrow"/>
          </a:ln>
        </p:spPr>
      </p:sp>
      <p:sp>
        <p:nvSpPr>
          <p:cNvPr id="22" name="lc-heat-label"/>
          <p:cNvSpPr txBox="1"/>
          <p:nvPr/>
        </p:nvSpPr>
        <p:spPr>
          <a:xfrm>
            <a:off x="6731000" y="36195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10183F"/>
                </a:solidFill>
                <a:latin typeface="MiSans"/>
                <a:ea typeface="MiSans"/>
              </a:rPr>
              <a:t>V2：非图传目标热图</a:t>
            </a:r>
            <a:endParaRPr lang="en-US" sz="2100" noProof="1"/>
          </a:p>
        </p:txBody>
      </p:sp>
      <p:pic>
        <p:nvPicPr>
          <p:cNvPr id="23" name="lc-heat"/>
          <p:cNvPicPr/>
          <p:nvPr/>
        </p:nvPicPr>
        <p:blipFill>
          <a:blip r:embed="rId4"/>
          <a:stretch>
            <a:fillRect/>
          </a:stretch>
        </p:blipFill>
        <p:spPr>
          <a:xfrm>
            <a:off x="6794500" y="4089400"/>
            <a:ext cx="2222500" cy="1435100"/>
          </a:xfrm>
          <a:prstGeom prst="rect">
            <a:avLst/>
          </a:prstGeom>
          <a:ln>
            <a:noFill/>
          </a:ln>
        </p:spPr>
      </p:pic>
      <p:sp>
        <p:nvSpPr>
          <p:cNvPr id="24" name="lc-mask-label"/>
          <p:cNvSpPr txBox="1"/>
          <p:nvPr/>
        </p:nvSpPr>
        <p:spPr>
          <a:xfrm>
            <a:off x="6731000" y="66294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00" b="1" noProof="1">
                <a:solidFill>
                  <a:srgbClr val="10183F"/>
                </a:solidFill>
                <a:latin typeface="MiSans"/>
                <a:ea typeface="MiSans"/>
              </a:rPr>
              <a:t>V3：图传目标mask</a:t>
            </a:r>
            <a:endParaRPr lang="en-US" sz="2100" noProof="1"/>
          </a:p>
        </p:txBody>
      </p:sp>
      <p:pic>
        <p:nvPicPr>
          <p:cNvPr id="25" name="lc-mask"/>
          <p:cNvPicPr/>
          <p:nvPr/>
        </p:nvPicPr>
        <p:blipFill>
          <a:blip r:embed="rId5"/>
          <a:stretch>
            <a:fillRect/>
          </a:stretch>
        </p:blipFill>
        <p:spPr>
          <a:xfrm>
            <a:off x="6769100" y="7061200"/>
            <a:ext cx="2311400" cy="1460500"/>
          </a:xfrm>
          <a:prstGeom prst="rect">
            <a:avLst/>
          </a:prstGeom>
          <a:ln>
            <a:noFill/>
          </a:ln>
        </p:spPr>
      </p:pic>
      <p:sp>
        <p:nvSpPr>
          <p:cNvPr id="26" name="lc-l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eyJ2aWV3Qm94IjpbNDgsNzddLCJwb2ludHMiOiIwLDAgNDAsMCA0MCw3NyA0OCw3NyIsImN1cnZlIjoic2hhcnAifQ</pptd:line>
              </p:ext>
            </p:extLst>
          </p:nvPr>
        </p:nvSpPr>
        <p:spPr>
          <a:xfrm>
            <a:off x="9042400" y="4572000"/>
            <a:ext cx="609600" cy="977900"/>
          </a:xfrm>
          <a:custGeom>
            <a:avLst/>
            <a:gdLst/>
            <a:ahLst/>
            <a:cxnLst/>
            <a:rect l="l" t="t" r="r" b="b"/>
            <a:pathLst>
              <a:path w="48" h="77">
                <a:moveTo>
                  <a:pt x="0" y="0"/>
                </a:moveTo>
                <a:lnTo>
                  <a:pt x="40" y="0"/>
                </a:lnTo>
                <a:lnTo>
                  <a:pt x="40" y="77"/>
                </a:lnTo>
                <a:lnTo>
                  <a:pt x="48" y="77"/>
                </a:lnTo>
              </a:path>
            </a:pathLst>
          </a:custGeom>
          <a:noFill/>
          <a:ln w="38100">
            <a:solidFill>
              <a:srgbClr val="2E7CF6"/>
            </a:solidFill>
          </a:ln>
        </p:spPr>
      </p:sp>
      <p:sp>
        <p:nvSpPr>
          <p:cNvPr id="27" name="lc-l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eyJ2aWV3Qm94IjpbNDUsNzVdLCJwb2ludHMiOiIwLDc1IDQwLDc1IDQwLDAgNDUsMCIsImN1cnZlIjoic2hhcnAifQ</pptd:line>
              </p:ext>
            </p:extLst>
          </p:nvPr>
        </p:nvSpPr>
        <p:spPr>
          <a:xfrm>
            <a:off x="9080500" y="6667500"/>
            <a:ext cx="571500" cy="952500"/>
          </a:xfrm>
          <a:custGeom>
            <a:avLst/>
            <a:gdLst/>
            <a:ahLst/>
            <a:cxnLst/>
            <a:rect l="l" t="t" r="r" b="b"/>
            <a:pathLst>
              <a:path w="45" h="75">
                <a:moveTo>
                  <a:pt x="0" y="75"/>
                </a:moveTo>
                <a:lnTo>
                  <a:pt x="40" y="75"/>
                </a:lnTo>
                <a:lnTo>
                  <a:pt x="40" y="0"/>
                </a:lnTo>
                <a:lnTo>
                  <a:pt x="45" y="0"/>
                </a:lnTo>
              </a:path>
            </a:pathLst>
          </a:custGeom>
          <a:noFill/>
          <a:ln w="38100">
            <a:solidFill>
              <a:srgbClr val="2E7CF6"/>
            </a:solidFill>
          </a:ln>
        </p:spPr>
      </p:sp>
      <p:sp>
        <p:nvSpPr>
          <p:cNvPr id="28" name="lc-thresh"/>
          <p:cNvSpPr/>
          <p:nvPr/>
        </p:nvSpPr>
        <p:spPr>
          <a:xfrm>
            <a:off x="8534400" y="5549900"/>
            <a:ext cx="1320800" cy="111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A56E7"/>
            </a:solidFill>
          </a:ln>
        </p:spPr>
      </p:sp>
      <p:sp>
        <p:nvSpPr>
          <p:cNvPr id="29" name="lc-thresh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eyJpY29uTmFtZSI6ImZhczpmaWx0ZXIifQ</pptd:icon>
              </p:ext>
            </p:extLst>
          </p:nvPr>
        </p:nvSpPr>
        <p:spPr>
          <a:xfrm>
            <a:off x="9017000" y="5715000"/>
            <a:ext cx="3556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64"/>
                </a:moveTo>
                <a:cubicBezTo>
                  <a:pt x="19" y="64"/>
                  <a:pt x="7" y="72"/>
                  <a:pt x="2" y="84"/>
                </a:cubicBezTo>
                <a:cubicBezTo>
                  <a:pt x="-3" y="96"/>
                  <a:pt x="0" y="110"/>
                  <a:pt x="9" y="119"/>
                </a:cubicBezTo>
                <a:lnTo>
                  <a:pt x="192" y="301"/>
                </a:lnTo>
                <a:lnTo>
                  <a:pt x="192" y="416"/>
                </a:lnTo>
                <a:cubicBezTo>
                  <a:pt x="192" y="425"/>
                  <a:pt x="195" y="433"/>
                  <a:pt x="201" y="439"/>
                </a:cubicBezTo>
                <a:lnTo>
                  <a:pt x="265" y="503"/>
                </a:lnTo>
                <a:cubicBezTo>
                  <a:pt x="275" y="512"/>
                  <a:pt x="288" y="515"/>
                  <a:pt x="300" y="510"/>
                </a:cubicBezTo>
                <a:cubicBezTo>
                  <a:pt x="312" y="505"/>
                  <a:pt x="320" y="493"/>
                  <a:pt x="320" y="480"/>
                </a:cubicBezTo>
                <a:lnTo>
                  <a:pt x="320" y="301"/>
                </a:lnTo>
                <a:lnTo>
                  <a:pt x="503" y="119"/>
                </a:lnTo>
                <a:cubicBezTo>
                  <a:pt x="512" y="110"/>
                  <a:pt x="515" y="96"/>
                  <a:pt x="510" y="84"/>
                </a:cubicBezTo>
                <a:cubicBezTo>
                  <a:pt x="505" y="72"/>
                  <a:pt x="493" y="64"/>
                  <a:pt x="480" y="64"/>
                </a:cubicBezTo>
                <a:lnTo>
                  <a:pt x="32" y="64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30" name="lc-thresh-t"/>
          <p:cNvSpPr txBox="1"/>
          <p:nvPr/>
        </p:nvSpPr>
        <p:spPr>
          <a:xfrm>
            <a:off x="8534400" y="6096000"/>
            <a:ext cx="1320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>
                <a:solidFill>
                  <a:srgbClr val="10183F"/>
                </a:solidFill>
                <a:latin typeface="MiSans"/>
                <a:ea typeface="MiSans"/>
              </a:rPr>
              <a:t>阈值与后处理</a:t>
            </a:r>
            <a:endParaRPr lang="en-US" sz="1700" noProof="1"/>
          </a:p>
        </p:txBody>
      </p:sp>
      <p:sp>
        <p:nvSpPr>
          <p:cNvPr id="31" name="lc-arrow2"/>
          <p:cNvSpPr/>
          <p:nvPr/>
        </p:nvSpPr>
        <p:spPr>
          <a:xfrm>
            <a:off x="9906000" y="5892800"/>
            <a:ext cx="381000" cy="330200"/>
          </a:xfrm>
          <a:prstGeom prst="rightArrow">
            <a:avLst/>
          </a:prstGeom>
          <a:solidFill>
            <a:srgbClr val="2E7CF6"/>
          </a:solidFill>
          <a:ln>
            <a:noFill/>
          </a:ln>
        </p:spPr>
      </p:sp>
      <p:sp>
        <p:nvSpPr>
          <p:cNvPr id="32" name="lc-result"/>
          <p:cNvSpPr/>
          <p:nvPr/>
        </p:nvSpPr>
        <p:spPr>
          <a:xfrm>
            <a:off x="10312400" y="5080000"/>
            <a:ext cx="1701800" cy="19812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A1445"/>
              </a:gs>
              <a:gs pos="100000">
                <a:srgbClr val="1B3AA0"/>
              </a:gs>
            </a:gsLst>
            <a:lin ang="8100000" scaled="1"/>
          </a:gradFill>
          <a:ln>
            <a:noFill/>
          </a:ln>
        </p:spPr>
      </p:sp>
      <p:sp>
        <p:nvSpPr>
          <p:cNvPr id="33" name="lc-result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eyJpY29uTmFtZSI6ImZhczpjcm9zc2hhaXJzIn0</pptd:icon>
              </p:ext>
            </p:extLst>
          </p:nvPr>
        </p:nvSpPr>
        <p:spPr>
          <a:xfrm>
            <a:off x="10947400" y="52324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-16"/>
                </a:moveTo>
                <a:cubicBezTo>
                  <a:pt x="306" y="-16"/>
                  <a:pt x="320" y="-2"/>
                  <a:pt x="320" y="16"/>
                </a:cubicBezTo>
                <a:lnTo>
                  <a:pt x="320" y="34"/>
                </a:lnTo>
                <a:cubicBezTo>
                  <a:pt x="418" y="48"/>
                  <a:pt x="496" y="126"/>
                  <a:pt x="510" y="224"/>
                </a:cubicBezTo>
                <a:lnTo>
                  <a:pt x="528" y="224"/>
                </a:lnTo>
                <a:cubicBezTo>
                  <a:pt x="546" y="224"/>
                  <a:pt x="560" y="238"/>
                  <a:pt x="560" y="256"/>
                </a:cubicBezTo>
                <a:cubicBezTo>
                  <a:pt x="560" y="274"/>
                  <a:pt x="546" y="288"/>
                  <a:pt x="528" y="288"/>
                </a:cubicBezTo>
                <a:lnTo>
                  <a:pt x="510" y="288"/>
                </a:lnTo>
                <a:cubicBezTo>
                  <a:pt x="496" y="386"/>
                  <a:pt x="418" y="464"/>
                  <a:pt x="320" y="478"/>
                </a:cubicBezTo>
                <a:lnTo>
                  <a:pt x="320" y="496"/>
                </a:lnTo>
                <a:cubicBezTo>
                  <a:pt x="320" y="514"/>
                  <a:pt x="306" y="528"/>
                  <a:pt x="288" y="528"/>
                </a:cubicBezTo>
                <a:cubicBezTo>
                  <a:pt x="270" y="528"/>
                  <a:pt x="256" y="514"/>
                  <a:pt x="256" y="496"/>
                </a:cubicBezTo>
                <a:lnTo>
                  <a:pt x="256" y="478"/>
                </a:lnTo>
                <a:cubicBezTo>
                  <a:pt x="158" y="464"/>
                  <a:pt x="80" y="386"/>
                  <a:pt x="66" y="288"/>
                </a:cubicBezTo>
                <a:lnTo>
                  <a:pt x="48" y="288"/>
                </a:lnTo>
                <a:cubicBezTo>
                  <a:pt x="30" y="288"/>
                  <a:pt x="16" y="274"/>
                  <a:pt x="16" y="256"/>
                </a:cubicBezTo>
                <a:cubicBezTo>
                  <a:pt x="16" y="238"/>
                  <a:pt x="30" y="224"/>
                  <a:pt x="48" y="224"/>
                </a:cubicBezTo>
                <a:lnTo>
                  <a:pt x="66" y="224"/>
                </a:lnTo>
                <a:cubicBezTo>
                  <a:pt x="80" y="126"/>
                  <a:pt x="158" y="48"/>
                  <a:pt x="256" y="34"/>
                </a:cubicBezTo>
                <a:lnTo>
                  <a:pt x="256" y="16"/>
                </a:lnTo>
                <a:cubicBezTo>
                  <a:pt x="256" y="-2"/>
                  <a:pt x="270" y="-16"/>
                  <a:pt x="288" y="-16"/>
                </a:cubicBezTo>
                <a:close/>
                <a:moveTo>
                  <a:pt x="131" y="288"/>
                </a:moveTo>
                <a:cubicBezTo>
                  <a:pt x="144" y="351"/>
                  <a:pt x="193" y="400"/>
                  <a:pt x="256" y="413"/>
                </a:cubicBezTo>
                <a:lnTo>
                  <a:pt x="256" y="400"/>
                </a:lnTo>
                <a:cubicBezTo>
                  <a:pt x="256" y="382"/>
                  <a:pt x="270" y="368"/>
                  <a:pt x="288" y="368"/>
                </a:cubicBezTo>
                <a:cubicBezTo>
                  <a:pt x="306" y="368"/>
                  <a:pt x="320" y="382"/>
                  <a:pt x="320" y="400"/>
                </a:cubicBezTo>
                <a:lnTo>
                  <a:pt x="320" y="413"/>
                </a:lnTo>
                <a:cubicBezTo>
                  <a:pt x="383" y="400"/>
                  <a:pt x="432" y="351"/>
                  <a:pt x="445" y="288"/>
                </a:cubicBezTo>
                <a:lnTo>
                  <a:pt x="432" y="288"/>
                </a:lnTo>
                <a:cubicBezTo>
                  <a:pt x="414" y="288"/>
                  <a:pt x="400" y="274"/>
                  <a:pt x="400" y="256"/>
                </a:cubicBezTo>
                <a:cubicBezTo>
                  <a:pt x="400" y="238"/>
                  <a:pt x="414" y="224"/>
                  <a:pt x="432" y="224"/>
                </a:cubicBezTo>
                <a:lnTo>
                  <a:pt x="445" y="224"/>
                </a:lnTo>
                <a:cubicBezTo>
                  <a:pt x="432" y="161"/>
                  <a:pt x="383" y="112"/>
                  <a:pt x="320" y="99"/>
                </a:cubicBezTo>
                <a:lnTo>
                  <a:pt x="320" y="112"/>
                </a:lnTo>
                <a:cubicBezTo>
                  <a:pt x="320" y="130"/>
                  <a:pt x="306" y="144"/>
                  <a:pt x="288" y="144"/>
                </a:cubicBezTo>
                <a:cubicBezTo>
                  <a:pt x="270" y="144"/>
                  <a:pt x="256" y="130"/>
                  <a:pt x="256" y="112"/>
                </a:cubicBezTo>
                <a:lnTo>
                  <a:pt x="256" y="99"/>
                </a:lnTo>
                <a:cubicBezTo>
                  <a:pt x="193" y="112"/>
                  <a:pt x="144" y="161"/>
                  <a:pt x="131" y="224"/>
                </a:cubicBezTo>
                <a:lnTo>
                  <a:pt x="144" y="224"/>
                </a:lnTo>
                <a:cubicBezTo>
                  <a:pt x="162" y="224"/>
                  <a:pt x="176" y="238"/>
                  <a:pt x="176" y="256"/>
                </a:cubicBezTo>
                <a:cubicBezTo>
                  <a:pt x="176" y="274"/>
                  <a:pt x="162" y="288"/>
                  <a:pt x="144" y="288"/>
                </a:cubicBezTo>
                <a:lnTo>
                  <a:pt x="131" y="288"/>
                </a:lnTo>
                <a:close/>
              </a:path>
              <a:path w="576" h="512">
                <a:moveTo>
                  <a:pt x="288" y="208"/>
                </a:moveTo>
                <a:cubicBezTo>
                  <a:pt x="315" y="208"/>
                  <a:pt x="336" y="229"/>
                  <a:pt x="336" y="256"/>
                </a:cubicBezTo>
                <a:cubicBezTo>
                  <a:pt x="336" y="283"/>
                  <a:pt x="315" y="304"/>
                  <a:pt x="288" y="304"/>
                </a:cubicBezTo>
                <a:cubicBezTo>
                  <a:pt x="261" y="304"/>
                  <a:pt x="240" y="283"/>
                  <a:pt x="240" y="256"/>
                </a:cubicBezTo>
                <a:cubicBezTo>
                  <a:pt x="240" y="229"/>
                  <a:pt x="261" y="208"/>
                  <a:pt x="288" y="2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" name="lc-result-t"/>
          <p:cNvSpPr txBox="1"/>
          <p:nvPr/>
        </p:nvSpPr>
        <p:spPr>
          <a:xfrm>
            <a:off x="10363200" y="5740400"/>
            <a:ext cx="1600200" cy="124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noProof="1">
                <a:solidFill>
                  <a:srgbClr val="FFFFFF"/>
                </a:solidFill>
                <a:latin typeface="MiSans"/>
                <a:ea typeface="MiSans"/>
              </a:rPr>
              <a:t>tile级检测结果：</a:t>
            </a:r>
            <a:endParaRPr lang="en-US" sz="1500" noProof="1"/>
          </a:p>
          <a:p>
            <a:pPr algn="ctr">
              <a:lnSpc>
                <a:spcPct val="150000"/>
              </a:lnSpc>
            </a:pPr>
            <a:r>
              <a:rPr lang="en-US" sz="1500" noProof="1">
                <a:solidFill>
                  <a:srgbClr val="FFFFFF"/>
                </a:solidFill>
                <a:latin typeface="MiSans"/>
                <a:ea typeface="MiSans"/>
              </a:rPr>
              <a:t>类别+位置</a:t>
            </a:r>
            <a:endParaRPr lang="en-US" sz="1500" noProof="1"/>
          </a:p>
          <a:p>
            <a:pPr algn="ctr">
              <a:lnSpc>
                <a:spcPct val="150000"/>
              </a:lnSpc>
            </a:pPr>
            <a:r>
              <a:rPr lang="en-US" sz="1500" noProof="1">
                <a:solidFill>
                  <a:srgbClr val="FFFFFF"/>
                </a:solidFill>
                <a:latin typeface="MiSans"/>
                <a:ea typeface="MiSans"/>
              </a:rPr>
              <a:t>+置信度</a:t>
            </a:r>
            <a:endParaRPr lang="en-US" sz="1500" noProof="1"/>
          </a:p>
        </p:txBody>
      </p:sp>
      <p:sp>
        <p:nvSpPr>
          <p:cNvPr id="35" name="rc"/>
          <p:cNvSpPr/>
          <p:nvPr/>
        </p:nvSpPr>
        <p:spPr>
          <a:xfrm>
            <a:off x="12293600" y="2641600"/>
            <a:ext cx="8636000" cy="6070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36" name="rc-head"/>
          <p:cNvSpPr txBox="1"/>
          <p:nvPr/>
        </p:nvSpPr>
        <p:spPr>
          <a:xfrm>
            <a:off x="12293600" y="2844800"/>
            <a:ext cx="8636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noProof="1">
                <a:solidFill>
                  <a:srgbClr val="10183F"/>
                </a:solidFill>
                <a:latin typeface="MiSans"/>
                <a:ea typeface="MiSans"/>
              </a:rPr>
              <a:t>【选型原因】</a:t>
            </a:r>
            <a:endParaRPr lang="en-US" sz="2800" noProof="1"/>
          </a:p>
        </p:txBody>
      </p:sp>
      <p:sp>
        <p:nvSpPr>
          <p:cNvPr id="37" name="rc-i0-num"/>
          <p:cNvSpPr/>
          <p:nvPr/>
        </p:nvSpPr>
        <p:spPr>
          <a:xfrm>
            <a:off x="12623800" y="3632200"/>
            <a:ext cx="660400" cy="6604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38" name="rc-i0-numtext"/>
          <p:cNvSpPr txBox="1"/>
          <p:nvPr/>
        </p:nvSpPr>
        <p:spPr>
          <a:xfrm>
            <a:off x="12623800" y="36322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noProof="1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lang="en-US" sz="2500" noProof="1"/>
          </a:p>
        </p:txBody>
      </p:sp>
      <p:sp>
        <p:nvSpPr>
          <p:cNvPr id="39" name="rc-i0-title"/>
          <p:cNvSpPr txBox="1"/>
          <p:nvPr/>
        </p:nvSpPr>
        <p:spPr>
          <a:xfrm>
            <a:off x="13487400" y="35560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500" b="1" noProof="1">
                <a:solidFill>
                  <a:srgbClr val="10183F"/>
                </a:solidFill>
                <a:latin typeface="MiSans"/>
                <a:ea typeface="MiSans"/>
              </a:rPr>
              <a:t>保留时频位置</a:t>
            </a:r>
            <a:endParaRPr lang="en-US" sz="2500" noProof="1"/>
          </a:p>
        </p:txBody>
      </p:sp>
      <p:sp>
        <p:nvSpPr>
          <p:cNvPr id="40" name="rc-i0-desc"/>
          <p:cNvSpPr txBox="1"/>
          <p:nvPr/>
        </p:nvSpPr>
        <p:spPr>
          <a:xfrm>
            <a:off x="13487400" y="4013200"/>
            <a:ext cx="3708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输出局部热图/mask，支持多目标与局部弱信号检测</a:t>
            </a:r>
            <a:endParaRPr lang="en-US" sz="1800" noProof="1"/>
          </a:p>
        </p:txBody>
      </p:sp>
      <p:sp>
        <p:nvSpPr>
          <p:cNvPr id="41" name="rc-i0-iconbg"/>
          <p:cNvSpPr/>
          <p:nvPr/>
        </p:nvSpPr>
        <p:spPr>
          <a:xfrm>
            <a:off x="17373600" y="3606800"/>
            <a:ext cx="863600" cy="863600"/>
          </a:xfrm>
          <a:prstGeom prst="roundRect">
            <a:avLst>
              <a:gd name="adj" fmla="val 16000"/>
            </a:avLst>
          </a:prstGeom>
          <a:solidFill>
            <a:srgbClr val="F3F8FF"/>
          </a:solidFill>
          <a:ln w="12700">
            <a:solidFill>
              <a:srgbClr val="D8E8FA"/>
            </a:solidFill>
          </a:ln>
        </p:spPr>
      </p:sp>
      <p:sp>
        <p:nvSpPr>
          <p:cNvPr id="42" name="rc-i0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eyJpY29uTmFtZSI6ImZhczpib3JkZXItYWxsIn0</pptd:icon>
              </p:ext>
            </p:extLst>
          </p:nvPr>
        </p:nvSpPr>
        <p:spPr>
          <a:xfrm>
            <a:off x="17589500" y="38227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384" y="96"/>
                </a:moveTo>
                <a:lnTo>
                  <a:pt x="384" y="224"/>
                </a:lnTo>
                <a:lnTo>
                  <a:pt x="256" y="224"/>
                </a:lnTo>
                <a:lnTo>
                  <a:pt x="256" y="96"/>
                </a:lnTo>
                <a:lnTo>
                  <a:pt x="384" y="96"/>
                </a:lnTo>
                <a:close/>
                <a:moveTo>
                  <a:pt x="384" y="288"/>
                </a:moveTo>
                <a:lnTo>
                  <a:pt x="384" y="416"/>
                </a:lnTo>
                <a:lnTo>
                  <a:pt x="256" y="416"/>
                </a:lnTo>
                <a:lnTo>
                  <a:pt x="256" y="288"/>
                </a:lnTo>
                <a:lnTo>
                  <a:pt x="384" y="288"/>
                </a:lnTo>
                <a:close/>
                <a:moveTo>
                  <a:pt x="192" y="224"/>
                </a:moveTo>
                <a:lnTo>
                  <a:pt x="64" y="224"/>
                </a:lnTo>
                <a:lnTo>
                  <a:pt x="64" y="96"/>
                </a:lnTo>
                <a:lnTo>
                  <a:pt x="192" y="96"/>
                </a:lnTo>
                <a:lnTo>
                  <a:pt x="192" y="224"/>
                </a:lnTo>
                <a:close/>
                <a:moveTo>
                  <a:pt x="64" y="288"/>
                </a:moveTo>
                <a:lnTo>
                  <a:pt x="192" y="288"/>
                </a:lnTo>
                <a:lnTo>
                  <a:pt x="192" y="416"/>
                </a:lnTo>
                <a:lnTo>
                  <a:pt x="64" y="416"/>
                </a:lnTo>
                <a:lnTo>
                  <a:pt x="64" y="288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43" name="rc-i1-num"/>
          <p:cNvSpPr/>
          <p:nvPr/>
        </p:nvSpPr>
        <p:spPr>
          <a:xfrm>
            <a:off x="12623800" y="4851400"/>
            <a:ext cx="660400" cy="6604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44" name="rc-i1-numtext"/>
          <p:cNvSpPr txBox="1"/>
          <p:nvPr/>
        </p:nvSpPr>
        <p:spPr>
          <a:xfrm>
            <a:off x="12623800" y="48514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noProof="1">
                <a:solidFill>
                  <a:srgbClr val="FFFFFF"/>
                </a:solidFill>
                <a:latin typeface="MiSans"/>
                <a:ea typeface="MiSans"/>
              </a:rPr>
              <a:t>02</a:t>
            </a:r>
            <a:endParaRPr lang="en-US" sz="2500" noProof="1"/>
          </a:p>
        </p:txBody>
      </p:sp>
      <p:sp>
        <p:nvSpPr>
          <p:cNvPr id="45" name="rc-i1-title"/>
          <p:cNvSpPr txBox="1"/>
          <p:nvPr/>
        </p:nvSpPr>
        <p:spPr>
          <a:xfrm>
            <a:off x="13487400" y="47752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500" b="1" noProof="1">
                <a:solidFill>
                  <a:srgbClr val="10183F"/>
                </a:solidFill>
                <a:latin typeface="MiSans"/>
                <a:ea typeface="MiSans"/>
              </a:rPr>
              <a:t>算子简单兼容</a:t>
            </a:r>
            <a:endParaRPr lang="en-US" sz="2500" noProof="1"/>
          </a:p>
        </p:txBody>
      </p:sp>
      <p:sp>
        <p:nvSpPr>
          <p:cNvPr id="46" name="rc-i1-desc"/>
          <p:cNvSpPr txBox="1"/>
          <p:nvPr/>
        </p:nvSpPr>
        <p:spPr>
          <a:xfrm>
            <a:off x="13487400" y="5232400"/>
            <a:ext cx="3708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全卷积结构经Vela编译后 CPU operators=0，全部落在Ethos-U55</a:t>
            </a:r>
            <a:endParaRPr lang="en-US" sz="1800" noProof="1"/>
          </a:p>
        </p:txBody>
      </p:sp>
      <p:sp>
        <p:nvSpPr>
          <p:cNvPr id="47" name="rc-i1-iconbg"/>
          <p:cNvSpPr/>
          <p:nvPr/>
        </p:nvSpPr>
        <p:spPr>
          <a:xfrm>
            <a:off x="17373600" y="4826000"/>
            <a:ext cx="863600" cy="863600"/>
          </a:xfrm>
          <a:prstGeom prst="roundRect">
            <a:avLst>
              <a:gd name="adj" fmla="val 16000"/>
            </a:avLst>
          </a:prstGeom>
          <a:solidFill>
            <a:srgbClr val="F3F8FF"/>
          </a:solidFill>
          <a:ln w="12700">
            <a:solidFill>
              <a:srgbClr val="D8E8FA"/>
            </a:solidFill>
          </a:ln>
        </p:spPr>
      </p:sp>
      <p:sp>
        <p:nvSpPr>
          <p:cNvPr id="48" name="rc-i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17589500" y="50419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49" name="rc-i2-num"/>
          <p:cNvSpPr/>
          <p:nvPr/>
        </p:nvSpPr>
        <p:spPr>
          <a:xfrm>
            <a:off x="12623800" y="6070600"/>
            <a:ext cx="660400" cy="6604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50" name="rc-i2-numtext"/>
          <p:cNvSpPr txBox="1"/>
          <p:nvPr/>
        </p:nvSpPr>
        <p:spPr>
          <a:xfrm>
            <a:off x="12623800" y="60706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noProof="1">
                <a:solidFill>
                  <a:srgbClr val="FFFFFF"/>
                </a:solidFill>
                <a:latin typeface="MiSans"/>
                <a:ea typeface="MiSans"/>
              </a:rPr>
              <a:t>03</a:t>
            </a:r>
            <a:endParaRPr lang="en-US" sz="2500" noProof="1"/>
          </a:p>
        </p:txBody>
      </p:sp>
      <p:sp>
        <p:nvSpPr>
          <p:cNvPr id="51" name="rc-i2-title"/>
          <p:cNvSpPr txBox="1"/>
          <p:nvPr/>
        </p:nvSpPr>
        <p:spPr>
          <a:xfrm>
            <a:off x="13487400" y="59944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500" b="1" noProof="1">
                <a:solidFill>
                  <a:srgbClr val="10183F"/>
                </a:solidFill>
                <a:latin typeface="MiSans"/>
                <a:ea typeface="MiSans"/>
              </a:rPr>
              <a:t>内存与时延可控</a:t>
            </a:r>
            <a:endParaRPr lang="en-US" sz="2500" noProof="1"/>
          </a:p>
        </p:txBody>
      </p:sp>
      <p:sp>
        <p:nvSpPr>
          <p:cNvPr id="52" name="rc-i2-desc"/>
          <p:cNvSpPr txBox="1"/>
          <p:nvPr/>
        </p:nvSpPr>
        <p:spPr>
          <a:xfrm>
            <a:off x="13487400" y="6451600"/>
            <a:ext cx="3708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双模型顺序执行复用189,312 B arena，NPU推理 p50 0.653 ms</a:t>
            </a:r>
            <a:endParaRPr lang="en-US" sz="1800" noProof="1"/>
          </a:p>
        </p:txBody>
      </p:sp>
      <p:sp>
        <p:nvSpPr>
          <p:cNvPr id="53" name="rc-i2-iconbg"/>
          <p:cNvSpPr/>
          <p:nvPr/>
        </p:nvSpPr>
        <p:spPr>
          <a:xfrm>
            <a:off x="17373600" y="6045200"/>
            <a:ext cx="863600" cy="863600"/>
          </a:xfrm>
          <a:prstGeom prst="roundRect">
            <a:avLst>
              <a:gd name="adj" fmla="val 16000"/>
            </a:avLst>
          </a:prstGeom>
          <a:solidFill>
            <a:srgbClr val="F3F8FF"/>
          </a:solidFill>
          <a:ln w="12700">
            <a:solidFill>
              <a:srgbClr val="D8E8FA"/>
            </a:solidFill>
          </a:ln>
        </p:spPr>
      </p:sp>
      <p:sp>
        <p:nvSpPr>
          <p:cNvPr id="54" name="rc-i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eyJpY29uTmFtZSI6ImZhczpnYXVnZS1oaWdoIn0</pptd:icon>
              </p:ext>
            </p:extLst>
          </p:nvPr>
        </p:nvSpPr>
        <p:spPr>
          <a:xfrm>
            <a:off x="17589500" y="62611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256" y="416"/>
                </a:moveTo>
                <a:cubicBezTo>
                  <a:pt x="291" y="416"/>
                  <a:pt x="320" y="387"/>
                  <a:pt x="320" y="352"/>
                </a:cubicBezTo>
                <a:cubicBezTo>
                  <a:pt x="320" y="336"/>
                  <a:pt x="314" y="321"/>
                  <a:pt x="304" y="310"/>
                </a:cubicBezTo>
                <a:lnTo>
                  <a:pt x="374" y="171"/>
                </a:lnTo>
                <a:cubicBezTo>
                  <a:pt x="379" y="159"/>
                  <a:pt x="375" y="144"/>
                  <a:pt x="363" y="139"/>
                </a:cubicBezTo>
                <a:cubicBezTo>
                  <a:pt x="351" y="133"/>
                  <a:pt x="337" y="137"/>
                  <a:pt x="331" y="149"/>
                </a:cubicBezTo>
                <a:lnTo>
                  <a:pt x="261" y="288"/>
                </a:lnTo>
                <a:cubicBezTo>
                  <a:pt x="259" y="288"/>
                  <a:pt x="258" y="288"/>
                  <a:pt x="256" y="288"/>
                </a:cubicBezTo>
                <a:cubicBezTo>
                  <a:pt x="221" y="288"/>
                  <a:pt x="192" y="317"/>
                  <a:pt x="192" y="352"/>
                </a:cubicBezTo>
                <a:cubicBezTo>
                  <a:pt x="192" y="387"/>
                  <a:pt x="221" y="416"/>
                  <a:pt x="256" y="416"/>
                </a:cubicBezTo>
                <a:close/>
                <a:moveTo>
                  <a:pt x="176" y="144"/>
                </a:moveTo>
                <a:cubicBezTo>
                  <a:pt x="176" y="126"/>
                  <a:pt x="162" y="112"/>
                  <a:pt x="144" y="112"/>
                </a:cubicBezTo>
                <a:cubicBezTo>
                  <a:pt x="126" y="112"/>
                  <a:pt x="112" y="126"/>
                  <a:pt x="112" y="144"/>
                </a:cubicBezTo>
                <a:cubicBezTo>
                  <a:pt x="112" y="162"/>
                  <a:pt x="126" y="176"/>
                  <a:pt x="144" y="176"/>
                </a:cubicBezTo>
                <a:cubicBezTo>
                  <a:pt x="162" y="176"/>
                  <a:pt x="176" y="162"/>
                  <a:pt x="176" y="144"/>
                </a:cubicBezTo>
                <a:close/>
                <a:moveTo>
                  <a:pt x="96" y="288"/>
                </a:moveTo>
                <a:cubicBezTo>
                  <a:pt x="114" y="288"/>
                  <a:pt x="128" y="274"/>
                  <a:pt x="128" y="256"/>
                </a:cubicBezTo>
                <a:cubicBezTo>
                  <a:pt x="128" y="238"/>
                  <a:pt x="114" y="224"/>
                  <a:pt x="96" y="224"/>
                </a:cubicBezTo>
                <a:cubicBezTo>
                  <a:pt x="78" y="224"/>
                  <a:pt x="64" y="238"/>
                  <a:pt x="64" y="256"/>
                </a:cubicBezTo>
                <a:cubicBezTo>
                  <a:pt x="64" y="274"/>
                  <a:pt x="78" y="288"/>
                  <a:pt x="96" y="288"/>
                </a:cubicBezTo>
                <a:close/>
                <a:moveTo>
                  <a:pt x="448" y="256"/>
                </a:moveTo>
                <a:cubicBezTo>
                  <a:pt x="448" y="238"/>
                  <a:pt x="434" y="224"/>
                  <a:pt x="416" y="224"/>
                </a:cubicBezTo>
                <a:cubicBezTo>
                  <a:pt x="398" y="224"/>
                  <a:pt x="384" y="238"/>
                  <a:pt x="384" y="256"/>
                </a:cubicBezTo>
                <a:cubicBezTo>
                  <a:pt x="384" y="274"/>
                  <a:pt x="398" y="288"/>
                  <a:pt x="416" y="288"/>
                </a:cubicBezTo>
                <a:cubicBezTo>
                  <a:pt x="434" y="288"/>
                  <a:pt x="448" y="274"/>
                  <a:pt x="448" y="256"/>
                </a:cubicBez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55" name="rc-i3-num"/>
          <p:cNvSpPr/>
          <p:nvPr/>
        </p:nvSpPr>
        <p:spPr>
          <a:xfrm>
            <a:off x="12623800" y="7289800"/>
            <a:ext cx="660400" cy="6604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56" name="rc-i3-numtext"/>
          <p:cNvSpPr txBox="1"/>
          <p:nvPr/>
        </p:nvSpPr>
        <p:spPr>
          <a:xfrm>
            <a:off x="12623800" y="72898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500" b="1" noProof="1">
                <a:solidFill>
                  <a:srgbClr val="FFFFFF"/>
                </a:solidFill>
                <a:latin typeface="MiSans"/>
                <a:ea typeface="MiSans"/>
              </a:rPr>
              <a:t>04</a:t>
            </a:r>
            <a:endParaRPr lang="en-US" sz="2500" noProof="1"/>
          </a:p>
        </p:txBody>
      </p:sp>
      <p:sp>
        <p:nvSpPr>
          <p:cNvPr id="57" name="rc-i3-title"/>
          <p:cNvSpPr txBox="1"/>
          <p:nvPr/>
        </p:nvSpPr>
        <p:spPr>
          <a:xfrm>
            <a:off x="13487400" y="7213600"/>
            <a:ext cx="406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500" b="1" noProof="1">
                <a:solidFill>
                  <a:srgbClr val="10183F"/>
                </a:solidFill>
                <a:latin typeface="MiSans"/>
                <a:ea typeface="MiSans"/>
              </a:rPr>
              <a:t>双模型分工</a:t>
            </a:r>
            <a:endParaRPr lang="en-US" sz="2500" noProof="1"/>
          </a:p>
        </p:txBody>
      </p:sp>
      <p:sp>
        <p:nvSpPr>
          <p:cNvPr id="58" name="rc-i3-desc"/>
          <p:cNvSpPr txBox="1"/>
          <p:nvPr/>
        </p:nvSpPr>
        <p:spPr>
          <a:xfrm>
            <a:off x="13487400" y="7670800"/>
            <a:ext cx="3708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非图传与图传目标时频特性差异大，分开建模各自最优</a:t>
            </a:r>
            <a:endParaRPr lang="en-US" sz="1800" noProof="1"/>
          </a:p>
        </p:txBody>
      </p:sp>
      <p:sp>
        <p:nvSpPr>
          <p:cNvPr id="59" name="rc-i3-iconbg"/>
          <p:cNvSpPr/>
          <p:nvPr/>
        </p:nvSpPr>
        <p:spPr>
          <a:xfrm>
            <a:off x="17373600" y="7264400"/>
            <a:ext cx="863600" cy="863600"/>
          </a:xfrm>
          <a:prstGeom prst="roundRect">
            <a:avLst>
              <a:gd name="adj" fmla="val 16000"/>
            </a:avLst>
          </a:prstGeom>
          <a:solidFill>
            <a:srgbClr val="F3F8FF"/>
          </a:solidFill>
          <a:ln w="12700">
            <a:solidFill>
              <a:srgbClr val="D8E8FA"/>
            </a:solidFill>
          </a:ln>
        </p:spPr>
      </p:sp>
      <p:sp>
        <p:nvSpPr>
          <p:cNvPr id="60" name="rc-i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eyJpY29uTmFtZSI6ImZhczp1c2VyLWdyb3VwIn0</pptd:icon>
              </p:ext>
            </p:extLst>
          </p:nvPr>
        </p:nvSpPr>
        <p:spPr>
          <a:xfrm>
            <a:off x="17589500" y="74803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64" y="128"/>
                </a:moveTo>
                <a:cubicBezTo>
                  <a:pt x="64" y="66"/>
                  <a:pt x="114" y="16"/>
                  <a:pt x="176" y="16"/>
                </a:cubicBezTo>
                <a:cubicBezTo>
                  <a:pt x="238" y="16"/>
                  <a:pt x="288" y="66"/>
                  <a:pt x="288" y="128"/>
                </a:cubicBezTo>
                <a:cubicBezTo>
                  <a:pt x="288" y="190"/>
                  <a:pt x="238" y="240"/>
                  <a:pt x="176" y="240"/>
                </a:cubicBezTo>
                <a:cubicBezTo>
                  <a:pt x="114" y="240"/>
                  <a:pt x="64" y="190"/>
                  <a:pt x="64" y="128"/>
                </a:cubicBezTo>
                <a:close/>
              </a:path>
              <a:path w="576" h="512">
                <a:moveTo>
                  <a:pt x="0" y="464"/>
                </a:moveTo>
                <a:cubicBezTo>
                  <a:pt x="0" y="367"/>
                  <a:pt x="79" y="288"/>
                  <a:pt x="176" y="288"/>
                </a:cubicBezTo>
                <a:cubicBezTo>
                  <a:pt x="273" y="288"/>
                  <a:pt x="352" y="367"/>
                  <a:pt x="352" y="464"/>
                </a:cubicBezTo>
                <a:lnTo>
                  <a:pt x="352" y="470"/>
                </a:lnTo>
                <a:cubicBezTo>
                  <a:pt x="352" y="493"/>
                  <a:pt x="333" y="512"/>
                  <a:pt x="310" y="512"/>
                </a:cubicBezTo>
                <a:lnTo>
                  <a:pt x="42" y="512"/>
                </a:lnTo>
                <a:cubicBezTo>
                  <a:pt x="19" y="512"/>
                  <a:pt x="0" y="493"/>
                  <a:pt x="0" y="470"/>
                </a:cubicBezTo>
                <a:lnTo>
                  <a:pt x="0" y="464"/>
                </a:lnTo>
                <a:close/>
              </a:path>
              <a:path w="576" h="512">
                <a:moveTo>
                  <a:pt x="432" y="64"/>
                </a:moveTo>
                <a:cubicBezTo>
                  <a:pt x="485" y="64"/>
                  <a:pt x="528" y="107"/>
                  <a:pt x="528" y="160"/>
                </a:cubicBezTo>
                <a:cubicBezTo>
                  <a:pt x="528" y="213"/>
                  <a:pt x="485" y="256"/>
                  <a:pt x="432" y="256"/>
                </a:cubicBezTo>
                <a:cubicBezTo>
                  <a:pt x="379" y="256"/>
                  <a:pt x="336" y="213"/>
                  <a:pt x="336" y="160"/>
                </a:cubicBezTo>
                <a:cubicBezTo>
                  <a:pt x="336" y="107"/>
                  <a:pt x="379" y="64"/>
                  <a:pt x="432" y="64"/>
                </a:cubicBezTo>
                <a:close/>
              </a:path>
              <a:path w="576" h="512">
                <a:moveTo>
                  <a:pt x="432" y="304"/>
                </a:moveTo>
                <a:cubicBezTo>
                  <a:pt x="512" y="304"/>
                  <a:pt x="576" y="369"/>
                  <a:pt x="576" y="448"/>
                </a:cubicBezTo>
                <a:lnTo>
                  <a:pt x="576" y="470"/>
                </a:lnTo>
                <a:cubicBezTo>
                  <a:pt x="576" y="493"/>
                  <a:pt x="557" y="512"/>
                  <a:pt x="534" y="512"/>
                </a:cubicBezTo>
                <a:lnTo>
                  <a:pt x="390" y="512"/>
                </a:lnTo>
                <a:cubicBezTo>
                  <a:pt x="396" y="500"/>
                  <a:pt x="400" y="485"/>
                  <a:pt x="400" y="470"/>
                </a:cubicBezTo>
                <a:lnTo>
                  <a:pt x="400" y="464"/>
                </a:lnTo>
                <a:cubicBezTo>
                  <a:pt x="400" y="413"/>
                  <a:pt x="383" y="365"/>
                  <a:pt x="353" y="327"/>
                </a:cubicBezTo>
                <a:cubicBezTo>
                  <a:pt x="376" y="313"/>
                  <a:pt x="403" y="304"/>
                  <a:pt x="432" y="304"/>
                </a:cubicBez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64" name="dp"/>
          <p:cNvSpPr/>
          <p:nvPr/>
        </p:nvSpPr>
        <p:spPr>
          <a:xfrm>
            <a:off x="304800" y="9423400"/>
            <a:ext cx="9956800" cy="2070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65" name="dp-head"/>
          <p:cNvSpPr txBox="1"/>
          <p:nvPr/>
        </p:nvSpPr>
        <p:spPr>
          <a:xfrm>
            <a:off x="558800" y="9575800"/>
            <a:ext cx="254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noProof="1">
                <a:solidFill>
                  <a:srgbClr val="10183F"/>
                </a:solidFill>
                <a:latin typeface="MiSans"/>
                <a:ea typeface="MiSans"/>
              </a:rPr>
              <a:t>部署链路</a:t>
            </a:r>
            <a:endParaRPr lang="en-US" sz="2400" noProof="1"/>
          </a:p>
        </p:txBody>
      </p:sp>
      <p:sp>
        <p:nvSpPr>
          <p:cNvPr id="66" name="dp-b0"/>
          <p:cNvSpPr/>
          <p:nvPr/>
        </p:nvSpPr>
        <p:spPr>
          <a:xfrm>
            <a:off x="508000" y="10109200"/>
            <a:ext cx="2159000" cy="7366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67" name="dp-b0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eyJpY29uTmFtZSI6ImZhczpncmlwIn0</pptd:icon>
              </p:ext>
            </p:extLst>
          </p:nvPr>
        </p:nvSpPr>
        <p:spPr>
          <a:xfrm>
            <a:off x="685800" y="10312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88" y="96"/>
                </a:moveTo>
                <a:cubicBezTo>
                  <a:pt x="110" y="96"/>
                  <a:pt x="128" y="114"/>
                  <a:pt x="128" y="136"/>
                </a:cubicBezTo>
                <a:lnTo>
                  <a:pt x="128" y="184"/>
                </a:lnTo>
                <a:cubicBezTo>
                  <a:pt x="128" y="206"/>
                  <a:pt x="110" y="224"/>
                  <a:pt x="88" y="224"/>
                </a:cubicBezTo>
                <a:lnTo>
                  <a:pt x="40" y="224"/>
                </a:lnTo>
                <a:cubicBezTo>
                  <a:pt x="18" y="224"/>
                  <a:pt x="0" y="206"/>
                  <a:pt x="0" y="184"/>
                </a:cubicBezTo>
                <a:lnTo>
                  <a:pt x="0" y="136"/>
                </a:lnTo>
                <a:cubicBezTo>
                  <a:pt x="0" y="114"/>
                  <a:pt x="18" y="96"/>
                  <a:pt x="40" y="96"/>
                </a:cubicBezTo>
                <a:lnTo>
                  <a:pt x="88" y="96"/>
                </a:lnTo>
                <a:close/>
              </a:path>
              <a:path w="512" h="512">
                <a:moveTo>
                  <a:pt x="280" y="224"/>
                </a:moveTo>
                <a:lnTo>
                  <a:pt x="232" y="224"/>
                </a:lnTo>
                <a:cubicBezTo>
                  <a:pt x="210" y="224"/>
                  <a:pt x="192" y="206"/>
                  <a:pt x="192" y="184"/>
                </a:cubicBezTo>
                <a:lnTo>
                  <a:pt x="192" y="136"/>
                </a:lnTo>
                <a:cubicBezTo>
                  <a:pt x="192" y="114"/>
                  <a:pt x="210" y="96"/>
                  <a:pt x="232" y="96"/>
                </a:cubicBezTo>
                <a:lnTo>
                  <a:pt x="280" y="96"/>
                </a:lnTo>
                <a:cubicBezTo>
                  <a:pt x="302" y="96"/>
                  <a:pt x="320" y="114"/>
                  <a:pt x="320" y="136"/>
                </a:cubicBezTo>
                <a:lnTo>
                  <a:pt x="320" y="184"/>
                </a:lnTo>
                <a:cubicBezTo>
                  <a:pt x="320" y="206"/>
                  <a:pt x="302" y="224"/>
                  <a:pt x="280" y="224"/>
                </a:cubicBezTo>
                <a:close/>
              </a:path>
              <a:path w="512" h="512">
                <a:moveTo>
                  <a:pt x="472" y="224"/>
                </a:moveTo>
                <a:lnTo>
                  <a:pt x="424" y="224"/>
                </a:lnTo>
                <a:cubicBezTo>
                  <a:pt x="402" y="224"/>
                  <a:pt x="384" y="206"/>
                  <a:pt x="384" y="184"/>
                </a:cubicBezTo>
                <a:lnTo>
                  <a:pt x="384" y="136"/>
                </a:lnTo>
                <a:cubicBezTo>
                  <a:pt x="384" y="114"/>
                  <a:pt x="402" y="96"/>
                  <a:pt x="424" y="96"/>
                </a:cubicBezTo>
                <a:lnTo>
                  <a:pt x="472" y="96"/>
                </a:lnTo>
                <a:cubicBezTo>
                  <a:pt x="494" y="96"/>
                  <a:pt x="512" y="114"/>
                  <a:pt x="512" y="136"/>
                </a:cubicBezTo>
                <a:lnTo>
                  <a:pt x="512" y="184"/>
                </a:lnTo>
                <a:cubicBezTo>
                  <a:pt x="512" y="206"/>
                  <a:pt x="494" y="224"/>
                  <a:pt x="472" y="224"/>
                </a:cubicBezTo>
                <a:close/>
              </a:path>
              <a:path w="512" h="512">
                <a:moveTo>
                  <a:pt x="472" y="416"/>
                </a:moveTo>
                <a:lnTo>
                  <a:pt x="424" y="416"/>
                </a:lnTo>
                <a:cubicBezTo>
                  <a:pt x="402" y="416"/>
                  <a:pt x="384" y="398"/>
                  <a:pt x="384" y="376"/>
                </a:cubicBezTo>
                <a:lnTo>
                  <a:pt x="384" y="328"/>
                </a:lnTo>
                <a:cubicBezTo>
                  <a:pt x="384" y="306"/>
                  <a:pt x="402" y="288"/>
                  <a:pt x="424" y="288"/>
                </a:cubicBezTo>
                <a:lnTo>
                  <a:pt x="472" y="288"/>
                </a:lnTo>
                <a:cubicBezTo>
                  <a:pt x="494" y="288"/>
                  <a:pt x="512" y="306"/>
                  <a:pt x="512" y="328"/>
                </a:cubicBezTo>
                <a:lnTo>
                  <a:pt x="512" y="376"/>
                </a:lnTo>
                <a:cubicBezTo>
                  <a:pt x="512" y="398"/>
                  <a:pt x="494" y="416"/>
                  <a:pt x="472" y="416"/>
                </a:cubicBezTo>
                <a:close/>
              </a:path>
              <a:path w="512" h="512">
                <a:moveTo>
                  <a:pt x="280" y="288"/>
                </a:moveTo>
                <a:cubicBezTo>
                  <a:pt x="302" y="288"/>
                  <a:pt x="320" y="306"/>
                  <a:pt x="320" y="328"/>
                </a:cubicBezTo>
                <a:lnTo>
                  <a:pt x="320" y="376"/>
                </a:lnTo>
                <a:cubicBezTo>
                  <a:pt x="320" y="398"/>
                  <a:pt x="302" y="416"/>
                  <a:pt x="280" y="416"/>
                </a:cubicBezTo>
                <a:lnTo>
                  <a:pt x="232" y="416"/>
                </a:lnTo>
                <a:cubicBezTo>
                  <a:pt x="210" y="416"/>
                  <a:pt x="192" y="398"/>
                  <a:pt x="192" y="376"/>
                </a:cubicBezTo>
                <a:lnTo>
                  <a:pt x="192" y="328"/>
                </a:lnTo>
                <a:cubicBezTo>
                  <a:pt x="192" y="306"/>
                  <a:pt x="210" y="288"/>
                  <a:pt x="232" y="288"/>
                </a:cubicBezTo>
                <a:lnTo>
                  <a:pt x="280" y="288"/>
                </a:lnTo>
                <a:close/>
              </a:path>
              <a:path w="512" h="512">
                <a:moveTo>
                  <a:pt x="88" y="416"/>
                </a:moveTo>
                <a:lnTo>
                  <a:pt x="40" y="416"/>
                </a:lnTo>
                <a:cubicBezTo>
                  <a:pt x="18" y="416"/>
                  <a:pt x="0" y="398"/>
                  <a:pt x="0" y="376"/>
                </a:cubicBezTo>
                <a:lnTo>
                  <a:pt x="0" y="328"/>
                </a:lnTo>
                <a:cubicBezTo>
                  <a:pt x="0" y="306"/>
                  <a:pt x="18" y="288"/>
                  <a:pt x="40" y="288"/>
                </a:cubicBezTo>
                <a:lnTo>
                  <a:pt x="88" y="288"/>
                </a:lnTo>
                <a:cubicBezTo>
                  <a:pt x="110" y="288"/>
                  <a:pt x="128" y="306"/>
                  <a:pt x="128" y="328"/>
                </a:cubicBezTo>
                <a:lnTo>
                  <a:pt x="128" y="376"/>
                </a:lnTo>
                <a:cubicBezTo>
                  <a:pt x="128" y="398"/>
                  <a:pt x="110" y="416"/>
                  <a:pt x="88" y="4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" name="dp-b0-t"/>
          <p:cNvSpPr txBox="1"/>
          <p:nvPr/>
        </p:nvSpPr>
        <p:spPr>
          <a:xfrm>
            <a:off x="1092200" y="10109200"/>
            <a:ext cx="14986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FFFFFF"/>
                </a:solidFill>
                <a:latin typeface="MiSans"/>
                <a:ea typeface="MiSans"/>
              </a:rPr>
              <a:t>INT8量化</a:t>
            </a:r>
            <a:endParaRPr lang="en-US" sz="1900" noProof="1"/>
          </a:p>
        </p:txBody>
      </p:sp>
      <p:sp>
        <p:nvSpPr>
          <p:cNvPr id="69" name="dp-a0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2743200" y="10325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70" name="dp-b1"/>
          <p:cNvSpPr/>
          <p:nvPr/>
        </p:nvSpPr>
        <p:spPr>
          <a:xfrm>
            <a:off x="3098800" y="10109200"/>
            <a:ext cx="1905000" cy="7366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71" name="dp-b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eyJpY29uTmFtZSI6ImZhczpjb2RlIn0</pptd:icon>
              </p:ext>
            </p:extLst>
          </p:nvPr>
        </p:nvSpPr>
        <p:spPr>
          <a:xfrm>
            <a:off x="3276600" y="10312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</a:path>
              <a:path w="576" h="512"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</a:path>
              <a:path w="576" h="512"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2" name="dp-b1-t"/>
          <p:cNvSpPr txBox="1"/>
          <p:nvPr/>
        </p:nvSpPr>
        <p:spPr>
          <a:xfrm>
            <a:off x="3683000" y="10109200"/>
            <a:ext cx="12446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FFFFFF"/>
                </a:solidFill>
                <a:latin typeface="MiSans"/>
                <a:ea typeface="MiSans"/>
              </a:rPr>
              <a:t>Vela编译</a:t>
            </a:r>
            <a:endParaRPr lang="en-US" sz="1900" noProof="1"/>
          </a:p>
        </p:txBody>
      </p:sp>
      <p:sp>
        <p:nvSpPr>
          <p:cNvPr id="73" name="dp-a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5080000" y="10325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74" name="dp-b2"/>
          <p:cNvSpPr/>
          <p:nvPr/>
        </p:nvSpPr>
        <p:spPr>
          <a:xfrm>
            <a:off x="5435600" y="10109200"/>
            <a:ext cx="2489200" cy="7366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75" name="dp-b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5613400" y="10312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6" name="dp-b2-t"/>
          <p:cNvSpPr txBox="1"/>
          <p:nvPr/>
        </p:nvSpPr>
        <p:spPr>
          <a:xfrm>
            <a:off x="6019800" y="10109200"/>
            <a:ext cx="18288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FFFFFF"/>
                </a:solidFill>
                <a:latin typeface="MiSans"/>
                <a:ea typeface="MiSans"/>
              </a:rPr>
              <a:t>TFLM/Ethos-U55</a:t>
            </a:r>
            <a:endParaRPr lang="en-US" sz="1900" noProof="1"/>
          </a:p>
        </p:txBody>
      </p:sp>
      <p:sp>
        <p:nvSpPr>
          <p:cNvPr id="77" name="dp-a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8001000" y="10325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78" name="dp-b3"/>
          <p:cNvSpPr/>
          <p:nvPr/>
        </p:nvSpPr>
        <p:spPr>
          <a:xfrm>
            <a:off x="8280400" y="10109200"/>
            <a:ext cx="1930400" cy="736600"/>
          </a:xfrm>
          <a:prstGeom prst="roundRect">
            <a:avLst>
              <a:gd name="adj" fmla="val 2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79" name="dp-b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eyJpY29uTmFtZSI6ImZhczpjbGlwYm9hcmQtY2hlY2sifQ</pptd:icon>
              </p:ext>
            </p:extLst>
          </p:nvPr>
        </p:nvSpPr>
        <p:spPr>
          <a:xfrm>
            <a:off x="8432800" y="10325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56" y="0"/>
                </a:moveTo>
                <a:cubicBezTo>
                  <a:pt x="280" y="0"/>
                  <a:pt x="300" y="13"/>
                  <a:pt x="311" y="32"/>
                </a:cubicBezTo>
                <a:lnTo>
                  <a:pt x="320" y="32"/>
                </a:lnTo>
                <a:cubicBezTo>
                  <a:pt x="355" y="32"/>
                  <a:pt x="384" y="61"/>
                  <a:pt x="384" y="96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73" y="32"/>
                </a:lnTo>
                <a:cubicBezTo>
                  <a:pt x="84" y="13"/>
                  <a:pt x="104" y="0"/>
                  <a:pt x="128" y="0"/>
                </a:cubicBezTo>
                <a:lnTo>
                  <a:pt x="256" y="0"/>
                </a:lnTo>
                <a:close/>
                <a:moveTo>
                  <a:pt x="283" y="213"/>
                </a:moveTo>
                <a:cubicBezTo>
                  <a:pt x="272" y="205"/>
                  <a:pt x="257" y="207"/>
                  <a:pt x="249" y="218"/>
                </a:cubicBezTo>
                <a:lnTo>
                  <a:pt x="164" y="336"/>
                </a:lnTo>
                <a:lnTo>
                  <a:pt x="137" y="308"/>
                </a:lnTo>
                <a:cubicBezTo>
                  <a:pt x="128" y="299"/>
                  <a:pt x="113" y="298"/>
                  <a:pt x="103" y="308"/>
                </a:cubicBezTo>
                <a:cubicBezTo>
                  <a:pt x="94" y="317"/>
                  <a:pt x="94" y="332"/>
                  <a:pt x="103" y="342"/>
                </a:cubicBezTo>
                <a:lnTo>
                  <a:pt x="149" y="390"/>
                </a:lnTo>
                <a:cubicBezTo>
                  <a:pt x="154" y="395"/>
                  <a:pt x="161" y="397"/>
                  <a:pt x="168" y="397"/>
                </a:cubicBezTo>
                <a:cubicBezTo>
                  <a:pt x="175" y="396"/>
                  <a:pt x="182" y="393"/>
                  <a:pt x="186" y="387"/>
                </a:cubicBezTo>
                <a:lnTo>
                  <a:pt x="288" y="246"/>
                </a:lnTo>
                <a:cubicBezTo>
                  <a:pt x="296" y="235"/>
                  <a:pt x="294" y="220"/>
                  <a:pt x="283" y="213"/>
                </a:cubicBezTo>
                <a:close/>
                <a:moveTo>
                  <a:pt x="136" y="64"/>
                </a:moveTo>
                <a:cubicBezTo>
                  <a:pt x="123" y="64"/>
                  <a:pt x="112" y="75"/>
                  <a:pt x="112" y="88"/>
                </a:cubicBezTo>
                <a:cubicBezTo>
                  <a:pt x="112" y="101"/>
                  <a:pt x="123" y="112"/>
                  <a:pt x="136" y="112"/>
                </a:cubicBezTo>
                <a:lnTo>
                  <a:pt x="248" y="112"/>
                </a:lnTo>
                <a:cubicBezTo>
                  <a:pt x="261" y="112"/>
                  <a:pt x="272" y="101"/>
                  <a:pt x="272" y="88"/>
                </a:cubicBezTo>
                <a:cubicBezTo>
                  <a:pt x="272" y="75"/>
                  <a:pt x="261" y="64"/>
                  <a:pt x="248" y="64"/>
                </a:cubicBezTo>
                <a:lnTo>
                  <a:pt x="136" y="6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0" name="dp-b3-t"/>
          <p:cNvSpPr txBox="1"/>
          <p:nvPr/>
        </p:nvSpPr>
        <p:spPr>
          <a:xfrm>
            <a:off x="8813800" y="10109200"/>
            <a:ext cx="13462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noProof="1">
                <a:solidFill>
                  <a:srgbClr val="FFFFFF"/>
                </a:solidFill>
                <a:latin typeface="MiSans"/>
                <a:ea typeface="MiSans"/>
              </a:rPr>
              <a:t>板端回放验收</a:t>
            </a:r>
            <a:endParaRPr lang="en-US" sz="1900" noProof="1"/>
          </a:p>
        </p:txBody>
      </p:sp>
      <p:sp>
        <p:nvSpPr>
          <p:cNvPr id="81" name="dp-cap"/>
          <p:cNvSpPr txBox="1"/>
          <p:nvPr/>
        </p:nvSpPr>
        <p:spPr>
          <a:xfrm>
            <a:off x="558800" y="10972800"/>
            <a:ext cx="939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>
                <a:solidFill>
                  <a:srgbClr val="2B3E6E"/>
                </a:solidFill>
                <a:latin typeface="MiSans"/>
                <a:ea typeface="MiSans"/>
              </a:rPr>
              <a:t>V2评估 P/R/F2=0.8827/0.6059/0.6455 ｜ 单tile容差0.9041/0.6613/0.6971 ｜ Golden测试12/12一致</a:t>
            </a:r>
            <a:endParaRPr lang="en-US" sz="1700" noProof="1"/>
          </a:p>
        </p:txBody>
      </p:sp>
      <p:sp>
        <p:nvSpPr>
          <p:cNvPr id="82" name="st1"/>
          <p:cNvSpPr/>
          <p:nvPr/>
        </p:nvSpPr>
        <p:spPr>
          <a:xfrm>
            <a:off x="10464800" y="9423400"/>
            <a:ext cx="3251200" cy="2070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83" name="st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eyJpY29uTmFtZSI6ImZhczpjbG9jayJ9</pptd:icon>
              </p:ext>
            </p:extLst>
          </p:nvPr>
        </p:nvSpPr>
        <p:spPr>
          <a:xfrm>
            <a:off x="10795000" y="98552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lose/>
                <a:moveTo>
                  <a:pt x="232" y="120"/>
                </a:moveTo>
                <a:lnTo>
                  <a:pt x="232" y="256"/>
                </a:lnTo>
                <a:cubicBezTo>
                  <a:pt x="232" y="264"/>
                  <a:pt x="236" y="272"/>
                  <a:pt x="243" y="276"/>
                </a:cubicBezTo>
                <a:lnTo>
                  <a:pt x="339" y="340"/>
                </a:lnTo>
                <a:cubicBezTo>
                  <a:pt x="350" y="347"/>
                  <a:pt x="365" y="344"/>
                  <a:pt x="372" y="333"/>
                </a:cubicBezTo>
                <a:cubicBezTo>
                  <a:pt x="379" y="322"/>
                  <a:pt x="376" y="307"/>
                  <a:pt x="365" y="300"/>
                </a:cubicBezTo>
                <a:lnTo>
                  <a:pt x="280" y="243"/>
                </a:lnTo>
                <a:lnTo>
                  <a:pt x="280" y="120"/>
                </a:lnTo>
                <a:cubicBezTo>
                  <a:pt x="280" y="107"/>
                  <a:pt x="269" y="96"/>
                  <a:pt x="256" y="96"/>
                </a:cubicBezTo>
                <a:cubicBezTo>
                  <a:pt x="243" y="96"/>
                  <a:pt x="232" y="107"/>
                  <a:pt x="232" y="120"/>
                </a:cubicBez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84" name="st1-num"/>
          <p:cNvSpPr txBox="1"/>
          <p:nvPr/>
        </p:nvSpPr>
        <p:spPr>
          <a:xfrm>
            <a:off x="11379200" y="9728200"/>
            <a:ext cx="22352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noProof="1">
                <a:solidFill>
                  <a:srgbClr val="10183F"/>
                </a:solidFill>
                <a:latin typeface="MiSans"/>
                <a:ea typeface="MiSans"/>
              </a:rPr>
              <a:t>0.653</a:t>
            </a:r>
            <a:r>
              <a:rPr lang="en-US" sz="2000" b="1" noProof="1">
                <a:solidFill>
                  <a:srgbClr val="10183F"/>
                </a:solidFill>
                <a:latin typeface="MiSans"/>
                <a:ea typeface="MiSans"/>
              </a:rPr>
              <a:t> ms</a:t>
            </a:r>
            <a:endParaRPr lang="en-US" sz="1600" noProof="1"/>
          </a:p>
        </p:txBody>
      </p:sp>
      <p:sp>
        <p:nvSpPr>
          <p:cNvPr id="85" name="st1-cap"/>
          <p:cNvSpPr txBox="1"/>
          <p:nvPr/>
        </p:nvSpPr>
        <p:spPr>
          <a:xfrm>
            <a:off x="10464800" y="108966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>
                <a:solidFill>
                  <a:srgbClr val="4A5B7C"/>
                </a:solidFill>
                <a:latin typeface="MiSans"/>
                <a:ea typeface="MiSans"/>
              </a:rPr>
              <a:t>NPU推理p50 · p95 0.657ms</a:t>
            </a:r>
            <a:endParaRPr lang="en-US" sz="1600" noProof="1"/>
          </a:p>
        </p:txBody>
      </p:sp>
      <p:sp>
        <p:nvSpPr>
          <p:cNvPr id="86" name="st2"/>
          <p:cNvSpPr/>
          <p:nvPr/>
        </p:nvSpPr>
        <p:spPr>
          <a:xfrm>
            <a:off x="13919200" y="9423400"/>
            <a:ext cx="3251200" cy="2070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87" name="st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14249400" y="98552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F58236"/>
          </a:solidFill>
          <a:ln>
            <a:noFill/>
          </a:ln>
        </p:spPr>
      </p:sp>
      <p:sp>
        <p:nvSpPr>
          <p:cNvPr id="88" name="st2-num"/>
          <p:cNvSpPr txBox="1"/>
          <p:nvPr/>
        </p:nvSpPr>
        <p:spPr>
          <a:xfrm>
            <a:off x="14833600" y="9626600"/>
            <a:ext cx="2235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lang="en-US" sz="2600" b="1" noProof="1">
                <a:solidFill>
                  <a:srgbClr val="F58236"/>
                </a:solidFill>
                <a:latin typeface="MiSans"/>
                <a:ea typeface="MiSans"/>
              </a:rPr>
              <a:t>CPU</a:t>
            </a:r>
            <a:endParaRPr lang="en-US" sz="2600" noProof="1"/>
          </a:p>
          <a:p>
            <a:pPr algn="l">
              <a:lnSpc>
                <a:spcPct val="125000"/>
              </a:lnSpc>
            </a:pPr>
            <a:r>
              <a:rPr lang="en-US" sz="2600" b="1" noProof="1">
                <a:solidFill>
                  <a:srgbClr val="F58236"/>
                </a:solidFill>
                <a:latin typeface="MiSans"/>
                <a:ea typeface="MiSans"/>
              </a:rPr>
              <a:t>operators=0</a:t>
            </a:r>
            <a:endParaRPr lang="en-US" sz="2600" noProof="1"/>
          </a:p>
        </p:txBody>
      </p:sp>
      <p:sp>
        <p:nvSpPr>
          <p:cNvPr id="89" name="st2-cap"/>
          <p:cNvSpPr txBox="1"/>
          <p:nvPr/>
        </p:nvSpPr>
        <p:spPr>
          <a:xfrm>
            <a:off x="13919200" y="108966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>
                <a:solidFill>
                  <a:srgbClr val="10183F"/>
                </a:solidFill>
                <a:latin typeface="MiSans"/>
                <a:ea typeface="MiSans"/>
              </a:rPr>
              <a:t>全算子NPU部署</a:t>
            </a:r>
            <a:endParaRPr lang="en-US" sz="1900" noProof="1"/>
          </a:p>
        </p:txBody>
      </p:sp>
      <p:sp>
        <p:nvSpPr>
          <p:cNvPr id="90" name="st3"/>
          <p:cNvSpPr/>
          <p:nvPr/>
        </p:nvSpPr>
        <p:spPr>
          <a:xfrm>
            <a:off x="17373600" y="9423400"/>
            <a:ext cx="3556000" cy="2070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91" name="st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eyJpY29uTmFtZSI6ImZhczpkYXRhYmFzZSJ9</pptd:icon>
              </p:ext>
            </p:extLst>
          </p:nvPr>
        </p:nvSpPr>
        <p:spPr>
          <a:xfrm>
            <a:off x="17703800" y="98552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92" name="st3-num"/>
          <p:cNvSpPr txBox="1"/>
          <p:nvPr/>
        </p:nvSpPr>
        <p:spPr>
          <a:xfrm>
            <a:off x="18288000" y="9728200"/>
            <a:ext cx="25400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noProof="1">
                <a:solidFill>
                  <a:srgbClr val="10183F"/>
                </a:solidFill>
                <a:latin typeface="MiSans"/>
                <a:ea typeface="MiSans"/>
              </a:rPr>
              <a:t>189,312</a:t>
            </a:r>
            <a:r>
              <a:rPr lang="en-US" sz="2000" b="1" noProof="1">
                <a:solidFill>
                  <a:srgbClr val="10183F"/>
                </a:solidFill>
                <a:latin typeface="MiSans"/>
                <a:ea typeface="MiSans"/>
              </a:rPr>
              <a:t> B</a:t>
            </a:r>
            <a:endParaRPr lang="en-US" sz="1600" noProof="1"/>
          </a:p>
        </p:txBody>
      </p:sp>
      <p:sp>
        <p:nvSpPr>
          <p:cNvPr id="93" name="st3-cap"/>
          <p:cNvSpPr txBox="1"/>
          <p:nvPr/>
        </p:nvSpPr>
        <p:spPr>
          <a:xfrm>
            <a:off x="17373600" y="108966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noProof="1">
                <a:solidFill>
                  <a:srgbClr val="10183F"/>
                </a:solidFill>
                <a:latin typeface="MiSans"/>
                <a:ea typeface="MiSans"/>
              </a:rPr>
              <a:t>双模型共享arena</a:t>
            </a:r>
            <a:endParaRPr lang="en-US" sz="1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1F6FE"/>
            </a:gs>
            <a:gs pos="100000">
              <a:srgbClr val="FFFF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dge"/>
          <p:cNvSpPr/>
          <p:nvPr/>
        </p:nvSpPr>
        <p:spPr>
          <a:xfrm>
            <a:off x="101600" y="177800"/>
            <a:ext cx="1422400" cy="1117600"/>
          </a:xfrm>
          <a:prstGeom prst="roundRect">
            <a:avLst>
              <a:gd name="adj" fmla="val 14000"/>
            </a:avLst>
          </a:prstGeom>
          <a:solidFill>
            <a:srgbClr val="0A1030"/>
          </a:solidFill>
          <a:ln>
            <a:noFill/>
          </a:ln>
        </p:spPr>
      </p:sp>
      <p:sp>
        <p:nvSpPr>
          <p:cNvPr id="3" name="hdr-badge-num"/>
          <p:cNvSpPr txBox="1"/>
          <p:nvPr/>
        </p:nvSpPr>
        <p:spPr>
          <a:xfrm>
            <a:off x="101600" y="177800"/>
            <a:ext cx="1422400" cy="111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000" b="1" noProof="1">
                <a:solidFill>
                  <a:srgbClr val="FFFFFF"/>
                </a:solidFill>
                <a:latin typeface="MiSans"/>
                <a:ea typeface="MiSans"/>
              </a:rPr>
              <a:t>06</a:t>
            </a:r>
            <a:endParaRPr lang="en-US" sz="5000" noProof="1"/>
          </a:p>
        </p:txBody>
      </p:sp>
      <p:sp>
        <p:nvSpPr>
          <p:cNvPr id="4" name="hdr-conn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eyJ2aWV3Qm94IjpbMTgsNF0sInBvaW50cyI6IjAsMiAxOCwyIn0</pptd:line>
              </p:ext>
            </p:extLst>
          </p:nvPr>
        </p:nvSpPr>
        <p:spPr>
          <a:xfrm>
            <a:off x="1549400" y="723900"/>
            <a:ext cx="228600" cy="50800"/>
          </a:xfrm>
          <a:custGeom>
            <a:avLst/>
            <a:gdLst/>
            <a:ahLst/>
            <a:cxnLst/>
            <a:rect l="l" t="t" r="r" b="b"/>
            <a:pathLst>
              <a:path w="18" h="4">
                <a:moveTo>
                  <a:pt x="0" y="2"/>
                </a:moveTo>
                <a:lnTo>
                  <a:pt x="18" y="2"/>
                </a:lnTo>
              </a:path>
            </a:pathLst>
          </a:custGeom>
          <a:noFill/>
          <a:ln w="25400" cap="rnd">
            <a:solidFill>
              <a:srgbClr val="0A1030"/>
            </a:solidFill>
            <a:round/>
          </a:ln>
        </p:spPr>
      </p:sp>
      <p:sp>
        <p:nvSpPr>
          <p:cNvPr id="5" name="hdr-dot"/>
          <p:cNvSpPr/>
          <p:nvPr/>
        </p:nvSpPr>
        <p:spPr>
          <a:xfrm>
            <a:off x="1727200" y="673100"/>
            <a:ext cx="127000" cy="127000"/>
          </a:xfrm>
          <a:prstGeom prst="ellipse">
            <a:avLst/>
          </a:prstGeom>
          <a:solidFill>
            <a:srgbClr val="0A1030"/>
          </a:solidFill>
          <a:ln>
            <a:noFill/>
          </a:ln>
        </p:spPr>
      </p:sp>
      <p:sp>
        <p:nvSpPr>
          <p:cNvPr id="6" name="hdr-pill"/>
          <p:cNvSpPr/>
          <p:nvPr/>
        </p:nvSpPr>
        <p:spPr>
          <a:xfrm>
            <a:off x="1879600" y="342900"/>
            <a:ext cx="2260600" cy="609600"/>
          </a:xfrm>
          <a:prstGeom prst="roundRect">
            <a:avLst>
              <a:gd name="adj" fmla="val 50000"/>
            </a:avLst>
          </a:prstGeom>
          <a:solidFill>
            <a:srgbClr val="0A56E7"/>
          </a:solidFill>
          <a:ln>
            <a:noFill/>
          </a:ln>
        </p:spPr>
      </p:sp>
      <p:sp>
        <p:nvSpPr>
          <p:cNvPr id="7" name="hdr-pill-text"/>
          <p:cNvSpPr txBox="1"/>
          <p:nvPr/>
        </p:nvSpPr>
        <p:spPr>
          <a:xfrm>
            <a:off x="1879600" y="342900"/>
            <a:ext cx="22606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noProof="1">
                <a:solidFill>
                  <a:srgbClr val="FFFFFF"/>
                </a:solidFill>
                <a:latin typeface="MiSans"/>
                <a:ea typeface="MiSans"/>
              </a:rPr>
              <a:t>人机交互</a:t>
            </a:r>
            <a:endParaRPr lang="en-US" sz="2600" noProof="1"/>
          </a:p>
        </p:txBody>
      </p:sp>
      <p:sp>
        <p:nvSpPr>
          <p:cNvPr id="8" name="deco-chip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19761200" y="203200"/>
            <a:ext cx="1168400" cy="1168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D4E3FA"/>
          </a:solidFill>
          <a:ln>
            <a:noFill/>
          </a:ln>
        </p:spPr>
      </p:sp>
      <p:sp>
        <p:nvSpPr>
          <p:cNvPr id="9" name="main-title"/>
          <p:cNvSpPr txBox="1"/>
          <p:nvPr/>
        </p:nvSpPr>
        <p:spPr>
          <a:xfrm>
            <a:off x="3632200" y="965200"/>
            <a:ext cx="13970000" cy="101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noProof="1">
                <a:solidFill>
                  <a:srgbClr val="10183F"/>
                </a:solidFill>
                <a:latin typeface="MiSans"/>
                <a:ea typeface="MiSans"/>
              </a:rPr>
              <a:t>控制、识别、分析与诊断的一体化界面</a:t>
            </a:r>
            <a:endParaRPr lang="en-US" sz="5600" noProof="1"/>
          </a:p>
        </p:txBody>
      </p:sp>
      <p:sp>
        <p:nvSpPr>
          <p:cNvPr id="10" name="sub-title"/>
          <p:cNvSpPr txBox="1"/>
          <p:nvPr/>
        </p:nvSpPr>
        <p:spPr>
          <a:xfrm>
            <a:off x="4902200" y="19812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700" b="1" noProof="1">
                <a:solidFill>
                  <a:srgbClr val="0A56E7"/>
                </a:solidFill>
                <a:latin typeface="MiSans"/>
                <a:ea typeface="MiSans"/>
              </a:rPr>
              <a:t>全频扫描 · 重点锁定 · 真实STFT瀑布 · 工程运行诊断</a:t>
            </a:r>
            <a:endParaRPr lang="en-US" sz="2700" noProof="1"/>
          </a:p>
        </p:txBody>
      </p:sp>
      <p:pic>
        <p:nvPicPr>
          <p:cNvPr id="11" name="ui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0" y="2489200"/>
            <a:ext cx="12509500" cy="7696200"/>
          </a:xfrm>
          <a:prstGeom prst="rect">
            <a:avLst/>
          </a:prstGeom>
          <a:ln>
            <a:noFill/>
          </a:ln>
        </p:spPr>
      </p:pic>
      <p:sp>
        <p:nvSpPr>
          <p:cNvPr id="12" name="lc0"/>
          <p:cNvSpPr/>
          <p:nvPr/>
        </p:nvSpPr>
        <p:spPr>
          <a:xfrm>
            <a:off x="304800" y="2476500"/>
            <a:ext cx="3378200" cy="2133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13" name="lc0-num"/>
          <p:cNvSpPr/>
          <p:nvPr/>
        </p:nvSpPr>
        <p:spPr>
          <a:xfrm>
            <a:off x="558800" y="2730500"/>
            <a:ext cx="482600" cy="4826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14" name="lc0-numtext"/>
          <p:cNvSpPr txBox="1"/>
          <p:nvPr/>
        </p:nvSpPr>
        <p:spPr>
          <a:xfrm>
            <a:off x="558800" y="27305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b="1" noProof="1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lang="en-US" sz="1900" noProof="1"/>
          </a:p>
        </p:txBody>
      </p:sp>
      <p:sp>
        <p:nvSpPr>
          <p:cNvPr id="15" name="lc0-title"/>
          <p:cNvSpPr txBox="1"/>
          <p:nvPr/>
        </p:nvSpPr>
        <p:spPr>
          <a:xfrm>
            <a:off x="1193800" y="2730500"/>
            <a:ext cx="228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A56E7"/>
                </a:solidFill>
                <a:latin typeface="MiSans"/>
                <a:ea typeface="MiSans"/>
              </a:rPr>
              <a:t>任务模式控制</a:t>
            </a:r>
            <a:endParaRPr lang="en-US" sz="2300" noProof="1"/>
          </a:p>
        </p:txBody>
      </p:sp>
      <p:sp>
        <p:nvSpPr>
          <p:cNvPr id="16" name="lc0-desc"/>
          <p:cNvSpPr txBox="1"/>
          <p:nvPr/>
        </p:nvSpPr>
        <p:spPr>
          <a:xfrm>
            <a:off x="558800" y="3390900"/>
            <a:ext cx="2667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全频扫描四频轮询 · 重点锁定单频连续</a:t>
            </a:r>
            <a:endParaRPr lang="en-US" sz="1800" noProof="1"/>
          </a:p>
        </p:txBody>
      </p:sp>
      <p:sp>
        <p:nvSpPr>
          <p:cNvPr id="18" name="lc1"/>
          <p:cNvSpPr/>
          <p:nvPr/>
        </p:nvSpPr>
        <p:spPr>
          <a:xfrm>
            <a:off x="304800" y="5232400"/>
            <a:ext cx="3378200" cy="2133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19" name="lc1-num"/>
          <p:cNvSpPr/>
          <p:nvPr/>
        </p:nvSpPr>
        <p:spPr>
          <a:xfrm>
            <a:off x="558800" y="5486400"/>
            <a:ext cx="482600" cy="4826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20" name="lc1-numtext"/>
          <p:cNvSpPr txBox="1"/>
          <p:nvPr/>
        </p:nvSpPr>
        <p:spPr>
          <a:xfrm>
            <a:off x="558800" y="54864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b="1" noProof="1">
                <a:solidFill>
                  <a:srgbClr val="FFFFFF"/>
                </a:solidFill>
                <a:latin typeface="MiSans"/>
                <a:ea typeface="MiSans"/>
              </a:rPr>
              <a:t>02</a:t>
            </a:r>
            <a:endParaRPr lang="en-US" sz="1900" noProof="1"/>
          </a:p>
        </p:txBody>
      </p:sp>
      <p:sp>
        <p:nvSpPr>
          <p:cNvPr id="21" name="lc1-title"/>
          <p:cNvSpPr txBox="1"/>
          <p:nvPr/>
        </p:nvSpPr>
        <p:spPr>
          <a:xfrm>
            <a:off x="1193800" y="5486400"/>
            <a:ext cx="228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A56E7"/>
                </a:solidFill>
                <a:latin typeface="MiSans"/>
                <a:ea typeface="MiSans"/>
              </a:rPr>
              <a:t>多目标状态总览</a:t>
            </a:r>
            <a:endParaRPr lang="en-US" sz="2300" noProof="1"/>
          </a:p>
        </p:txBody>
      </p:sp>
      <p:sp>
        <p:nvSpPr>
          <p:cNvPr id="22" name="lc1-desc"/>
          <p:cNvSpPr txBox="1"/>
          <p:nvPr/>
        </p:nvSpPr>
        <p:spPr>
          <a:xfrm>
            <a:off x="558800" y="6146800"/>
            <a:ext cx="2667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大疆/小霸王/乐迪AT9S/ 云卓T12实时状态</a:t>
            </a:r>
            <a:endParaRPr lang="en-US" sz="1800" noProof="1"/>
          </a:p>
        </p:txBody>
      </p:sp>
      <p:sp>
        <p:nvSpPr>
          <p:cNvPr id="24" name="lc2"/>
          <p:cNvSpPr/>
          <p:nvPr/>
        </p:nvSpPr>
        <p:spPr>
          <a:xfrm>
            <a:off x="304800" y="8077200"/>
            <a:ext cx="3378200" cy="2133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25" name="lc2-num"/>
          <p:cNvSpPr/>
          <p:nvPr/>
        </p:nvSpPr>
        <p:spPr>
          <a:xfrm>
            <a:off x="558800" y="8331200"/>
            <a:ext cx="482600" cy="4826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26" name="lc2-numtext"/>
          <p:cNvSpPr txBox="1"/>
          <p:nvPr/>
        </p:nvSpPr>
        <p:spPr>
          <a:xfrm>
            <a:off x="558800" y="83312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b="1" noProof="1">
                <a:solidFill>
                  <a:srgbClr val="FFFFFF"/>
                </a:solidFill>
                <a:latin typeface="MiSans"/>
                <a:ea typeface="MiSans"/>
              </a:rPr>
              <a:t>03</a:t>
            </a:r>
            <a:endParaRPr lang="en-US" sz="1900" noProof="1"/>
          </a:p>
        </p:txBody>
      </p:sp>
      <p:sp>
        <p:nvSpPr>
          <p:cNvPr id="27" name="lc2-title"/>
          <p:cNvSpPr txBox="1"/>
          <p:nvPr/>
        </p:nvSpPr>
        <p:spPr>
          <a:xfrm>
            <a:off x="1193800" y="8331200"/>
            <a:ext cx="2286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A56E7"/>
                </a:solidFill>
                <a:latin typeface="MiSans"/>
                <a:ea typeface="MiSans"/>
              </a:rPr>
              <a:t>信号瀑布分析</a:t>
            </a:r>
            <a:endParaRPr lang="en-US" sz="2300" noProof="1"/>
          </a:p>
        </p:txBody>
      </p:sp>
      <p:sp>
        <p:nvSpPr>
          <p:cNvPr id="28" name="lc2-desc"/>
          <p:cNvSpPr txBox="1"/>
          <p:nvPr/>
        </p:nvSpPr>
        <p:spPr>
          <a:xfrm>
            <a:off x="558800" y="8991600"/>
            <a:ext cx="2667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真实STFT瀑布 · 可解释信号证据</a:t>
            </a:r>
            <a:endParaRPr lang="en-US" sz="1800" noProof="1"/>
          </a:p>
        </p:txBody>
      </p:sp>
      <p:sp>
        <p:nvSpPr>
          <p:cNvPr id="30" name="lm01"/>
          <p:cNvSpPr/>
          <p:nvPr/>
        </p:nvSpPr>
        <p:spPr>
          <a:xfrm>
            <a:off x="4089400" y="2946400"/>
            <a:ext cx="406400" cy="4064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31" name="lm01-t"/>
          <p:cNvSpPr txBox="1"/>
          <p:nvPr/>
        </p:nvSpPr>
        <p:spPr>
          <a:xfrm>
            <a:off x="4089400" y="29464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lang="en-US" sz="1600" noProof="1"/>
          </a:p>
        </p:txBody>
      </p:sp>
      <p:sp>
        <p:nvSpPr>
          <p:cNvPr id="32" name="lm02"/>
          <p:cNvSpPr/>
          <p:nvPr/>
        </p:nvSpPr>
        <p:spPr>
          <a:xfrm>
            <a:off x="4089400" y="3708400"/>
            <a:ext cx="406400" cy="4064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33" name="lm02-t"/>
          <p:cNvSpPr txBox="1"/>
          <p:nvPr/>
        </p:nvSpPr>
        <p:spPr>
          <a:xfrm>
            <a:off x="4089400" y="37084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MiSans"/>
                <a:ea typeface="MiSans"/>
              </a:rPr>
              <a:t>02</a:t>
            </a:r>
            <a:endParaRPr lang="en-US" sz="1600" noProof="1"/>
          </a:p>
        </p:txBody>
      </p:sp>
      <p:sp>
        <p:nvSpPr>
          <p:cNvPr id="34" name="lm03"/>
          <p:cNvSpPr/>
          <p:nvPr/>
        </p:nvSpPr>
        <p:spPr>
          <a:xfrm>
            <a:off x="4133850" y="5588000"/>
            <a:ext cx="406400" cy="4064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35" name="lm03-t"/>
          <p:cNvSpPr txBox="1"/>
          <p:nvPr/>
        </p:nvSpPr>
        <p:spPr>
          <a:xfrm>
            <a:off x="4133850" y="55880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MiSans"/>
                <a:ea typeface="MiSans"/>
              </a:rPr>
              <a:t>03</a:t>
            </a:r>
            <a:endParaRPr lang="en-US" sz="1600" noProof="1"/>
          </a:p>
        </p:txBody>
      </p:sp>
      <p:sp>
        <p:nvSpPr>
          <p:cNvPr id="36" name="lm04"/>
          <p:cNvSpPr/>
          <p:nvPr/>
        </p:nvSpPr>
        <p:spPr>
          <a:xfrm>
            <a:off x="4064000" y="7645400"/>
            <a:ext cx="406400" cy="4064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37" name="lm04-t"/>
          <p:cNvSpPr txBox="1"/>
          <p:nvPr/>
        </p:nvSpPr>
        <p:spPr>
          <a:xfrm>
            <a:off x="4064000" y="76454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MiSans"/>
                <a:ea typeface="MiSans"/>
              </a:rPr>
              <a:t>04</a:t>
            </a:r>
            <a:endParaRPr lang="en-US" sz="1600" noProof="1"/>
          </a:p>
        </p:txBody>
      </p:sp>
      <p:sp>
        <p:nvSpPr>
          <p:cNvPr id="38" name="lm05"/>
          <p:cNvSpPr/>
          <p:nvPr/>
        </p:nvSpPr>
        <p:spPr>
          <a:xfrm>
            <a:off x="4064000" y="9194800"/>
            <a:ext cx="406400" cy="4064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39" name="lm05-t"/>
          <p:cNvSpPr txBox="1"/>
          <p:nvPr/>
        </p:nvSpPr>
        <p:spPr>
          <a:xfrm>
            <a:off x="4064000" y="91948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MiSans"/>
                <a:ea typeface="MiSans"/>
              </a:rPr>
              <a:t>05</a:t>
            </a:r>
            <a:endParaRPr lang="en-US" sz="1600" noProof="1"/>
          </a:p>
        </p:txBody>
      </p:sp>
      <p:sp>
        <p:nvSpPr>
          <p:cNvPr id="44" name="rm06"/>
          <p:cNvSpPr/>
          <p:nvPr/>
        </p:nvSpPr>
        <p:spPr>
          <a:xfrm>
            <a:off x="17118351" y="7569200"/>
            <a:ext cx="406400" cy="4064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45" name="rm06-t"/>
          <p:cNvSpPr txBox="1"/>
          <p:nvPr/>
        </p:nvSpPr>
        <p:spPr>
          <a:xfrm>
            <a:off x="17118351" y="7569200"/>
            <a:ext cx="4064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MiSans"/>
                <a:ea typeface="MiSans"/>
              </a:rPr>
              <a:t>06</a:t>
            </a:r>
            <a:endParaRPr lang="en-US" sz="1600" noProof="1"/>
          </a:p>
        </p:txBody>
      </p:sp>
      <p:sp>
        <p:nvSpPr>
          <p:cNvPr id="46" name="rc0"/>
          <p:cNvSpPr/>
          <p:nvPr/>
        </p:nvSpPr>
        <p:spPr>
          <a:xfrm>
            <a:off x="17551400" y="2476500"/>
            <a:ext cx="3378200" cy="2006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47" name="rc0-num"/>
          <p:cNvSpPr/>
          <p:nvPr/>
        </p:nvSpPr>
        <p:spPr>
          <a:xfrm>
            <a:off x="17805400" y="2730500"/>
            <a:ext cx="482600" cy="4826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48" name="rc0-numtext"/>
          <p:cNvSpPr txBox="1"/>
          <p:nvPr/>
        </p:nvSpPr>
        <p:spPr>
          <a:xfrm>
            <a:off x="17805400" y="27305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b="1" noProof="1">
                <a:solidFill>
                  <a:srgbClr val="FFFFFF"/>
                </a:solidFill>
                <a:latin typeface="MiSans"/>
                <a:ea typeface="MiSans"/>
              </a:rPr>
              <a:t>04</a:t>
            </a:r>
            <a:endParaRPr lang="en-US" sz="1900" noProof="1"/>
          </a:p>
        </p:txBody>
      </p:sp>
      <p:sp>
        <p:nvSpPr>
          <p:cNvPr id="49" name="rc0-title"/>
          <p:cNvSpPr txBox="1"/>
          <p:nvPr/>
        </p:nvSpPr>
        <p:spPr>
          <a:xfrm>
            <a:off x="18440400" y="2730500"/>
            <a:ext cx="2413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A56E7"/>
                </a:solidFill>
                <a:latin typeface="MiSans"/>
                <a:ea typeface="MiSans"/>
              </a:rPr>
              <a:t>实时功率频谱</a:t>
            </a:r>
            <a:endParaRPr lang="en-US" sz="2300" noProof="1"/>
          </a:p>
        </p:txBody>
      </p:sp>
      <p:sp>
        <p:nvSpPr>
          <p:cNvPr id="50" name="rc0-desc"/>
          <p:cNvSpPr txBox="1"/>
          <p:nvPr/>
        </p:nvSpPr>
        <p:spPr>
          <a:xfrm>
            <a:off x="17805400" y="3390900"/>
            <a:ext cx="2921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峰值/底噪/占用带宽 实时估计</a:t>
            </a:r>
            <a:endParaRPr lang="en-US" sz="1800" noProof="1"/>
          </a:p>
        </p:txBody>
      </p:sp>
      <p:sp>
        <p:nvSpPr>
          <p:cNvPr id="52" name="rc1"/>
          <p:cNvSpPr/>
          <p:nvPr/>
        </p:nvSpPr>
        <p:spPr>
          <a:xfrm>
            <a:off x="17551400" y="4876800"/>
            <a:ext cx="33782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53" name="rc1-num"/>
          <p:cNvSpPr/>
          <p:nvPr/>
        </p:nvSpPr>
        <p:spPr>
          <a:xfrm>
            <a:off x="17805400" y="5130800"/>
            <a:ext cx="482600" cy="4826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54" name="rc1-numtext"/>
          <p:cNvSpPr txBox="1"/>
          <p:nvPr/>
        </p:nvSpPr>
        <p:spPr>
          <a:xfrm>
            <a:off x="17805400" y="51308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b="1" noProof="1">
                <a:solidFill>
                  <a:srgbClr val="FFFFFF"/>
                </a:solidFill>
                <a:latin typeface="MiSans"/>
                <a:ea typeface="MiSans"/>
              </a:rPr>
              <a:t>05</a:t>
            </a:r>
            <a:endParaRPr lang="en-US" sz="1900" noProof="1"/>
          </a:p>
        </p:txBody>
      </p:sp>
      <p:sp>
        <p:nvSpPr>
          <p:cNvPr id="55" name="rc1-title"/>
          <p:cNvSpPr txBox="1"/>
          <p:nvPr/>
        </p:nvSpPr>
        <p:spPr>
          <a:xfrm>
            <a:off x="18440400" y="5130800"/>
            <a:ext cx="2413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A56E7"/>
                </a:solidFill>
                <a:latin typeface="MiSans"/>
                <a:ea typeface="MiSans"/>
              </a:rPr>
              <a:t>四通道频段监测</a:t>
            </a:r>
            <a:endParaRPr lang="en-US" sz="2300" noProof="1"/>
          </a:p>
        </p:txBody>
      </p:sp>
      <p:sp>
        <p:nvSpPr>
          <p:cNvPr id="56" name="rc1-desc"/>
          <p:cNvSpPr txBox="1"/>
          <p:nvPr/>
        </p:nvSpPr>
        <p:spPr>
          <a:xfrm>
            <a:off x="17805400" y="5791200"/>
            <a:ext cx="2921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CH1-CH4： 2420/2464/5760/5816MHz 扫描与锁定状态</a:t>
            </a:r>
            <a:endParaRPr lang="en-US" sz="1800" noProof="1"/>
          </a:p>
        </p:txBody>
      </p:sp>
      <p:sp>
        <p:nvSpPr>
          <p:cNvPr id="58" name="rc2"/>
          <p:cNvSpPr/>
          <p:nvPr/>
        </p:nvSpPr>
        <p:spPr>
          <a:xfrm>
            <a:off x="17551400" y="7772400"/>
            <a:ext cx="33782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9F7"/>
            </a:solidFill>
          </a:ln>
        </p:spPr>
      </p:sp>
      <p:sp>
        <p:nvSpPr>
          <p:cNvPr id="59" name="rc2-num"/>
          <p:cNvSpPr/>
          <p:nvPr/>
        </p:nvSpPr>
        <p:spPr>
          <a:xfrm>
            <a:off x="17805400" y="8026400"/>
            <a:ext cx="482600" cy="482600"/>
          </a:xfrm>
          <a:prstGeom prst="ellipse">
            <a:avLst/>
          </a:prstGeom>
          <a:gradFill rotWithShape="1">
            <a:gsLst>
              <a:gs pos="0">
                <a:srgbClr val="F89B4A"/>
              </a:gs>
              <a:gs pos="100000">
                <a:srgbClr val="F26722"/>
              </a:gs>
            </a:gsLst>
            <a:lin ang="8100000" scaled="1"/>
          </a:gradFill>
          <a:ln>
            <a:noFill/>
          </a:ln>
        </p:spPr>
      </p:sp>
      <p:sp>
        <p:nvSpPr>
          <p:cNvPr id="60" name="rc2-numtext"/>
          <p:cNvSpPr txBox="1"/>
          <p:nvPr/>
        </p:nvSpPr>
        <p:spPr>
          <a:xfrm>
            <a:off x="17805400" y="80264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b="1" noProof="1">
                <a:solidFill>
                  <a:srgbClr val="FFFFFF"/>
                </a:solidFill>
                <a:latin typeface="MiSans"/>
                <a:ea typeface="MiSans"/>
              </a:rPr>
              <a:t>06</a:t>
            </a:r>
            <a:endParaRPr lang="en-US" sz="1900" noProof="1"/>
          </a:p>
        </p:txBody>
      </p:sp>
      <p:sp>
        <p:nvSpPr>
          <p:cNvPr id="61" name="rc2-title"/>
          <p:cNvSpPr txBox="1"/>
          <p:nvPr/>
        </p:nvSpPr>
        <p:spPr>
          <a:xfrm>
            <a:off x="18440400" y="8026400"/>
            <a:ext cx="2413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300" b="1" noProof="1">
                <a:solidFill>
                  <a:srgbClr val="0A56E7"/>
                </a:solidFill>
                <a:latin typeface="MiSans"/>
                <a:ea typeface="MiSans"/>
              </a:rPr>
              <a:t>目标详情与诊断</a:t>
            </a:r>
            <a:endParaRPr lang="en-US" sz="2300" noProof="1"/>
          </a:p>
        </p:txBody>
      </p:sp>
      <p:sp>
        <p:nvSpPr>
          <p:cNvPr id="62" name="rc2-desc"/>
          <p:cNvSpPr txBox="1"/>
          <p:nvPr/>
        </p:nvSpPr>
        <p:spPr>
          <a:xfrm>
            <a:off x="17805400" y="8686800"/>
            <a:ext cx="2921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800" noProof="1">
                <a:solidFill>
                  <a:srgbClr val="1F2A44"/>
                </a:solidFill>
                <a:latin typeface="MiSans"/>
                <a:ea typeface="MiSans"/>
              </a:rPr>
              <a:t>置信度 · Scan 6.3Hz · FPS · UF</a:t>
            </a:r>
            <a:endParaRPr lang="en-US" sz="1800" noProof="1"/>
          </a:p>
        </p:txBody>
      </p:sp>
      <p:sp>
        <p:nvSpPr>
          <p:cNvPr id="64" name="pp0"/>
          <p:cNvSpPr/>
          <p:nvPr/>
        </p:nvSpPr>
        <p:spPr>
          <a:xfrm>
            <a:off x="508000" y="10566400"/>
            <a:ext cx="2540000" cy="812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9D2F2"/>
            </a:solidFill>
          </a:ln>
        </p:spPr>
      </p:sp>
      <p:sp>
        <p:nvSpPr>
          <p:cNvPr id="65" name="pp0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eyJpY29uTmFtZSI6ImZhczpoYW5kLXBvaW50ZXIifQ</pptd:icon>
              </p:ext>
            </p:extLst>
          </p:nvPr>
        </p:nvSpPr>
        <p:spPr>
          <a:xfrm>
            <a:off x="711200" y="1079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40"/>
                </a:moveTo>
                <a:cubicBezTo>
                  <a:pt x="128" y="18"/>
                  <a:pt x="146" y="0"/>
                  <a:pt x="168" y="0"/>
                </a:cubicBezTo>
                <a:cubicBezTo>
                  <a:pt x="190" y="0"/>
                  <a:pt x="208" y="18"/>
                  <a:pt x="208" y="40"/>
                </a:cubicBezTo>
                <a:lnTo>
                  <a:pt x="208" y="188"/>
                </a:lnTo>
                <a:cubicBezTo>
                  <a:pt x="217" y="181"/>
                  <a:pt x="228" y="176"/>
                  <a:pt x="240" y="176"/>
                </a:cubicBezTo>
                <a:cubicBezTo>
                  <a:pt x="261" y="176"/>
                  <a:pt x="278" y="189"/>
                  <a:pt x="285" y="207"/>
                </a:cubicBezTo>
                <a:cubicBezTo>
                  <a:pt x="294" y="198"/>
                  <a:pt x="306" y="192"/>
                  <a:pt x="320" y="192"/>
                </a:cubicBezTo>
                <a:cubicBezTo>
                  <a:pt x="345" y="192"/>
                  <a:pt x="366" y="212"/>
                  <a:pt x="368" y="236"/>
                </a:cubicBezTo>
                <a:cubicBezTo>
                  <a:pt x="376" y="229"/>
                  <a:pt x="388" y="224"/>
                  <a:pt x="400" y="224"/>
                </a:cubicBezTo>
                <a:cubicBezTo>
                  <a:pt x="427" y="224"/>
                  <a:pt x="448" y="246"/>
                  <a:pt x="448" y="272"/>
                </a:cubicBezTo>
                <a:lnTo>
                  <a:pt x="448" y="384"/>
                </a:lnTo>
                <a:cubicBezTo>
                  <a:pt x="448" y="455"/>
                  <a:pt x="391" y="512"/>
                  <a:pt x="320" y="512"/>
                </a:cubicBezTo>
                <a:lnTo>
                  <a:pt x="235" y="512"/>
                </a:lnTo>
                <a:cubicBezTo>
                  <a:pt x="230" y="512"/>
                  <a:pt x="225" y="512"/>
                  <a:pt x="220" y="511"/>
                </a:cubicBezTo>
                <a:cubicBezTo>
                  <a:pt x="165" y="505"/>
                  <a:pt x="114" y="477"/>
                  <a:pt x="80" y="432"/>
                </a:cubicBezTo>
                <a:lnTo>
                  <a:pt x="8" y="336"/>
                </a:lnTo>
                <a:cubicBezTo>
                  <a:pt x="-5" y="318"/>
                  <a:pt x="-2" y="293"/>
                  <a:pt x="16" y="280"/>
                </a:cubicBezTo>
                <a:cubicBezTo>
                  <a:pt x="34" y="267"/>
                  <a:pt x="59" y="270"/>
                  <a:pt x="72" y="288"/>
                </a:cubicBezTo>
                <a:lnTo>
                  <a:pt x="128" y="363"/>
                </a:lnTo>
                <a:lnTo>
                  <a:pt x="128" y="40"/>
                </a:lnTo>
                <a:close/>
                <a:moveTo>
                  <a:pt x="240" y="304"/>
                </a:moveTo>
                <a:cubicBezTo>
                  <a:pt x="240" y="295"/>
                  <a:pt x="233" y="288"/>
                  <a:pt x="224" y="288"/>
                </a:cubicBezTo>
                <a:cubicBezTo>
                  <a:pt x="215" y="288"/>
                  <a:pt x="208" y="295"/>
                  <a:pt x="208" y="304"/>
                </a:cubicBezTo>
                <a:lnTo>
                  <a:pt x="208" y="400"/>
                </a:lnTo>
                <a:cubicBezTo>
                  <a:pt x="208" y="409"/>
                  <a:pt x="215" y="416"/>
                  <a:pt x="224" y="416"/>
                </a:cubicBezTo>
                <a:cubicBezTo>
                  <a:pt x="233" y="416"/>
                  <a:pt x="240" y="409"/>
                  <a:pt x="240" y="400"/>
                </a:cubicBezTo>
                <a:lnTo>
                  <a:pt x="240" y="304"/>
                </a:lnTo>
                <a:close/>
                <a:moveTo>
                  <a:pt x="288" y="288"/>
                </a:moveTo>
                <a:cubicBezTo>
                  <a:pt x="279" y="288"/>
                  <a:pt x="272" y="295"/>
                  <a:pt x="272" y="304"/>
                </a:cubicBezTo>
                <a:lnTo>
                  <a:pt x="272" y="400"/>
                </a:lnTo>
                <a:cubicBezTo>
                  <a:pt x="272" y="409"/>
                  <a:pt x="279" y="416"/>
                  <a:pt x="288" y="416"/>
                </a:cubicBezTo>
                <a:cubicBezTo>
                  <a:pt x="297" y="416"/>
                  <a:pt x="304" y="409"/>
                  <a:pt x="304" y="400"/>
                </a:cubicBezTo>
                <a:lnTo>
                  <a:pt x="304" y="304"/>
                </a:lnTo>
                <a:cubicBezTo>
                  <a:pt x="304" y="295"/>
                  <a:pt x="297" y="288"/>
                  <a:pt x="288" y="288"/>
                </a:cubicBezTo>
                <a:close/>
                <a:moveTo>
                  <a:pt x="368" y="304"/>
                </a:moveTo>
                <a:cubicBezTo>
                  <a:pt x="368" y="295"/>
                  <a:pt x="361" y="288"/>
                  <a:pt x="352" y="288"/>
                </a:cubicBezTo>
                <a:cubicBezTo>
                  <a:pt x="343" y="288"/>
                  <a:pt x="336" y="295"/>
                  <a:pt x="336" y="304"/>
                </a:cubicBezTo>
                <a:lnTo>
                  <a:pt x="336" y="400"/>
                </a:lnTo>
                <a:cubicBezTo>
                  <a:pt x="336" y="409"/>
                  <a:pt x="343" y="416"/>
                  <a:pt x="352" y="416"/>
                </a:cubicBezTo>
                <a:cubicBezTo>
                  <a:pt x="361" y="416"/>
                  <a:pt x="368" y="409"/>
                  <a:pt x="368" y="400"/>
                </a:cubicBezTo>
                <a:lnTo>
                  <a:pt x="368" y="304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66" name="pp0-t"/>
          <p:cNvSpPr txBox="1"/>
          <p:nvPr/>
        </p:nvSpPr>
        <p:spPr>
          <a:xfrm>
            <a:off x="1168400" y="105664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>
                <a:solidFill>
                  <a:srgbClr val="10183F"/>
                </a:solidFill>
                <a:latin typeface="MiSans"/>
                <a:ea typeface="MiSans"/>
              </a:rPr>
              <a:t>GT911/IIC触摸</a:t>
            </a:r>
            <a:endParaRPr lang="en-US" sz="1900" noProof="1"/>
          </a:p>
        </p:txBody>
      </p:sp>
      <p:sp>
        <p:nvSpPr>
          <p:cNvPr id="67" name="pp-a0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3149600" y="108331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68" name="pp1"/>
          <p:cNvSpPr/>
          <p:nvPr/>
        </p:nvSpPr>
        <p:spPr>
          <a:xfrm>
            <a:off x="3606800" y="10566400"/>
            <a:ext cx="2540000" cy="812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9D2F2"/>
            </a:solidFill>
          </a:ln>
        </p:spPr>
      </p:sp>
      <p:sp>
        <p:nvSpPr>
          <p:cNvPr id="69" name="pp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3810000" y="1079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70" name="pp1-t"/>
          <p:cNvSpPr txBox="1"/>
          <p:nvPr/>
        </p:nvSpPr>
        <p:spPr>
          <a:xfrm>
            <a:off x="4267200" y="105664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>
                <a:solidFill>
                  <a:srgbClr val="10183F"/>
                </a:solidFill>
                <a:latin typeface="MiSans"/>
                <a:ea typeface="MiSans"/>
              </a:rPr>
              <a:t>CPU1/LVGL</a:t>
            </a:r>
            <a:endParaRPr lang="en-US" sz="1900" noProof="1"/>
          </a:p>
        </p:txBody>
      </p:sp>
      <p:sp>
        <p:nvSpPr>
          <p:cNvPr id="71" name="pp-a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6248400" y="108331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72" name="pp2"/>
          <p:cNvSpPr/>
          <p:nvPr/>
        </p:nvSpPr>
        <p:spPr>
          <a:xfrm>
            <a:off x="6705600" y="10566400"/>
            <a:ext cx="2540000" cy="812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9D2F2"/>
            </a:solidFill>
          </a:ln>
        </p:spPr>
      </p:sp>
      <p:sp>
        <p:nvSpPr>
          <p:cNvPr id="73" name="pp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eyJpY29uTmFtZSI6ImZhczpjbG9uZSJ9</pptd:icon>
              </p:ext>
            </p:extLst>
          </p:nvPr>
        </p:nvSpPr>
        <p:spPr>
          <a:xfrm>
            <a:off x="6908800" y="1079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88" y="448"/>
                </a:moveTo>
                <a:lnTo>
                  <a:pt x="64" y="448"/>
                </a:lnTo>
                <a:lnTo>
                  <a:pt x="64" y="224"/>
                </a:lnTo>
                <a:lnTo>
                  <a:pt x="112" y="224"/>
                </a:lnTo>
                <a:lnTo>
                  <a:pt x="112" y="160"/>
                </a:lnTo>
                <a:lnTo>
                  <a:pt x="64" y="160"/>
                </a:lnTo>
                <a:cubicBezTo>
                  <a:pt x="29" y="160"/>
                  <a:pt x="0" y="189"/>
                  <a:pt x="0" y="224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lnTo>
                  <a:pt x="288" y="512"/>
                </a:lnTo>
                <a:cubicBezTo>
                  <a:pt x="323" y="512"/>
                  <a:pt x="352" y="483"/>
                  <a:pt x="352" y="448"/>
                </a:cubicBezTo>
                <a:lnTo>
                  <a:pt x="352" y="400"/>
                </a:lnTo>
                <a:lnTo>
                  <a:pt x="288" y="400"/>
                </a:lnTo>
                <a:lnTo>
                  <a:pt x="288" y="448"/>
                </a:lnTo>
                <a:close/>
                <a:moveTo>
                  <a:pt x="224" y="352"/>
                </a:moveTo>
                <a:lnTo>
                  <a:pt x="448" y="352"/>
                </a:lnTo>
                <a:cubicBezTo>
                  <a:pt x="483" y="352"/>
                  <a:pt x="512" y="323"/>
                  <a:pt x="512" y="288"/>
                </a:cubicBezTo>
                <a:lnTo>
                  <a:pt x="512" y="64"/>
                </a:lnTo>
                <a:cubicBezTo>
                  <a:pt x="512" y="29"/>
                  <a:pt x="483" y="0"/>
                  <a:pt x="448" y="0"/>
                </a:cubicBezTo>
                <a:lnTo>
                  <a:pt x="224" y="0"/>
                </a:lnTo>
                <a:cubicBezTo>
                  <a:pt x="189" y="0"/>
                  <a:pt x="160" y="29"/>
                  <a:pt x="160" y="64"/>
                </a:cubicBezTo>
                <a:lnTo>
                  <a:pt x="160" y="288"/>
                </a:lnTo>
                <a:cubicBezTo>
                  <a:pt x="160" y="323"/>
                  <a:pt x="189" y="352"/>
                  <a:pt x="224" y="352"/>
                </a:cubicBez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74" name="pp2-t"/>
          <p:cNvSpPr txBox="1"/>
          <p:nvPr/>
        </p:nvSpPr>
        <p:spPr>
          <a:xfrm>
            <a:off x="7366000" y="105664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>
                <a:solidFill>
                  <a:srgbClr val="10183F"/>
                </a:solidFill>
                <a:highlight>
                  <a:srgbClr val="FFFF00"/>
                </a:highlight>
                <a:latin typeface="MiSans"/>
                <a:ea typeface="MiSans"/>
              </a:rPr>
              <a:t>D/AVE2D</a:t>
            </a:r>
            <a:endParaRPr lang="en-US" sz="1900" noProof="1">
              <a:highlight>
                <a:srgbClr val="FFFF00"/>
              </a:highlight>
            </a:endParaRPr>
          </a:p>
        </p:txBody>
      </p:sp>
      <p:sp>
        <p:nvSpPr>
          <p:cNvPr id="75" name="pp-a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9347200" y="108331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76" name="pp3"/>
          <p:cNvSpPr/>
          <p:nvPr/>
        </p:nvSpPr>
        <p:spPr>
          <a:xfrm>
            <a:off x="9804400" y="10566400"/>
            <a:ext cx="2540000" cy="812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9D2F2"/>
            </a:solidFill>
          </a:ln>
        </p:spPr>
      </p:sp>
      <p:sp>
        <p:nvSpPr>
          <p:cNvPr id="77" name="pp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eyJpY29uTmFtZSI6ImZhczpkaXNwbGF5In0</pptd:icon>
              </p:ext>
            </p:extLst>
          </p:nvPr>
        </p:nvSpPr>
        <p:spPr>
          <a:xfrm>
            <a:off x="10007600" y="1079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96"/>
                </a:moveTo>
                <a:lnTo>
                  <a:pt x="448" y="352"/>
                </a:lnTo>
                <a:lnTo>
                  <a:pt x="64" y="352"/>
                </a:lnTo>
                <a:lnTo>
                  <a:pt x="64" y="96"/>
                </a:lnTo>
                <a:lnTo>
                  <a:pt x="448" y="96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78" name="pp3-t"/>
          <p:cNvSpPr txBox="1"/>
          <p:nvPr/>
        </p:nvSpPr>
        <p:spPr>
          <a:xfrm>
            <a:off x="10464800" y="105664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>
                <a:solidFill>
                  <a:srgbClr val="10183F"/>
                </a:solidFill>
                <a:latin typeface="MiSans"/>
                <a:ea typeface="MiSans"/>
              </a:rPr>
              <a:t>GLCDC双缓冲</a:t>
            </a:r>
            <a:endParaRPr lang="en-US" sz="1900" noProof="1"/>
          </a:p>
        </p:txBody>
      </p:sp>
      <p:sp>
        <p:nvSpPr>
          <p:cNvPr id="79" name="pp-a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12446000" y="108331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80" name="pp4"/>
          <p:cNvSpPr/>
          <p:nvPr/>
        </p:nvSpPr>
        <p:spPr>
          <a:xfrm>
            <a:off x="12903200" y="10566400"/>
            <a:ext cx="2540000" cy="812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9D2F2"/>
            </a:solidFill>
          </a:ln>
        </p:spPr>
      </p:sp>
      <p:sp>
        <p:nvSpPr>
          <p:cNvPr id="81" name="pp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eyJpY29uTmFtZSI6ImZhczpwbHVnIn0</pptd:icon>
              </p:ext>
            </p:extLst>
          </p:nvPr>
        </p:nvSpPr>
        <p:spPr>
          <a:xfrm>
            <a:off x="13106400" y="1079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-32"/>
                </a:moveTo>
                <a:cubicBezTo>
                  <a:pt x="146" y="-32"/>
                  <a:pt x="160" y="-18"/>
                  <a:pt x="160" y="0"/>
                </a:cubicBezTo>
                <a:lnTo>
                  <a:pt x="160" y="96"/>
                </a:lnTo>
                <a:lnTo>
                  <a:pt x="288" y="96"/>
                </a:lnTo>
                <a:lnTo>
                  <a:pt x="288" y="0"/>
                </a:lnTo>
                <a:cubicBezTo>
                  <a:pt x="288" y="-18"/>
                  <a:pt x="302" y="-32"/>
                  <a:pt x="320" y="-32"/>
                </a:cubicBezTo>
                <a:cubicBezTo>
                  <a:pt x="338" y="-32"/>
                  <a:pt x="352" y="-18"/>
                  <a:pt x="352" y="0"/>
                </a:cubicBezTo>
                <a:lnTo>
                  <a:pt x="352" y="96"/>
                </a:lnTo>
                <a:lnTo>
                  <a:pt x="416" y="96"/>
                </a:lnTo>
                <a:cubicBezTo>
                  <a:pt x="434" y="96"/>
                  <a:pt x="448" y="110"/>
                  <a:pt x="448" y="128"/>
                </a:cubicBezTo>
                <a:cubicBezTo>
                  <a:pt x="448" y="146"/>
                  <a:pt x="434" y="160"/>
                  <a:pt x="416" y="160"/>
                </a:cubicBezTo>
                <a:lnTo>
                  <a:pt x="416" y="224"/>
                </a:lnTo>
                <a:cubicBezTo>
                  <a:pt x="416" y="319"/>
                  <a:pt x="347" y="398"/>
                  <a:pt x="256" y="413"/>
                </a:cubicBezTo>
                <a:lnTo>
                  <a:pt x="256" y="480"/>
                </a:lnTo>
                <a:cubicBezTo>
                  <a:pt x="256" y="498"/>
                  <a:pt x="242" y="512"/>
                  <a:pt x="224" y="512"/>
                </a:cubicBezTo>
                <a:cubicBezTo>
                  <a:pt x="206" y="512"/>
                  <a:pt x="192" y="498"/>
                  <a:pt x="192" y="480"/>
                </a:cubicBezTo>
                <a:lnTo>
                  <a:pt x="192" y="413"/>
                </a:lnTo>
                <a:cubicBezTo>
                  <a:pt x="101" y="398"/>
                  <a:pt x="32" y="319"/>
                  <a:pt x="32" y="224"/>
                </a:cubicBezTo>
                <a:lnTo>
                  <a:pt x="32" y="160"/>
                </a:lnTo>
                <a:cubicBezTo>
                  <a:pt x="14" y="160"/>
                  <a:pt x="0" y="146"/>
                  <a:pt x="0" y="128"/>
                </a:cubicBezTo>
                <a:cubicBezTo>
                  <a:pt x="0" y="110"/>
                  <a:pt x="14" y="96"/>
                  <a:pt x="32" y="96"/>
                </a:cubicBezTo>
                <a:lnTo>
                  <a:pt x="96" y="96"/>
                </a:lnTo>
                <a:lnTo>
                  <a:pt x="96" y="0"/>
                </a:lnTo>
                <a:cubicBezTo>
                  <a:pt x="96" y="-18"/>
                  <a:pt x="110" y="-32"/>
                  <a:pt x="128" y="-32"/>
                </a:cubicBez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82" name="pp4-t"/>
          <p:cNvSpPr txBox="1"/>
          <p:nvPr/>
        </p:nvSpPr>
        <p:spPr>
          <a:xfrm>
            <a:off x="13563600" y="105664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>
                <a:solidFill>
                  <a:srgbClr val="10183F"/>
                </a:solidFill>
                <a:highlight>
                  <a:srgbClr val="FFFF00"/>
                </a:highlight>
                <a:latin typeface="MiSans"/>
                <a:ea typeface="MiSans"/>
              </a:rPr>
              <a:t>MIPI DSI 2-lane</a:t>
            </a:r>
            <a:endParaRPr lang="en-US" sz="1900" noProof="1">
              <a:highlight>
                <a:srgbClr val="FFFF00"/>
              </a:highlight>
            </a:endParaRPr>
          </a:p>
        </p:txBody>
      </p:sp>
      <p:sp>
        <p:nvSpPr>
          <p:cNvPr id="83" name="pp-a4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15544800" y="108331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84" name="pp5"/>
          <p:cNvSpPr/>
          <p:nvPr/>
        </p:nvSpPr>
        <p:spPr>
          <a:xfrm>
            <a:off x="16002000" y="10566400"/>
            <a:ext cx="2540000" cy="812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9D2F2"/>
            </a:solidFill>
          </a:ln>
        </p:spPr>
      </p:sp>
      <p:sp>
        <p:nvSpPr>
          <p:cNvPr id="85" name="pp5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eyJpY29uTmFtZSI6ImZhczpkZXNrdG9wIn0</pptd:icon>
              </p:ext>
            </p:extLst>
          </p:nvPr>
        </p:nvSpPr>
        <p:spPr>
          <a:xfrm>
            <a:off x="16205200" y="1079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52"/>
                </a:lnTo>
                <a:cubicBezTo>
                  <a:pt x="0" y="387"/>
                  <a:pt x="29" y="416"/>
                  <a:pt x="64" y="416"/>
                </a:cubicBezTo>
                <a:lnTo>
                  <a:pt x="208" y="416"/>
                </a:lnTo>
                <a:lnTo>
                  <a:pt x="192" y="464"/>
                </a:lnTo>
                <a:lnTo>
                  <a:pt x="120" y="464"/>
                </a:lnTo>
                <a:cubicBezTo>
                  <a:pt x="107" y="464"/>
                  <a:pt x="96" y="475"/>
                  <a:pt x="96" y="488"/>
                </a:cubicBezTo>
                <a:cubicBezTo>
                  <a:pt x="96" y="501"/>
                  <a:pt x="107" y="512"/>
                  <a:pt x="120" y="512"/>
                </a:cubicBezTo>
                <a:lnTo>
                  <a:pt x="392" y="512"/>
                </a:lnTo>
                <a:cubicBezTo>
                  <a:pt x="405" y="512"/>
                  <a:pt x="416" y="501"/>
                  <a:pt x="416" y="488"/>
                </a:cubicBezTo>
                <a:cubicBezTo>
                  <a:pt x="416" y="475"/>
                  <a:pt x="405" y="464"/>
                  <a:pt x="392" y="464"/>
                </a:cubicBezTo>
                <a:lnTo>
                  <a:pt x="320" y="464"/>
                </a:lnTo>
                <a:lnTo>
                  <a:pt x="304" y="416"/>
                </a:lnTo>
                <a:lnTo>
                  <a:pt x="448" y="416"/>
                </a:lnTo>
                <a:cubicBezTo>
                  <a:pt x="483" y="416"/>
                  <a:pt x="512" y="387"/>
                  <a:pt x="512" y="352"/>
                </a:cubicBezTo>
                <a:lnTo>
                  <a:pt x="512" y="96"/>
                </a:lnTo>
                <a:cubicBezTo>
                  <a:pt x="512" y="61"/>
                  <a:pt x="483" y="32"/>
                  <a:pt x="448" y="32"/>
                </a:cubicBezTo>
                <a:lnTo>
                  <a:pt x="64" y="32"/>
                </a:lnTo>
                <a:close/>
                <a:moveTo>
                  <a:pt x="96" y="96"/>
                </a:moveTo>
                <a:lnTo>
                  <a:pt x="416" y="96"/>
                </a:lnTo>
                <a:cubicBezTo>
                  <a:pt x="434" y="96"/>
                  <a:pt x="448" y="110"/>
                  <a:pt x="448" y="128"/>
                </a:cubicBezTo>
                <a:lnTo>
                  <a:pt x="448" y="288"/>
                </a:lnTo>
                <a:cubicBezTo>
                  <a:pt x="448" y="306"/>
                  <a:pt x="434" y="320"/>
                  <a:pt x="416" y="320"/>
                </a:cubicBezTo>
                <a:lnTo>
                  <a:pt x="96" y="320"/>
                </a:lnTo>
                <a:cubicBezTo>
                  <a:pt x="78" y="320"/>
                  <a:pt x="64" y="306"/>
                  <a:pt x="64" y="288"/>
                </a:cubicBezTo>
                <a:lnTo>
                  <a:pt x="64" y="128"/>
                </a:lnTo>
                <a:cubicBezTo>
                  <a:pt x="64" y="110"/>
                  <a:pt x="78" y="96"/>
                  <a:pt x="96" y="96"/>
                </a:cubicBezTo>
                <a:close/>
              </a:path>
            </a:pathLst>
          </a:custGeom>
          <a:solidFill>
            <a:srgbClr val="0A56E7"/>
          </a:solidFill>
          <a:ln>
            <a:noFill/>
          </a:ln>
        </p:spPr>
      </p:sp>
      <p:sp>
        <p:nvSpPr>
          <p:cNvPr id="86" name="pp5-t"/>
          <p:cNvSpPr txBox="1"/>
          <p:nvPr/>
        </p:nvSpPr>
        <p:spPr>
          <a:xfrm>
            <a:off x="16662400" y="10566400"/>
            <a:ext cx="18288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>
                <a:solidFill>
                  <a:srgbClr val="10183F"/>
                </a:solidFill>
                <a:latin typeface="MiSans"/>
                <a:ea typeface="MiSans"/>
              </a:rPr>
              <a:t>1024×600屏幕</a:t>
            </a:r>
            <a:endParaRPr lang="en-US" sz="1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632</Words>
  <Application>Microsoft Office PowerPoint</Application>
  <PresentationFormat>自定义</PresentationFormat>
  <Paragraphs>211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8" baseType="lpstr">
      <vt:lpstr>MiSans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ra8p1_ppt.pptd</dc:title>
  <cp:lastModifiedBy>eyupi ha</cp:lastModifiedBy>
  <cp:revision>2</cp:revision>
  <dcterms:modified xsi:type="dcterms:W3CDTF">2026-08-20T21:12:03Z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